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8" r:id="rId9"/>
    <p:sldId id="259" r:id="rId10"/>
    <p:sldId id="260" r:id="rId11"/>
    <p:sldId id="261" r:id="rId12"/>
    <p:sldId id="262" r:id="rId13"/>
    <p:sldId id="263" r:id="rId14"/>
    <p:sldId id="264" r:id="rId15"/>
    <p:sldId id="266" r:id="rId17"/>
    <p:sldId id="267" r:id="rId18"/>
    <p:sldId id="268" r:id="rId19"/>
    <p:sldId id="273" r:id="rId24"/>
    <p:sldId id="274" r:id="rId25"/>
    <p:sldId id="275" r:id="rId26"/>
    <p:sldId id="276" r:id="rId27"/>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82" r:id="rId233"/>
    <p:sldId id="483" r:id="rId2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 Id="rId47" Type="http://schemas.openxmlformats.org/officeDocument/2006/relationships/slide" Target="slides/slide32.xml"/><Relationship Id="rId48" Type="http://schemas.openxmlformats.org/officeDocument/2006/relationships/slide" Target="slides/slide33.xml"/><Relationship Id="rId49" Type="http://schemas.openxmlformats.org/officeDocument/2006/relationships/slide" Target="slides/slide34.xml"/><Relationship Id="rId50" Type="http://schemas.openxmlformats.org/officeDocument/2006/relationships/slide" Target="slides/slide35.xml"/><Relationship Id="rId51" Type="http://schemas.openxmlformats.org/officeDocument/2006/relationships/slide" Target="slides/slide36.xml"/><Relationship Id="rId52" Type="http://schemas.openxmlformats.org/officeDocument/2006/relationships/slide" Target="slides/slide37.xml"/><Relationship Id="rId53" Type="http://schemas.openxmlformats.org/officeDocument/2006/relationships/slide" Target="slides/slide38.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 Id="rId82" Type="http://schemas.openxmlformats.org/officeDocument/2006/relationships/slide" Target="slides/slide67.xml"/><Relationship Id="rId83" Type="http://schemas.openxmlformats.org/officeDocument/2006/relationships/slide" Target="slides/slide68.xml"/><Relationship Id="rId84" Type="http://schemas.openxmlformats.org/officeDocument/2006/relationships/slide" Target="slides/slide69.xml"/><Relationship Id="rId85" Type="http://schemas.openxmlformats.org/officeDocument/2006/relationships/slide" Target="slides/slide70.xml"/><Relationship Id="rId86" Type="http://schemas.openxmlformats.org/officeDocument/2006/relationships/slide" Target="slides/slide71.xml"/><Relationship Id="rId87" Type="http://schemas.openxmlformats.org/officeDocument/2006/relationships/slide" Target="slides/slide72.xml"/><Relationship Id="rId88" Type="http://schemas.openxmlformats.org/officeDocument/2006/relationships/slide" Target="slides/slide73.xml"/><Relationship Id="rId89" Type="http://schemas.openxmlformats.org/officeDocument/2006/relationships/slide" Target="slides/slide74.xml"/><Relationship Id="rId90" Type="http://schemas.openxmlformats.org/officeDocument/2006/relationships/slide" Target="slides/slide75.xml"/><Relationship Id="rId91" Type="http://schemas.openxmlformats.org/officeDocument/2006/relationships/slide" Target="slides/slide76.xml"/><Relationship Id="rId92" Type="http://schemas.openxmlformats.org/officeDocument/2006/relationships/slide" Target="slides/slide77.xml"/><Relationship Id="rId93" Type="http://schemas.openxmlformats.org/officeDocument/2006/relationships/slide" Target="slides/slide78.xml"/><Relationship Id="rId94" Type="http://schemas.openxmlformats.org/officeDocument/2006/relationships/slide" Target="slides/slide79.xml"/><Relationship Id="rId95" Type="http://schemas.openxmlformats.org/officeDocument/2006/relationships/slide" Target="slides/slide80.xml"/><Relationship Id="rId96" Type="http://schemas.openxmlformats.org/officeDocument/2006/relationships/slide" Target="slides/slide81.xml"/><Relationship Id="rId97" Type="http://schemas.openxmlformats.org/officeDocument/2006/relationships/slide" Target="slides/slide82.xml"/><Relationship Id="rId98" Type="http://schemas.openxmlformats.org/officeDocument/2006/relationships/slide" Target="slides/slide83.xml"/><Relationship Id="rId99" Type="http://schemas.openxmlformats.org/officeDocument/2006/relationships/slide" Target="slides/slide84.xml"/><Relationship Id="rId100" Type="http://schemas.openxmlformats.org/officeDocument/2006/relationships/slide" Target="slides/slide85.xml"/><Relationship Id="rId101" Type="http://schemas.openxmlformats.org/officeDocument/2006/relationships/slide" Target="slides/slide86.xml"/><Relationship Id="rId102" Type="http://schemas.openxmlformats.org/officeDocument/2006/relationships/slide" Target="slides/slide87.xml"/><Relationship Id="rId103" Type="http://schemas.openxmlformats.org/officeDocument/2006/relationships/slide" Target="slides/slide88.xml"/><Relationship Id="rId104" Type="http://schemas.openxmlformats.org/officeDocument/2006/relationships/slide" Target="slides/slide89.xml"/><Relationship Id="rId105" Type="http://schemas.openxmlformats.org/officeDocument/2006/relationships/slide" Target="slides/slide90.xml"/><Relationship Id="rId106" Type="http://schemas.openxmlformats.org/officeDocument/2006/relationships/slide" Target="slides/slide91.xml"/><Relationship Id="rId107" Type="http://schemas.openxmlformats.org/officeDocument/2006/relationships/slide" Target="slides/slide92.xml"/><Relationship Id="rId108" Type="http://schemas.openxmlformats.org/officeDocument/2006/relationships/slide" Target="slides/slide93.xml"/><Relationship Id="rId109" Type="http://schemas.openxmlformats.org/officeDocument/2006/relationships/slide" Target="slides/slide94.xml"/><Relationship Id="rId110" Type="http://schemas.openxmlformats.org/officeDocument/2006/relationships/slide" Target="slides/slide95.xml"/><Relationship Id="rId111" Type="http://schemas.openxmlformats.org/officeDocument/2006/relationships/slide" Target="slides/slide96.xml"/><Relationship Id="rId112" Type="http://schemas.openxmlformats.org/officeDocument/2006/relationships/slide" Target="slides/slide97.xml"/><Relationship Id="rId113" Type="http://schemas.openxmlformats.org/officeDocument/2006/relationships/slide" Target="slides/slide98.xml"/><Relationship Id="rId114" Type="http://schemas.openxmlformats.org/officeDocument/2006/relationships/slide" Target="slides/slide99.xml"/><Relationship Id="rId115" Type="http://schemas.openxmlformats.org/officeDocument/2006/relationships/slide" Target="slides/slide100.xml"/><Relationship Id="rId116" Type="http://schemas.openxmlformats.org/officeDocument/2006/relationships/slide" Target="slides/slide101.xml"/><Relationship Id="rId117" Type="http://schemas.openxmlformats.org/officeDocument/2006/relationships/slide" Target="slides/slide102.xml"/><Relationship Id="rId118" Type="http://schemas.openxmlformats.org/officeDocument/2006/relationships/slide" Target="slides/slide103.xml"/><Relationship Id="rId119" Type="http://schemas.openxmlformats.org/officeDocument/2006/relationships/slide" Target="slides/slide104.xml"/><Relationship Id="rId120" Type="http://schemas.openxmlformats.org/officeDocument/2006/relationships/slide" Target="slides/slide105.xml"/><Relationship Id="rId121" Type="http://schemas.openxmlformats.org/officeDocument/2006/relationships/slide" Target="slides/slide106.xml"/><Relationship Id="rId122" Type="http://schemas.openxmlformats.org/officeDocument/2006/relationships/slide" Target="slides/slide107.xml"/><Relationship Id="rId123" Type="http://schemas.openxmlformats.org/officeDocument/2006/relationships/slide" Target="slides/slide108.xml"/><Relationship Id="rId124" Type="http://schemas.openxmlformats.org/officeDocument/2006/relationships/slide" Target="slides/slide109.xml"/><Relationship Id="rId125" Type="http://schemas.openxmlformats.org/officeDocument/2006/relationships/slide" Target="slides/slide110.xml"/><Relationship Id="rId126" Type="http://schemas.openxmlformats.org/officeDocument/2006/relationships/slide" Target="slides/slide111.xml"/><Relationship Id="rId127" Type="http://schemas.openxmlformats.org/officeDocument/2006/relationships/slide" Target="slides/slide112.xml"/><Relationship Id="rId128" Type="http://schemas.openxmlformats.org/officeDocument/2006/relationships/slide" Target="slides/slide113.xml"/><Relationship Id="rId129" Type="http://schemas.openxmlformats.org/officeDocument/2006/relationships/slide" Target="slides/slide114.xml"/><Relationship Id="rId130" Type="http://schemas.openxmlformats.org/officeDocument/2006/relationships/slide" Target="slides/slide115.xml"/><Relationship Id="rId131" Type="http://schemas.openxmlformats.org/officeDocument/2006/relationships/slide" Target="slides/slide116.xml"/><Relationship Id="rId132" Type="http://schemas.openxmlformats.org/officeDocument/2006/relationships/slide" Target="slides/slide117.xml"/><Relationship Id="rId133" Type="http://schemas.openxmlformats.org/officeDocument/2006/relationships/slide" Target="slides/slide118.xml"/><Relationship Id="rId134" Type="http://schemas.openxmlformats.org/officeDocument/2006/relationships/slide" Target="slides/slide119.xml"/><Relationship Id="rId135" Type="http://schemas.openxmlformats.org/officeDocument/2006/relationships/slide" Target="slides/slide120.xml"/><Relationship Id="rId136" Type="http://schemas.openxmlformats.org/officeDocument/2006/relationships/slide" Target="slides/slide121.xml"/><Relationship Id="rId137" Type="http://schemas.openxmlformats.org/officeDocument/2006/relationships/slide" Target="slides/slide122.xml"/><Relationship Id="rId138" Type="http://schemas.openxmlformats.org/officeDocument/2006/relationships/slide" Target="slides/slide123.xml"/><Relationship Id="rId139" Type="http://schemas.openxmlformats.org/officeDocument/2006/relationships/slide" Target="slides/slide124.xml"/><Relationship Id="rId140" Type="http://schemas.openxmlformats.org/officeDocument/2006/relationships/slide" Target="slides/slide125.xml"/><Relationship Id="rId141" Type="http://schemas.openxmlformats.org/officeDocument/2006/relationships/slide" Target="slides/slide126.xml"/><Relationship Id="rId142" Type="http://schemas.openxmlformats.org/officeDocument/2006/relationships/slide" Target="slides/slide127.xml"/><Relationship Id="rId143" Type="http://schemas.openxmlformats.org/officeDocument/2006/relationships/slide" Target="slides/slide128.xml"/><Relationship Id="rId144" Type="http://schemas.openxmlformats.org/officeDocument/2006/relationships/slide" Target="slides/slide129.xml"/><Relationship Id="rId145" Type="http://schemas.openxmlformats.org/officeDocument/2006/relationships/slide" Target="slides/slide130.xml"/><Relationship Id="rId146" Type="http://schemas.openxmlformats.org/officeDocument/2006/relationships/slide" Target="slides/slide131.xml"/><Relationship Id="rId147" Type="http://schemas.openxmlformats.org/officeDocument/2006/relationships/slide" Target="slides/slide132.xml"/><Relationship Id="rId148" Type="http://schemas.openxmlformats.org/officeDocument/2006/relationships/slide" Target="slides/slide133.xml"/><Relationship Id="rId149" Type="http://schemas.openxmlformats.org/officeDocument/2006/relationships/slide" Target="slides/slide134.xml"/><Relationship Id="rId150" Type="http://schemas.openxmlformats.org/officeDocument/2006/relationships/slide" Target="slides/slide135.xml"/><Relationship Id="rId151" Type="http://schemas.openxmlformats.org/officeDocument/2006/relationships/slide" Target="slides/slide136.xml"/><Relationship Id="rId152" Type="http://schemas.openxmlformats.org/officeDocument/2006/relationships/slide" Target="slides/slide137.xml"/><Relationship Id="rId153" Type="http://schemas.openxmlformats.org/officeDocument/2006/relationships/slide" Target="slides/slide138.xml"/><Relationship Id="rId154" Type="http://schemas.openxmlformats.org/officeDocument/2006/relationships/slide" Target="slides/slide139.xml"/><Relationship Id="rId155" Type="http://schemas.openxmlformats.org/officeDocument/2006/relationships/slide" Target="slides/slide140.xml"/><Relationship Id="rId156" Type="http://schemas.openxmlformats.org/officeDocument/2006/relationships/slide" Target="slides/slide141.xml"/><Relationship Id="rId157" Type="http://schemas.openxmlformats.org/officeDocument/2006/relationships/slide" Target="slides/slide142.xml"/><Relationship Id="rId158" Type="http://schemas.openxmlformats.org/officeDocument/2006/relationships/slide" Target="slides/slide143.xml"/><Relationship Id="rId159" Type="http://schemas.openxmlformats.org/officeDocument/2006/relationships/slide" Target="slides/slide144.xml"/><Relationship Id="rId160" Type="http://schemas.openxmlformats.org/officeDocument/2006/relationships/slide" Target="slides/slide145.xml"/><Relationship Id="rId161" Type="http://schemas.openxmlformats.org/officeDocument/2006/relationships/slide" Target="slides/slide146.xml"/><Relationship Id="rId162" Type="http://schemas.openxmlformats.org/officeDocument/2006/relationships/slide" Target="slides/slide147.xml"/><Relationship Id="rId163" Type="http://schemas.openxmlformats.org/officeDocument/2006/relationships/slide" Target="slides/slide148.xml"/><Relationship Id="rId164" Type="http://schemas.openxmlformats.org/officeDocument/2006/relationships/slide" Target="slides/slide149.xml"/><Relationship Id="rId165" Type="http://schemas.openxmlformats.org/officeDocument/2006/relationships/slide" Target="slides/slide150.xml"/><Relationship Id="rId166" Type="http://schemas.openxmlformats.org/officeDocument/2006/relationships/slide" Target="slides/slide151.xml"/><Relationship Id="rId167" Type="http://schemas.openxmlformats.org/officeDocument/2006/relationships/slide" Target="slides/slide152.xml"/><Relationship Id="rId168" Type="http://schemas.openxmlformats.org/officeDocument/2006/relationships/slide" Target="slides/slide153.xml"/><Relationship Id="rId169" Type="http://schemas.openxmlformats.org/officeDocument/2006/relationships/slide" Target="slides/slide154.xml"/><Relationship Id="rId170" Type="http://schemas.openxmlformats.org/officeDocument/2006/relationships/slide" Target="slides/slide155.xml"/><Relationship Id="rId171" Type="http://schemas.openxmlformats.org/officeDocument/2006/relationships/slide" Target="slides/slide156.xml"/><Relationship Id="rId172" Type="http://schemas.openxmlformats.org/officeDocument/2006/relationships/slide" Target="slides/slide157.xml"/><Relationship Id="rId173" Type="http://schemas.openxmlformats.org/officeDocument/2006/relationships/slide" Target="slides/slide158.xml"/><Relationship Id="rId174" Type="http://schemas.openxmlformats.org/officeDocument/2006/relationships/slide" Target="slides/slide159.xml"/><Relationship Id="rId175" Type="http://schemas.openxmlformats.org/officeDocument/2006/relationships/slide" Target="slides/slide160.xml"/><Relationship Id="rId176" Type="http://schemas.openxmlformats.org/officeDocument/2006/relationships/slide" Target="slides/slide161.xml"/><Relationship Id="rId177" Type="http://schemas.openxmlformats.org/officeDocument/2006/relationships/slide" Target="slides/slide162.xml"/><Relationship Id="rId178" Type="http://schemas.openxmlformats.org/officeDocument/2006/relationships/slide" Target="slides/slide163.xml"/><Relationship Id="rId179" Type="http://schemas.openxmlformats.org/officeDocument/2006/relationships/slide" Target="slides/slide164.xml"/><Relationship Id="rId180" Type="http://schemas.openxmlformats.org/officeDocument/2006/relationships/slide" Target="slides/slide165.xml"/><Relationship Id="rId181" Type="http://schemas.openxmlformats.org/officeDocument/2006/relationships/slide" Target="slides/slide166.xml"/><Relationship Id="rId182" Type="http://schemas.openxmlformats.org/officeDocument/2006/relationships/slide" Target="slides/slide167.xml"/><Relationship Id="rId183" Type="http://schemas.openxmlformats.org/officeDocument/2006/relationships/slide" Target="slides/slide168.xml"/><Relationship Id="rId184" Type="http://schemas.openxmlformats.org/officeDocument/2006/relationships/slide" Target="slides/slide169.xml"/><Relationship Id="rId185" Type="http://schemas.openxmlformats.org/officeDocument/2006/relationships/slide" Target="slides/slide170.xml"/><Relationship Id="rId186" Type="http://schemas.openxmlformats.org/officeDocument/2006/relationships/slide" Target="slides/slide171.xml"/><Relationship Id="rId187" Type="http://schemas.openxmlformats.org/officeDocument/2006/relationships/slide" Target="slides/slide172.xml"/><Relationship Id="rId188" Type="http://schemas.openxmlformats.org/officeDocument/2006/relationships/slide" Target="slides/slide173.xml"/><Relationship Id="rId189" Type="http://schemas.openxmlformats.org/officeDocument/2006/relationships/slide" Target="slides/slide174.xml"/><Relationship Id="rId190" Type="http://schemas.openxmlformats.org/officeDocument/2006/relationships/slide" Target="slides/slide175.xml"/><Relationship Id="rId191" Type="http://schemas.openxmlformats.org/officeDocument/2006/relationships/slide" Target="slides/slide176.xml"/><Relationship Id="rId192" Type="http://schemas.openxmlformats.org/officeDocument/2006/relationships/slide" Target="slides/slide177.xml"/><Relationship Id="rId193" Type="http://schemas.openxmlformats.org/officeDocument/2006/relationships/slide" Target="slides/slide178.xml"/><Relationship Id="rId194" Type="http://schemas.openxmlformats.org/officeDocument/2006/relationships/slide" Target="slides/slide179.xml"/><Relationship Id="rId195" Type="http://schemas.openxmlformats.org/officeDocument/2006/relationships/slide" Target="slides/slide180.xml"/><Relationship Id="rId196" Type="http://schemas.openxmlformats.org/officeDocument/2006/relationships/slide" Target="slides/slide181.xml"/><Relationship Id="rId197" Type="http://schemas.openxmlformats.org/officeDocument/2006/relationships/slide" Target="slides/slide182.xml"/><Relationship Id="rId198" Type="http://schemas.openxmlformats.org/officeDocument/2006/relationships/slide" Target="slides/slide183.xml"/><Relationship Id="rId199" Type="http://schemas.openxmlformats.org/officeDocument/2006/relationships/slide" Target="slides/slide184.xml"/><Relationship Id="rId200" Type="http://schemas.openxmlformats.org/officeDocument/2006/relationships/slide" Target="slides/slide185.xml"/><Relationship Id="rId201" Type="http://schemas.openxmlformats.org/officeDocument/2006/relationships/slide" Target="slides/slide186.xml"/><Relationship Id="rId202" Type="http://schemas.openxmlformats.org/officeDocument/2006/relationships/slide" Target="slides/slide187.xml"/><Relationship Id="rId203" Type="http://schemas.openxmlformats.org/officeDocument/2006/relationships/slide" Target="slides/slide188.xml"/><Relationship Id="rId204" Type="http://schemas.openxmlformats.org/officeDocument/2006/relationships/slide" Target="slides/slide189.xml"/><Relationship Id="rId205" Type="http://schemas.openxmlformats.org/officeDocument/2006/relationships/slide" Target="slides/slide190.xml"/><Relationship Id="rId206" Type="http://schemas.openxmlformats.org/officeDocument/2006/relationships/slide" Target="slides/slide191.xml"/><Relationship Id="rId207" Type="http://schemas.openxmlformats.org/officeDocument/2006/relationships/slide" Target="slides/slide192.xml"/><Relationship Id="rId208" Type="http://schemas.openxmlformats.org/officeDocument/2006/relationships/slide" Target="slides/slide193.xml"/><Relationship Id="rId209" Type="http://schemas.openxmlformats.org/officeDocument/2006/relationships/slide" Target="slides/slide194.xml"/><Relationship Id="rId210" Type="http://schemas.openxmlformats.org/officeDocument/2006/relationships/slide" Target="slides/slide195.xml"/><Relationship Id="rId211" Type="http://schemas.openxmlformats.org/officeDocument/2006/relationships/slide" Target="slides/slide196.xml"/><Relationship Id="rId212" Type="http://schemas.openxmlformats.org/officeDocument/2006/relationships/slide" Target="slides/slide197.xml"/><Relationship Id="rId213" Type="http://schemas.openxmlformats.org/officeDocument/2006/relationships/slide" Target="slides/slide198.xml"/><Relationship Id="rId214" Type="http://schemas.openxmlformats.org/officeDocument/2006/relationships/slide" Target="slides/slide199.xml"/><Relationship Id="rId215" Type="http://schemas.openxmlformats.org/officeDocument/2006/relationships/slide" Target="slides/slide200.xml"/><Relationship Id="rId216" Type="http://schemas.openxmlformats.org/officeDocument/2006/relationships/slide" Target="slides/slide201.xml"/><Relationship Id="rId217" Type="http://schemas.openxmlformats.org/officeDocument/2006/relationships/slide" Target="slides/slide202.xml"/><Relationship Id="rId218" Type="http://schemas.openxmlformats.org/officeDocument/2006/relationships/slide" Target="slides/slide203.xml"/><Relationship Id="rId219" Type="http://schemas.openxmlformats.org/officeDocument/2006/relationships/slide" Target="slides/slide204.xml"/><Relationship Id="rId220" Type="http://schemas.openxmlformats.org/officeDocument/2006/relationships/slide" Target="slides/slide205.xml"/><Relationship Id="rId221" Type="http://schemas.openxmlformats.org/officeDocument/2006/relationships/slide" Target="slides/slide206.xml"/><Relationship Id="rId222" Type="http://schemas.openxmlformats.org/officeDocument/2006/relationships/slide" Target="slides/slide207.xml"/><Relationship Id="rId223" Type="http://schemas.openxmlformats.org/officeDocument/2006/relationships/slide" Target="slides/slide208.xml"/><Relationship Id="rId224" Type="http://schemas.openxmlformats.org/officeDocument/2006/relationships/slide" Target="slides/slide209.xml"/><Relationship Id="rId225" Type="http://schemas.openxmlformats.org/officeDocument/2006/relationships/slide" Target="slides/slide210.xml"/><Relationship Id="rId226" Type="http://schemas.openxmlformats.org/officeDocument/2006/relationships/slide" Target="slides/slide211.xml"/><Relationship Id="rId227" Type="http://schemas.openxmlformats.org/officeDocument/2006/relationships/slide" Target="slides/slide212.xml"/><Relationship Id="rId228" Type="http://schemas.openxmlformats.org/officeDocument/2006/relationships/slide" Target="slides/slide213.xml"/><Relationship Id="rId229" Type="http://schemas.openxmlformats.org/officeDocument/2006/relationships/slide" Target="slides/slide214.xml"/><Relationship Id="rId233" Type="http://schemas.openxmlformats.org/officeDocument/2006/relationships/slide" Target="slides/slide215.xml"/><Relationship Id="rId234" Type="http://schemas.openxmlformats.org/officeDocument/2006/relationships/slide" Target="slides/slide2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685800"/>
            <a:ext cx="822960" cy="822960"/>
          </a:xfrm>
          <a:prstGeom prst="ellipse">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85800"/>
            <a:ext cx="822960" cy="822960"/>
          </a:xfrm>
          <a:prstGeom prst="rect">
            <a:avLst/>
          </a:prstGeom>
          <a:noFill/>
        </p:spPr>
        <p:txBody>
          <a:bodyPr wrap="square" anchor="ctr">
            <a:spAutoFit/>
          </a:bodyPr>
          <a:lstStyle/>
          <a:p>
            <a:pPr algn="ctr">
              <a:spcAft>
                <a:spcPts val="400"/>
              </a:spcAft>
            </a:pPr>
            <a:r>
              <a:rPr sz="3400" b="1">
                <a:solidFill>
                  <a:srgbClr val="FFFFFF"/>
                </a:solidFill>
                <a:latin typeface="Arial"/>
              </a:rPr>
              <a:t>T</a:t>
            </a:r>
          </a:p>
        </p:txBody>
      </p:sp>
      <p:sp>
        <p:nvSpPr>
          <p:cNvPr id="7" name="TextBox 6"/>
          <p:cNvSpPr txBox="1"/>
          <p:nvPr/>
        </p:nvSpPr>
        <p:spPr>
          <a:xfrm>
            <a:off x="731520" y="1874519"/>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TRAINER SLIDES  ·  NON-WSQ COURSE</a:t>
            </a:r>
          </a:p>
        </p:txBody>
      </p:sp>
      <p:sp>
        <p:nvSpPr>
          <p:cNvPr id="8" name="TextBox 7"/>
          <p:cNvSpPr txBox="1"/>
          <p:nvPr/>
        </p:nvSpPr>
        <p:spPr>
          <a:xfrm>
            <a:off x="731520" y="2331720"/>
            <a:ext cx="10607040" cy="1097280"/>
          </a:xfrm>
          <a:prstGeom prst="rect">
            <a:avLst/>
          </a:prstGeom>
          <a:noFill/>
        </p:spPr>
        <p:txBody>
          <a:bodyPr wrap="square" anchor="t">
            <a:spAutoFit/>
          </a:bodyPr>
          <a:lstStyle/>
          <a:p>
            <a:pPr algn="l">
              <a:spcAft>
                <a:spcPts val="400"/>
              </a:spcAft>
            </a:pPr>
            <a:r>
              <a:rPr sz="3400" b="1">
                <a:solidFill>
                  <a:srgbClr val="161B26"/>
                </a:solidFill>
                <a:latin typeface="Arial"/>
              </a:rPr>
              <a:t>AI Powered Quantitative Trading Fundamentals</a:t>
            </a:r>
          </a:p>
        </p:txBody>
      </p:sp>
      <p:sp>
        <p:nvSpPr>
          <p:cNvPr id="9" name="Rectangle 8"/>
          <p:cNvSpPr/>
          <p:nvPr/>
        </p:nvSpPr>
        <p:spPr>
          <a:xfrm>
            <a:off x="731520" y="3611880"/>
            <a:ext cx="20116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886200"/>
            <a:ext cx="10607040" cy="1371600"/>
          </a:xfrm>
          <a:prstGeom prst="rect">
            <a:avLst/>
          </a:prstGeom>
          <a:noFill/>
        </p:spPr>
        <p:txBody>
          <a:bodyPr wrap="square" anchor="t">
            <a:spAutoFit/>
          </a:bodyPr>
          <a:lstStyle/>
          <a:p>
            <a:pPr algn="l">
              <a:spcAft>
                <a:spcPts val="700"/>
              </a:spcAft>
            </a:pPr>
            <a:r>
              <a:rPr sz="1500" b="0">
                <a:solidFill>
                  <a:srgbClr val="5B6372"/>
                </a:solidFill>
                <a:latin typeface="Arial"/>
              </a:rPr>
              <a:t>Course code C728  ·  2 days  ·  15 instructional hours</a:t>
            </a:r>
          </a:p>
          <a:p>
            <a:pPr algn="l">
              <a:spcAft>
                <a:spcPts val="700"/>
              </a:spcAft>
            </a:pPr>
            <a:r>
              <a:rPr sz="1500" b="0">
                <a:solidFill>
                  <a:srgbClr val="5B6372"/>
                </a:solidFill>
                <a:latin typeface="Arial"/>
              </a:rPr>
              <a:t>Conducted by Tertiary Infotech Academy Pte Ltd  ·  UEN 201200696W</a:t>
            </a:r>
          </a:p>
          <a:p>
            <a:pPr algn="l">
              <a:spcAft>
                <a:spcPts val="700"/>
              </a:spcAft>
            </a:pPr>
            <a:r>
              <a:rPr sz="1400" b="1">
                <a:solidFill>
                  <a:srgbClr val="1F6FEB"/>
                </a:solidFill>
                <a:latin typeface="Arial"/>
              </a:rPr>
              <a:t>Version 2.1  ·  25 October 2026</a:t>
            </a:r>
          </a:p>
        </p:txBody>
      </p:sp>
      <p:sp>
        <p:nvSpPr>
          <p:cNvPr id="11" name="TextBox 10"/>
          <p:cNvSpPr txBox="1"/>
          <p:nvPr/>
        </p:nvSpPr>
        <p:spPr>
          <a:xfrm>
            <a:off x="731520" y="5943600"/>
            <a:ext cx="10607040" cy="365760"/>
          </a:xfrm>
          <a:prstGeom prst="rect">
            <a:avLst/>
          </a:prstGeom>
          <a:noFill/>
        </p:spPr>
        <p:txBody>
          <a:bodyPr wrap="square" anchor="t">
            <a:spAutoFit/>
          </a:bodyPr>
          <a:lstStyle/>
          <a:p>
            <a:pPr algn="l">
              <a:spcAft>
                <a:spcPts val="400"/>
              </a:spcAft>
            </a:pPr>
            <a:r>
              <a:rPr sz="1000" b="0">
                <a:solidFill>
                  <a:srgbClr val="5B6372"/>
                </a:solidFill>
                <a:latin typeface="Arial"/>
              </a:rPr>
              <a:t>© Tertiary Infotech Academy Pte Ltd. All rights reserved.  ·  www.tertiarycourses.com.sg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________________________</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Complete this panel with your own details before delivery.</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Course Developer and Trainer for this course.</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300" b="0">
                <a:solidFill>
                  <a:srgbClr val="161B26"/>
                </a:solidFill>
                <a:latin typeface="Arial"/>
              </a:rPr>
              <a:t>Course Developer and Trainer</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300" b="0">
                <a:solidFill>
                  <a:srgbClr val="161B26"/>
                </a:solidFill>
                <a:latin typeface="Arial"/>
              </a:rPr>
              <a:t>ACTA · DACE · PhD</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FINANCIAL SERVICES</a:t>
            </a:r>
          </a:p>
          <a:p>
            <a:pPr algn="l">
              <a:spcAft>
                <a:spcPts val="300"/>
              </a:spcAft>
            </a:pPr>
            <a:r>
              <a:rPr sz="1300" b="0">
                <a:solidFill>
                  <a:srgbClr val="161B26"/>
                </a:solidFill>
                <a:latin typeface="Arial"/>
              </a:rPr>
              <a:t>Programmes in AI, algorithmic trading and fintech</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300" b="0">
                <a:solidFill>
                  <a:srgbClr val="161B26"/>
                </a:solidFill>
                <a:latin typeface="Arial"/>
              </a:rPr>
              <a:t>AI, machine learning and data programmes for financial institutions</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300" b="0">
                <a:solidFill>
                  <a:srgbClr val="161B26"/>
                </a:solidFill>
                <a:latin typeface="Arial"/>
              </a:rPr>
              <a:t>Tertiary Infotech Academy Pte Ltd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10515600" cy="4297680"/>
          </a:xfrm>
          <a:prstGeom prst="rect">
            <a:avLst/>
          </a:prstGeom>
          <a:noFill/>
        </p:spPr>
        <p:txBody>
          <a:bodyPr wrap="square">
            <a:spAutoFit/>
          </a:bodyPr>
          <a:lstStyle/>
          <a:p>
            <a:pPr>
              <a:spcAft>
                <a:spcPts val="1000"/>
              </a:spcAft>
            </a:pPr>
            <a:r>
              <a:rPr sz="1700">
                <a:solidFill>
                  <a:srgbClr val="161B26"/>
                </a:solidFill>
                <a:latin typeface="Arial"/>
              </a:rPr>
              <a:t>•  Your name, your institution and your role.</a:t>
            </a:r>
          </a:p>
          <a:p>
            <a:pPr>
              <a:spcAft>
                <a:spcPts val="1000"/>
              </a:spcAft>
            </a:pPr>
            <a:r>
              <a:rPr sz="1700">
                <a:solidFill>
                  <a:srgbClr val="161B26"/>
                </a:solidFill>
                <a:latin typeface="Arial"/>
              </a:rPr>
              <a:t>•  Do you trade, invest, analyse or build systems for markets today?</a:t>
            </a:r>
          </a:p>
          <a:p>
            <a:pPr>
              <a:spcAft>
                <a:spcPts val="1000"/>
              </a:spcAft>
            </a:pPr>
            <a:r>
              <a:rPr sz="1700">
                <a:solidFill>
                  <a:srgbClr val="161B26"/>
                </a:solidFill>
                <a:latin typeface="Arial"/>
              </a:rPr>
              <a:t>•  Have you used TradingView, a broker API or Python before?</a:t>
            </a:r>
          </a:p>
          <a:p>
            <a:pPr>
              <a:spcAft>
                <a:spcPts val="1000"/>
              </a:spcAft>
            </a:pPr>
            <a:r>
              <a:rPr sz="1700">
                <a:solidFill>
                  <a:srgbClr val="161B26"/>
                </a:solidFill>
                <a:latin typeface="Arial"/>
              </a:rPr>
              <a:t>•  One trading rule you believe works — we will test it this week.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Be on time</a:t>
            </a:r>
          </a:p>
          <a:p>
            <a:pPr algn="l">
              <a:spcAft>
                <a:spcPts val="300"/>
              </a:spcAft>
            </a:pPr>
            <a:r>
              <a:rPr sz="1300" b="0">
                <a:solidFill>
                  <a:srgbClr val="5B6372"/>
                </a:solidFill>
                <a:latin typeface="Arial"/>
              </a:rPr>
              <a:t>Sessions restart promptly after each break.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Phones on silent</a:t>
            </a:r>
          </a:p>
          <a:p>
            <a:pPr algn="l">
              <a:spcAft>
                <a:spcPts val="300"/>
              </a:spcAft>
            </a:pPr>
            <a:r>
              <a:rPr sz="1300" b="0">
                <a:solidFill>
                  <a:srgbClr val="5B6372"/>
                </a:solidFill>
                <a:latin typeface="Arial"/>
              </a:rPr>
              <a:t>Take calls outside the room.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Ask as we go</a:t>
            </a:r>
          </a:p>
          <a:p>
            <a:pPr algn="l">
              <a:spcAft>
                <a:spcPts val="300"/>
              </a:spcAft>
            </a:pPr>
            <a:r>
              <a:rPr sz="1300" b="0">
                <a:solidFill>
                  <a:srgbClr val="5B6372"/>
                </a:solidFill>
                <a:latin typeface="Arial"/>
              </a:rPr>
              <a:t>Questions are welcome at any point.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Hands on the keyboard</a:t>
            </a:r>
          </a:p>
          <a:p>
            <a:pPr algn="l">
              <a:spcAft>
                <a:spcPts val="300"/>
              </a:spcAft>
            </a:pPr>
            <a:r>
              <a:rPr sz="1300" b="0">
                <a:solidFill>
                  <a:srgbClr val="5B6372"/>
                </a:solidFill>
                <a:latin typeface="Arial"/>
              </a:rPr>
              <a:t>Twenty labs — follow along on your own laptop.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Paper trading only</a:t>
            </a:r>
          </a:p>
          <a:p>
            <a:pPr algn="l">
              <a:spcAft>
                <a:spcPts val="300"/>
              </a:spcAft>
            </a:pPr>
            <a:r>
              <a:rPr sz="1300" b="0">
                <a:solidFill>
                  <a:srgbClr val="5B6372"/>
                </a:solidFill>
                <a:latin typeface="Arial"/>
              </a:rPr>
              <a:t>No real money is used anywhere in this course.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Not investment advice</a:t>
            </a:r>
          </a:p>
          <a:p>
            <a:pPr algn="l">
              <a:spcAft>
                <a:spcPts val="300"/>
              </a:spcAft>
            </a:pPr>
            <a:r>
              <a:rPr sz="1300" b="0">
                <a:solidFill>
                  <a:srgbClr val="5B6372"/>
                </a:solidFill>
                <a:latin typeface="Arial"/>
              </a:rPr>
              <a:t>Lion City Capital and all scenarios are fictitious.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Login to TMS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ms-tms-portal.png"/>
          <p:cNvPicPr>
            <a:picLocks noChangeAspect="1"/>
          </p:cNvPicPr>
          <p:nvPr/>
        </p:nvPicPr>
        <p:blipFill>
          <a:blip r:embed="rId2"/>
          <a:stretch>
            <a:fillRect/>
          </a:stretch>
        </p:blipFill>
        <p:spPr>
          <a:xfrm>
            <a:off x="2557716" y="2057400"/>
            <a:ext cx="7076261" cy="3520440"/>
          </a:xfrm>
          <a:prstGeom prst="rect">
            <a:avLst/>
          </a:prstGeom>
        </p:spPr>
      </p:pic>
      <p:sp>
        <p:nvSpPr>
          <p:cNvPr id="8" name="Rectangle 7"/>
          <p:cNvSpPr/>
          <p:nvPr/>
        </p:nvSpPr>
        <p:spPr>
          <a:xfrm>
            <a:off x="2546744" y="2046427"/>
            <a:ext cx="7098206"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Log in at lms-tms.tertiaryinfotech.com with your registered email + the OTP from your inbox, then download the slides, Learner Guide and labs.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Go to lms-tms. tertiaryinfotech.com</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Enter your registered email and click Send OTP</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Key in the one-time password from your inbox</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Open this course: download the Learner Slides + Learner Guide PDFs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Activities / Lab: download the labs folder (lab manuals)</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Keep the Learner Guide open all course — every topic and lab step is in it.</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GITHUB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the Labs and Simulator (GitHub)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Course repository</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github.com/tertiarycourses/C728-AI-Powered-Quantitative-Trading-Fundamentals</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Trading simulator software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github.com/alfredang/algorithmic-trader-bot
The quant / algo trading simulator the labs run in: backtest, forward test, paper trading, analytics.
Install steps: next section and the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Course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1 — Quant and Algo Trading Foundations</a:t>
            </a:r>
          </a:p>
          <a:p>
            <a:pPr algn="l">
              <a:spcAft>
                <a:spcPts val="300"/>
              </a:spcAft>
            </a:pPr>
            <a:r>
              <a:rPr sz="1100" b="0">
                <a:solidFill>
                  <a:srgbClr val="5B6372"/>
                </a:solidFill>
                <a:latin typeface="Arial"/>
              </a:rPr>
              <a:t>Day 1  ·  Labs 1–4  ·  Foundations of Quant and Algorithmic Trading: From Thorp to AI Agents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2 — Indicators, Strategies and Metrics</a:t>
            </a:r>
          </a:p>
          <a:p>
            <a:pPr algn="l">
              <a:spcAft>
                <a:spcPts val="300"/>
              </a:spcAft>
            </a:pPr>
            <a:r>
              <a:rPr sz="1100" b="0">
                <a:solidFill>
                  <a:srgbClr val="5B6372"/>
                </a:solidFill>
                <a:latin typeface="Arial"/>
              </a:rPr>
              <a:t>Day 1  ·  Labs 5–9  ·  Technical Indicators, Trading Strategies and Metrics with TradingView and Alpaca</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3 — ML Models and A/B Testing</a:t>
            </a:r>
          </a:p>
          <a:p>
            <a:pPr algn="l">
              <a:spcAft>
                <a:spcPts val="300"/>
              </a:spcAft>
            </a:pPr>
            <a:r>
              <a:rPr sz="1100" b="0">
                <a:solidFill>
                  <a:srgbClr val="5B6372"/>
                </a:solidFill>
                <a:latin typeface="Arial"/>
              </a:rPr>
              <a:t>Day 2  ·  Labs 10–14  ·  Machine Learning Models, Statistical Modelling and A/B Testing for Trading Signals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4 — End-to-End Trading Pipeline</a:t>
            </a:r>
          </a:p>
          <a:p>
            <a:pPr algn="l">
              <a:spcAft>
                <a:spcPts val="300"/>
              </a:spcAft>
            </a:pPr>
            <a:r>
              <a:rPr sz="1100" b="0">
                <a:solidFill>
                  <a:srgbClr val="5B6372"/>
                </a:solidFill>
                <a:latin typeface="Arial"/>
              </a:rPr>
              <a:t>Day 2  ·  Labs 15–20  ·  Building an End-to-End Algorithmic Trading Pipeline: Backtest, Forward Test and Performance Analysis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THE PARADIGM SHIFT · HOW THIS COURSE WORKS</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Low code. You own the algorithm.</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This is a low-code course. Every lab runs in the Trading Simulator: you set the hypothesis, choose and configure the algorithm, run the tests and judge the results, while the software does the programming. What matters is the big concepts: the hypothesis, how each algorithm makes its decision, how it is tested without bias and with costs, how risk is controlled, and how the results are judged.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PARADIGM SHIFT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Role versus the Software's Role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the hypothesis</a:t>
            </a:r>
          </a:p>
          <a:p>
            <a:pPr algn="l">
              <a:spcAft>
                <a:spcPts val="300"/>
              </a:spcAft>
            </a:pPr>
            <a:r>
              <a:rPr sz="1050" b="0">
                <a:solidFill>
                  <a:srgbClr val="5B6372"/>
                </a:solidFill>
                <a:latin typeface="Arial"/>
              </a:rPr>
              <a:t>What edge do you expect, why, and how will you know it is real?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the algorithm's logic</a:t>
            </a:r>
          </a:p>
          <a:p>
            <a:pPr algn="l">
              <a:spcAft>
                <a:spcPts val="300"/>
              </a:spcAft>
            </a:pPr>
            <a:r>
              <a:rPr sz="1050" b="0">
                <a:solidFill>
                  <a:srgbClr val="5B6372"/>
                </a:solidFill>
                <a:latin typeface="Arial"/>
              </a:rPr>
              <a:t>The rule or model, its inputs, and when it buys or sells.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testing and judgement</a:t>
            </a:r>
          </a:p>
          <a:p>
            <a:pPr algn="l">
              <a:spcAft>
                <a:spcPts val="300"/>
              </a:spcAft>
            </a:pPr>
            <a:r>
              <a:rPr sz="1050" b="0">
                <a:solidFill>
                  <a:srgbClr val="5B6372"/>
                </a:solidFill>
                <a:latin typeface="Arial"/>
              </a:rPr>
              <a:t>Out-of-sample, next-bar, net of costs; read the metrics.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risk and accountability</a:t>
            </a:r>
          </a:p>
          <a:p>
            <a:pPr algn="l">
              <a:spcAft>
                <a:spcPts val="300"/>
              </a:spcAft>
            </a:pPr>
            <a:r>
              <a:rPr sz="1050" b="0">
                <a:solidFill>
                  <a:srgbClr val="5B6372"/>
                </a:solidFill>
                <a:latin typeface="Arial"/>
              </a:rPr>
              <a:t>Limits, kill switch, approval - you answer for every trade.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simulator's job: the code</a:t>
            </a:r>
          </a:p>
          <a:p>
            <a:pPr algn="l">
              <a:spcAft>
                <a:spcPts val="300"/>
              </a:spcAft>
            </a:pPr>
            <a:r>
              <a:rPr sz="1050" b="0">
                <a:solidFill>
                  <a:srgbClr val="5B6372"/>
                </a:solidFill>
                <a:latin typeface="Arial"/>
              </a:rPr>
              <a:t>It runs every stage - data, signals, backtests, paper orders and reports - from settings you choose.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simulator's job: the drudgery</a:t>
            </a:r>
          </a:p>
          <a:p>
            <a:pPr algn="l">
              <a:spcAft>
                <a:spcPts val="300"/>
              </a:spcAft>
            </a:pPr>
            <a:r>
              <a:rPr sz="1050" b="0">
                <a:solidFill>
                  <a:srgbClr val="5B6372"/>
                </a:solidFill>
                <a:latin typeface="Arial"/>
              </a:rPr>
              <a:t>Data plumbing, charts, Pine Script export, reports - you review what it produces.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1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09:30 - 17:30  ·  7.5 instructional hours  ·  excluding a 30-minute lunch</a:t>
            </a:r>
          </a:p>
        </p:txBody>
      </p:sp>
      <p:sp>
        <p:nvSpPr>
          <p:cNvPr id="8" name="TextBox 7"/>
          <p:cNvSpPr txBox="1"/>
          <p:nvPr/>
        </p:nvSpPr>
        <p:spPr>
          <a:xfrm>
            <a:off x="822960" y="201168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09:30 - 10:00</a:t>
            </a:r>
          </a:p>
        </p:txBody>
      </p:sp>
      <p:sp>
        <p:nvSpPr>
          <p:cNvPr id="9" name="TextBox 8"/>
          <p:cNvSpPr txBox="1"/>
          <p:nvPr/>
        </p:nvSpPr>
        <p:spPr>
          <a:xfrm>
            <a:off x="2377440" y="2011680"/>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Course Overview, Trainer Introduction and Ground Rules</a:t>
            </a:r>
          </a:p>
        </p:txBody>
      </p:sp>
      <p:sp>
        <p:nvSpPr>
          <p:cNvPr id="10" name="TextBox 9"/>
          <p:cNvSpPr txBox="1"/>
          <p:nvPr/>
        </p:nvSpPr>
        <p:spPr>
          <a:xfrm>
            <a:off x="10287000" y="201168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9572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10:00 - 11:10</a:t>
            </a:r>
          </a:p>
        </p:txBody>
      </p:sp>
      <p:sp>
        <p:nvSpPr>
          <p:cNvPr id="12" name="TextBox 11"/>
          <p:cNvSpPr txBox="1"/>
          <p:nvPr/>
        </p:nvSpPr>
        <p:spPr>
          <a:xfrm>
            <a:off x="2377440" y="2395728"/>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T1.1-1.4 Quant Success Stories, the Evolution of Quant, the ML-to-LLM Shift, and Agentic AI versus AI Agents</a:t>
            </a:r>
          </a:p>
        </p:txBody>
      </p:sp>
      <p:sp>
        <p:nvSpPr>
          <p:cNvPr id="13" name="TextBox 12"/>
          <p:cNvSpPr txBox="1"/>
          <p:nvPr/>
        </p:nvSpPr>
        <p:spPr>
          <a:xfrm>
            <a:off x="10287000" y="239572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6" name="TextBox 15"/>
          <p:cNvSpPr txBox="1"/>
          <p:nvPr/>
        </p:nvSpPr>
        <p:spPr>
          <a:xfrm>
            <a:off x="822960" y="2779776"/>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11:10 - 11:40</a:t>
            </a:r>
          </a:p>
        </p:txBody>
      </p:sp>
      <p:sp>
        <p:nvSpPr>
          <p:cNvPr id="17" name="TextBox 16"/>
          <p:cNvSpPr txBox="1"/>
          <p:nvPr/>
        </p:nvSpPr>
        <p:spPr>
          <a:xfrm>
            <a:off x="2377440" y="2779776"/>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T1.5-1.6 Forms of Financial Data, Big Data Applications and Trading Hypotheses</a:t>
            </a:r>
          </a:p>
        </p:txBody>
      </p:sp>
      <p:sp>
        <p:nvSpPr>
          <p:cNvPr id="18" name="TextBox 17"/>
          <p:cNvSpPr txBox="1"/>
          <p:nvPr/>
        </p:nvSpPr>
        <p:spPr>
          <a:xfrm>
            <a:off x="10287000" y="2779776"/>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9" name="TextBox 18"/>
          <p:cNvSpPr txBox="1"/>
          <p:nvPr/>
        </p:nvSpPr>
        <p:spPr>
          <a:xfrm>
            <a:off x="822960" y="316382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11:40 - 12:00</a:t>
            </a:r>
          </a:p>
        </p:txBody>
      </p:sp>
      <p:sp>
        <p:nvSpPr>
          <p:cNvPr id="20" name="TextBox 19"/>
          <p:cNvSpPr txBox="1"/>
          <p:nvPr/>
        </p:nvSpPr>
        <p:spPr>
          <a:xfrm>
            <a:off x="2377440" y="3163824"/>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1: Pipeline Skeleton, Configuration and the Alpaca Paper Account</a:t>
            </a:r>
          </a:p>
        </p:txBody>
      </p:sp>
      <p:sp>
        <p:nvSpPr>
          <p:cNvPr id="21" name="TextBox 20"/>
          <p:cNvSpPr txBox="1"/>
          <p:nvPr/>
        </p:nvSpPr>
        <p:spPr>
          <a:xfrm>
            <a:off x="10287000" y="316382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2" name="TextBox 21"/>
          <p:cNvSpPr txBox="1"/>
          <p:nvPr/>
        </p:nvSpPr>
        <p:spPr>
          <a:xfrm>
            <a:off x="822960" y="354787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12:00 - 12:20</a:t>
            </a:r>
          </a:p>
        </p:txBody>
      </p:sp>
      <p:sp>
        <p:nvSpPr>
          <p:cNvPr id="23" name="TextBox 22"/>
          <p:cNvSpPr txBox="1"/>
          <p:nvPr/>
        </p:nvSpPr>
        <p:spPr>
          <a:xfrm>
            <a:off x="2377440" y="3547872"/>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2: Data-Validation Stage: Cross-Check Pipeline Bars against TradingView</a:t>
            </a:r>
          </a:p>
        </p:txBody>
      </p:sp>
      <p:sp>
        <p:nvSpPr>
          <p:cNvPr id="24" name="TextBox 23"/>
          <p:cNvSpPr txBox="1"/>
          <p:nvPr/>
        </p:nvSpPr>
        <p:spPr>
          <a:xfrm>
            <a:off x="10287000" y="354787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5" name="TextBox 24"/>
          <p:cNvSpPr txBox="1"/>
          <p:nvPr/>
        </p:nvSpPr>
        <p:spPr>
          <a:xfrm>
            <a:off x="822960" y="393192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12:20 - 12:40</a:t>
            </a:r>
          </a:p>
        </p:txBody>
      </p:sp>
      <p:sp>
        <p:nvSpPr>
          <p:cNvPr id="26" name="TextBox 25"/>
          <p:cNvSpPr txBox="1"/>
          <p:nvPr/>
        </p:nvSpPr>
        <p:spPr>
          <a:xfrm>
            <a:off x="2377440" y="393192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3: Ingestion Stage: Multi-Timeframe Bars, Headlines and Data Quality</a:t>
            </a:r>
          </a:p>
        </p:txBody>
      </p:sp>
      <p:sp>
        <p:nvSpPr>
          <p:cNvPr id="27" name="TextBox 26"/>
          <p:cNvSpPr txBox="1"/>
          <p:nvPr/>
        </p:nvSpPr>
        <p:spPr>
          <a:xfrm>
            <a:off x="10287000" y="393192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8" name="Rectangle 27"/>
          <p:cNvSpPr/>
          <p:nvPr/>
        </p:nvSpPr>
        <p:spPr>
          <a:xfrm>
            <a:off x="777240" y="4315968"/>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4315968"/>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12:40 - 13:10      Lunch Break</a:t>
            </a:r>
          </a:p>
        </p:txBody>
      </p:sp>
      <p:sp>
        <p:nvSpPr>
          <p:cNvPr id="30" name="TextBox 29"/>
          <p:cNvSpPr txBox="1"/>
          <p:nvPr/>
        </p:nvSpPr>
        <p:spPr>
          <a:xfrm>
            <a:off x="822960" y="4700016"/>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13:10 - 13:25</a:t>
            </a:r>
          </a:p>
        </p:txBody>
      </p:sp>
      <p:sp>
        <p:nvSpPr>
          <p:cNvPr id="31" name="TextBox 30"/>
          <p:cNvSpPr txBox="1"/>
          <p:nvPr/>
        </p:nvSpPr>
        <p:spPr>
          <a:xfrm>
            <a:off x="2377440" y="4700016"/>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4: Hypothesis Stage: from a Written Card to an Automated Statistical Test</a:t>
            </a:r>
          </a:p>
        </p:txBody>
      </p:sp>
      <p:sp>
        <p:nvSpPr>
          <p:cNvPr id="32" name="TextBox 31"/>
          <p:cNvSpPr txBox="1"/>
          <p:nvPr/>
        </p:nvSpPr>
        <p:spPr>
          <a:xfrm>
            <a:off x="10287000" y="4700016"/>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3" name="TextBox 32"/>
          <p:cNvSpPr txBox="1"/>
          <p:nvPr/>
        </p:nvSpPr>
        <p:spPr>
          <a:xfrm>
            <a:off x="822960" y="508406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13:25 - 14:05</a:t>
            </a:r>
          </a:p>
        </p:txBody>
      </p:sp>
      <p:sp>
        <p:nvSpPr>
          <p:cNvPr id="34" name="TextBox 33"/>
          <p:cNvSpPr txBox="1"/>
          <p:nvPr/>
        </p:nvSpPr>
        <p:spPr>
          <a:xfrm>
            <a:off x="2377440" y="5084064"/>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T2.1-2.2 Technical Indicators and Standard Algorithmic Trading Strategies</a:t>
            </a:r>
          </a:p>
        </p:txBody>
      </p:sp>
      <p:sp>
        <p:nvSpPr>
          <p:cNvPr id="35" name="TextBox 34"/>
          <p:cNvSpPr txBox="1"/>
          <p:nvPr/>
        </p:nvSpPr>
        <p:spPr>
          <a:xfrm>
            <a:off x="10287000" y="508406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1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09:30 - 17:30  ·  7.5 instructional hours  ·  excluding a 30-minute lunch</a:t>
            </a:r>
          </a:p>
        </p:txBody>
      </p:sp>
      <p:sp>
        <p:nvSpPr>
          <p:cNvPr id="8" name="TextBox 7"/>
          <p:cNvSpPr txBox="1"/>
          <p:nvPr/>
        </p:nvSpPr>
        <p:spPr>
          <a:xfrm>
            <a:off x="822960" y="201168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14:05 - 14:30</a:t>
            </a:r>
          </a:p>
        </p:txBody>
      </p:sp>
      <p:sp>
        <p:nvSpPr>
          <p:cNvPr id="9" name="TextBox 8"/>
          <p:cNvSpPr txBox="1"/>
          <p:nvPr/>
        </p:nvSpPr>
        <p:spPr>
          <a:xfrm>
            <a:off x="2377440" y="201168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5: Indicator Stage: Pine Script v6 Indicators and their Python Twins</a:t>
            </a:r>
          </a:p>
        </p:txBody>
      </p:sp>
      <p:sp>
        <p:nvSpPr>
          <p:cNvPr id="10" name="TextBox 9"/>
          <p:cNvSpPr txBox="1"/>
          <p:nvPr/>
        </p:nvSpPr>
        <p:spPr>
          <a:xfrm>
            <a:off x="10287000" y="201168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9572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14:30 - 14:55</a:t>
            </a:r>
          </a:p>
        </p:txBody>
      </p:sp>
      <p:sp>
        <p:nvSpPr>
          <p:cNvPr id="12" name="TextBox 11"/>
          <p:cNvSpPr txBox="1"/>
          <p:nvPr/>
        </p:nvSpPr>
        <p:spPr>
          <a:xfrm>
            <a:off x="2377440" y="2395728"/>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6: Strategy Prototype: TradingView Strategy Tester, Paper Trading from the Chart and Pipeline Reconciliation</a:t>
            </a:r>
          </a:p>
        </p:txBody>
      </p:sp>
      <p:sp>
        <p:nvSpPr>
          <p:cNvPr id="13" name="TextBox 12"/>
          <p:cNvSpPr txBox="1"/>
          <p:nvPr/>
        </p:nvSpPr>
        <p:spPr>
          <a:xfrm>
            <a:off x="10287000" y="239572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6" name="TextBox 15"/>
          <p:cNvSpPr txBox="1"/>
          <p:nvPr/>
        </p:nvSpPr>
        <p:spPr>
          <a:xfrm>
            <a:off x="822960" y="2779776"/>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14:55 - 15:20</a:t>
            </a:r>
          </a:p>
        </p:txBody>
      </p:sp>
      <p:sp>
        <p:nvSpPr>
          <p:cNvPr id="17" name="TextBox 16"/>
          <p:cNvSpPr txBox="1"/>
          <p:nvPr/>
        </p:nvSpPr>
        <p:spPr>
          <a:xfrm>
            <a:off x="2377440" y="2779776"/>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7: Signal Stage: a Library of Trend, Mean-Reversion, Momentum and Breakout Signals</a:t>
            </a:r>
          </a:p>
        </p:txBody>
      </p:sp>
      <p:sp>
        <p:nvSpPr>
          <p:cNvPr id="18" name="TextBox 17"/>
          <p:cNvSpPr txBox="1"/>
          <p:nvPr/>
        </p:nvSpPr>
        <p:spPr>
          <a:xfrm>
            <a:off x="10287000" y="2779776"/>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9" name="TextBox 18"/>
          <p:cNvSpPr txBox="1"/>
          <p:nvPr/>
        </p:nvSpPr>
        <p:spPr>
          <a:xfrm>
            <a:off x="822960" y="316382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15:20 - 16:00</a:t>
            </a:r>
          </a:p>
        </p:txBody>
      </p:sp>
      <p:sp>
        <p:nvSpPr>
          <p:cNvPr id="20" name="TextBox 19"/>
          <p:cNvSpPr txBox="1"/>
          <p:nvPr/>
        </p:nvSpPr>
        <p:spPr>
          <a:xfrm>
            <a:off x="2377440" y="3163824"/>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T2.3-2.4 Analytics Platforms, Coding Languages and Order Placement</a:t>
            </a:r>
          </a:p>
        </p:txBody>
      </p:sp>
      <p:sp>
        <p:nvSpPr>
          <p:cNvPr id="21" name="TextBox 20"/>
          <p:cNvSpPr txBox="1"/>
          <p:nvPr/>
        </p:nvSpPr>
        <p:spPr>
          <a:xfrm>
            <a:off x="10287000" y="316382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2" name="TextBox 21"/>
          <p:cNvSpPr txBox="1"/>
          <p:nvPr/>
        </p:nvSpPr>
        <p:spPr>
          <a:xfrm>
            <a:off x="822960" y="354787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16:00 - 16:25</a:t>
            </a:r>
          </a:p>
        </p:txBody>
      </p:sp>
      <p:sp>
        <p:nvSpPr>
          <p:cNvPr id="23" name="TextBox 22"/>
          <p:cNvSpPr txBox="1"/>
          <p:nvPr/>
        </p:nvSpPr>
        <p:spPr>
          <a:xfrm>
            <a:off x="2377440" y="3547872"/>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8: Execution Stage: an Order Manager that Trades the Paper Account in Any Session</a:t>
            </a:r>
          </a:p>
        </p:txBody>
      </p:sp>
      <p:sp>
        <p:nvSpPr>
          <p:cNvPr id="24" name="TextBox 23"/>
          <p:cNvSpPr txBox="1"/>
          <p:nvPr/>
        </p:nvSpPr>
        <p:spPr>
          <a:xfrm>
            <a:off x="10287000" y="354787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5" name="TextBox 24"/>
          <p:cNvSpPr txBox="1"/>
          <p:nvPr/>
        </p:nvSpPr>
        <p:spPr>
          <a:xfrm>
            <a:off x="822960" y="393192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16:25 - 16:50</a:t>
            </a:r>
          </a:p>
        </p:txBody>
      </p:sp>
      <p:sp>
        <p:nvSpPr>
          <p:cNvPr id="26" name="TextBox 25"/>
          <p:cNvSpPr txBox="1"/>
          <p:nvPr/>
        </p:nvSpPr>
        <p:spPr>
          <a:xfrm>
            <a:off x="2377440" y="3931920"/>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T2.5 Performance and Risk Metric Definitions</a:t>
            </a:r>
          </a:p>
        </p:txBody>
      </p:sp>
      <p:sp>
        <p:nvSpPr>
          <p:cNvPr id="27" name="TextBox 26"/>
          <p:cNvSpPr txBox="1"/>
          <p:nvPr/>
        </p:nvSpPr>
        <p:spPr>
          <a:xfrm>
            <a:off x="10287000" y="393192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8" name="TextBox 27"/>
          <p:cNvSpPr txBox="1"/>
          <p:nvPr/>
        </p:nvSpPr>
        <p:spPr>
          <a:xfrm>
            <a:off x="822960" y="431596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16:50 - 17:15</a:t>
            </a:r>
          </a:p>
        </p:txBody>
      </p:sp>
      <p:sp>
        <p:nvSpPr>
          <p:cNvPr id="29" name="TextBox 28"/>
          <p:cNvSpPr txBox="1"/>
          <p:nvPr/>
        </p:nvSpPr>
        <p:spPr>
          <a:xfrm>
            <a:off x="2377440" y="4315968"/>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9: Evaluation Stage: Performance and Risk Metrics with a Benchmark Table</a:t>
            </a:r>
          </a:p>
        </p:txBody>
      </p:sp>
      <p:sp>
        <p:nvSpPr>
          <p:cNvPr id="30" name="TextBox 29"/>
          <p:cNvSpPr txBox="1"/>
          <p:nvPr/>
        </p:nvSpPr>
        <p:spPr>
          <a:xfrm>
            <a:off x="10287000" y="431596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1" name="TextBox 30"/>
          <p:cNvSpPr txBox="1"/>
          <p:nvPr/>
        </p:nvSpPr>
        <p:spPr>
          <a:xfrm>
            <a:off x="822960" y="4700016"/>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17:15 - 17:30</a:t>
            </a:r>
          </a:p>
        </p:txBody>
      </p:sp>
      <p:sp>
        <p:nvSpPr>
          <p:cNvPr id="32" name="TextBox 31"/>
          <p:cNvSpPr txBox="1"/>
          <p:nvPr/>
        </p:nvSpPr>
        <p:spPr>
          <a:xfrm>
            <a:off x="2377440" y="4700016"/>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Day 1 Recap and Q&amp;A</a:t>
            </a:r>
          </a:p>
        </p:txBody>
      </p:sp>
      <p:sp>
        <p:nvSpPr>
          <p:cNvPr id="33" name="TextBox 32"/>
          <p:cNvSpPr txBox="1"/>
          <p:nvPr/>
        </p:nvSpPr>
        <p:spPr>
          <a:xfrm>
            <a:off x="10287000" y="4700016"/>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2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09:30 - 17:30  ·  7.5 instructional hours  ·  excluding a 30-minute lunch</a:t>
            </a:r>
          </a:p>
        </p:txBody>
      </p:sp>
      <p:sp>
        <p:nvSpPr>
          <p:cNvPr id="8" name="TextBox 7"/>
          <p:cNvSpPr txBox="1"/>
          <p:nvPr/>
        </p:nvSpPr>
        <p:spPr>
          <a:xfrm>
            <a:off x="822960" y="20116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09:30 - 09:50</a:t>
            </a:r>
          </a:p>
        </p:txBody>
      </p:sp>
      <p:sp>
        <p:nvSpPr>
          <p:cNvPr id="9" name="TextBox 8"/>
          <p:cNvSpPr txBox="1"/>
          <p:nvPr/>
        </p:nvSpPr>
        <p:spPr>
          <a:xfrm>
            <a:off x="2377440" y="201168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Day 1 Recap and Day 2 Overview</a:t>
            </a:r>
          </a:p>
        </p:txBody>
      </p:sp>
      <p:sp>
        <p:nvSpPr>
          <p:cNvPr id="10" name="TextBox 9"/>
          <p:cNvSpPr txBox="1"/>
          <p:nvPr/>
        </p:nvSpPr>
        <p:spPr>
          <a:xfrm>
            <a:off x="10287000" y="20116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583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09:50 - 10:20</a:t>
            </a:r>
          </a:p>
        </p:txBody>
      </p:sp>
      <p:sp>
        <p:nvSpPr>
          <p:cNvPr id="12" name="TextBox 11"/>
          <p:cNvSpPr txBox="1"/>
          <p:nvPr/>
        </p:nvSpPr>
        <p:spPr>
          <a:xfrm>
            <a:off x="2377440" y="235839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T3.1-3.2 Statistical Analyses, Algorithms and Supervised Learning Models</a:t>
            </a:r>
          </a:p>
        </p:txBody>
      </p:sp>
      <p:sp>
        <p:nvSpPr>
          <p:cNvPr id="13" name="TextBox 12"/>
          <p:cNvSpPr txBox="1"/>
          <p:nvPr/>
        </p:nvSpPr>
        <p:spPr>
          <a:xfrm>
            <a:off x="10287000" y="23583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4" name="TextBox 13"/>
          <p:cNvSpPr txBox="1"/>
          <p:nvPr/>
        </p:nvSpPr>
        <p:spPr>
          <a:xfrm>
            <a:off x="822960" y="270510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10:20 - 10:45</a:t>
            </a:r>
          </a:p>
        </p:txBody>
      </p:sp>
      <p:sp>
        <p:nvSpPr>
          <p:cNvPr id="15" name="TextBox 14"/>
          <p:cNvSpPr txBox="1"/>
          <p:nvPr/>
        </p:nvSpPr>
        <p:spPr>
          <a:xfrm>
            <a:off x="2377440" y="270510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10: Strategy-Search Stage: Grid Search, Out-of-Sample Ranking and Decay</a:t>
            </a:r>
          </a:p>
        </p:txBody>
      </p:sp>
      <p:sp>
        <p:nvSpPr>
          <p:cNvPr id="16" name="TextBox 15"/>
          <p:cNvSpPr txBox="1"/>
          <p:nvPr/>
        </p:nvSpPr>
        <p:spPr>
          <a:xfrm>
            <a:off x="10287000" y="270510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7" name="TextBox 16"/>
          <p:cNvSpPr txBox="1"/>
          <p:nvPr/>
        </p:nvSpPr>
        <p:spPr>
          <a:xfrm>
            <a:off x="822960" y="305181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10:45 - 11:10</a:t>
            </a:r>
          </a:p>
        </p:txBody>
      </p:sp>
      <p:sp>
        <p:nvSpPr>
          <p:cNvPr id="18" name="TextBox 17"/>
          <p:cNvSpPr txBox="1"/>
          <p:nvPr/>
        </p:nvSpPr>
        <p:spPr>
          <a:xfrm>
            <a:off x="2377440" y="305181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11: ML-Signal Stage: a Walk-Forward Classifier from Probability to Position</a:t>
            </a:r>
          </a:p>
        </p:txBody>
      </p:sp>
      <p:sp>
        <p:nvSpPr>
          <p:cNvPr id="19" name="TextBox 18"/>
          <p:cNvSpPr txBox="1"/>
          <p:nvPr/>
        </p:nvSpPr>
        <p:spPr>
          <a:xfrm>
            <a:off x="10287000" y="305181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2" name="TextBox 21"/>
          <p:cNvSpPr txBox="1"/>
          <p:nvPr/>
        </p:nvSpPr>
        <p:spPr>
          <a:xfrm>
            <a:off x="822960" y="339852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11:10 - 11:35</a:t>
            </a:r>
          </a:p>
        </p:txBody>
      </p:sp>
      <p:sp>
        <p:nvSpPr>
          <p:cNvPr id="23" name="TextBox 22"/>
          <p:cNvSpPr txBox="1"/>
          <p:nvPr/>
        </p:nvSpPr>
        <p:spPr>
          <a:xfrm>
            <a:off x="2377440" y="339852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T3.3-3.4 Unsupervised Learning and Statistical Modelling Techniques</a:t>
            </a:r>
          </a:p>
        </p:txBody>
      </p:sp>
      <p:sp>
        <p:nvSpPr>
          <p:cNvPr id="24" name="TextBox 23"/>
          <p:cNvSpPr txBox="1"/>
          <p:nvPr/>
        </p:nvSpPr>
        <p:spPr>
          <a:xfrm>
            <a:off x="10287000" y="339852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5" name="TextBox 24"/>
          <p:cNvSpPr txBox="1"/>
          <p:nvPr/>
        </p:nvSpPr>
        <p:spPr>
          <a:xfrm>
            <a:off x="822960" y="374523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11:35 - 11:55</a:t>
            </a:r>
          </a:p>
        </p:txBody>
      </p:sp>
      <p:sp>
        <p:nvSpPr>
          <p:cNvPr id="26" name="TextBox 25"/>
          <p:cNvSpPr txBox="1"/>
          <p:nvPr/>
        </p:nvSpPr>
        <p:spPr>
          <a:xfrm>
            <a:off x="2377440" y="374523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12: Regime-Filter Stage: PCA and K-Means as a Gate on the Signals</a:t>
            </a:r>
          </a:p>
        </p:txBody>
      </p:sp>
      <p:sp>
        <p:nvSpPr>
          <p:cNvPr id="27" name="TextBox 26"/>
          <p:cNvSpPr txBox="1"/>
          <p:nvPr/>
        </p:nvSpPr>
        <p:spPr>
          <a:xfrm>
            <a:off x="10287000" y="374523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8" name="TextBox 27"/>
          <p:cNvSpPr txBox="1"/>
          <p:nvPr/>
        </p:nvSpPr>
        <p:spPr>
          <a:xfrm>
            <a:off x="822960" y="4091939"/>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11:55 - 12:15</a:t>
            </a:r>
          </a:p>
        </p:txBody>
      </p:sp>
      <p:sp>
        <p:nvSpPr>
          <p:cNvPr id="29" name="TextBox 28"/>
          <p:cNvSpPr txBox="1"/>
          <p:nvPr/>
        </p:nvSpPr>
        <p:spPr>
          <a:xfrm>
            <a:off x="2377440" y="4091939"/>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T3.5-3.6 A/B Testing, and Pairs Trading as a Hedging Algorithm</a:t>
            </a:r>
          </a:p>
        </p:txBody>
      </p:sp>
      <p:sp>
        <p:nvSpPr>
          <p:cNvPr id="30" name="TextBox 29"/>
          <p:cNvSpPr txBox="1"/>
          <p:nvPr/>
        </p:nvSpPr>
        <p:spPr>
          <a:xfrm>
            <a:off x="10287000" y="4091939"/>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1" name="TextBox 30"/>
          <p:cNvSpPr txBox="1"/>
          <p:nvPr/>
        </p:nvSpPr>
        <p:spPr>
          <a:xfrm>
            <a:off x="822960" y="443865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12:15 - 12:35</a:t>
            </a:r>
          </a:p>
        </p:txBody>
      </p:sp>
      <p:sp>
        <p:nvSpPr>
          <p:cNvPr id="32" name="TextBox 31"/>
          <p:cNvSpPr txBox="1"/>
          <p:nvPr/>
        </p:nvSpPr>
        <p:spPr>
          <a:xfrm>
            <a:off x="2377440" y="443865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13: A/B-Test Stage: a Statistical Decision before Capital Moves</a:t>
            </a:r>
          </a:p>
        </p:txBody>
      </p:sp>
      <p:sp>
        <p:nvSpPr>
          <p:cNvPr id="33" name="TextBox 32"/>
          <p:cNvSpPr txBox="1"/>
          <p:nvPr/>
        </p:nvSpPr>
        <p:spPr>
          <a:xfrm>
            <a:off x="10287000" y="443865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4" name="TextBox 33"/>
          <p:cNvSpPr txBox="1"/>
          <p:nvPr/>
        </p:nvSpPr>
        <p:spPr>
          <a:xfrm>
            <a:off x="822960" y="478536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12:35 - 13:00</a:t>
            </a:r>
          </a:p>
        </p:txBody>
      </p:sp>
      <p:sp>
        <p:nvSpPr>
          <p:cNvPr id="35" name="TextBox 34"/>
          <p:cNvSpPr txBox="1"/>
          <p:nvPr/>
        </p:nvSpPr>
        <p:spPr>
          <a:xfrm>
            <a:off x="2377440" y="478536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14: Pairs Stage: a Hedged, Market-Neutral Statistical-Arbitrage Sleeve</a:t>
            </a:r>
          </a:p>
        </p:txBody>
      </p:sp>
      <p:sp>
        <p:nvSpPr>
          <p:cNvPr id="36" name="TextBox 35"/>
          <p:cNvSpPr txBox="1"/>
          <p:nvPr/>
        </p:nvSpPr>
        <p:spPr>
          <a:xfrm>
            <a:off x="10287000" y="478536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7" name="TextBox 36"/>
          <p:cNvSpPr txBox="1"/>
          <p:nvPr/>
        </p:nvSpPr>
        <p:spPr>
          <a:xfrm>
            <a:off x="822960" y="54787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13:30 - 14:10</a:t>
            </a:r>
          </a:p>
        </p:txBody>
      </p:sp>
      <p:sp>
        <p:nvSpPr>
          <p:cNvPr id="38" name="TextBox 37"/>
          <p:cNvSpPr txBox="1"/>
          <p:nvPr/>
        </p:nvSpPr>
        <p:spPr>
          <a:xfrm>
            <a:off x="2377440" y="547878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T4.1-4.2 Pipeline Architecture and Backtesting with Trading Costs</a:t>
            </a:r>
          </a:p>
        </p:txBody>
      </p:sp>
      <p:sp>
        <p:nvSpPr>
          <p:cNvPr id="39" name="TextBox 38"/>
          <p:cNvSpPr txBox="1"/>
          <p:nvPr/>
        </p:nvSpPr>
        <p:spPr>
          <a:xfrm>
            <a:off x="10287000" y="54787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40" name="Rectangle 39"/>
          <p:cNvSpPr/>
          <p:nvPr/>
        </p:nvSpPr>
        <p:spPr>
          <a:xfrm>
            <a:off x="777240" y="5132070"/>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 y="5132070"/>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13:00 - 13:30      Lunch Break</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2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09:30 - 17:30  ·  7.5 instructional hours  ·  excluding a 30-minute lunch</a:t>
            </a:r>
          </a:p>
        </p:txBody>
      </p:sp>
      <p:sp>
        <p:nvSpPr>
          <p:cNvPr id="8" name="TextBox 7"/>
          <p:cNvSpPr txBox="1"/>
          <p:nvPr/>
        </p:nvSpPr>
        <p:spPr>
          <a:xfrm>
            <a:off x="822960" y="20116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14:10 - 14:40</a:t>
            </a:r>
          </a:p>
        </p:txBody>
      </p:sp>
      <p:sp>
        <p:nvSpPr>
          <p:cNvPr id="9" name="TextBox 8"/>
          <p:cNvSpPr txBox="1"/>
          <p:nvPr/>
        </p:nvSpPr>
        <p:spPr>
          <a:xfrm>
            <a:off x="2377440" y="201168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15: Backtest-Engine Stage: Cost Models, Execution Timing and Break-Even</a:t>
            </a:r>
          </a:p>
        </p:txBody>
      </p:sp>
      <p:sp>
        <p:nvSpPr>
          <p:cNvPr id="10" name="TextBox 9"/>
          <p:cNvSpPr txBox="1"/>
          <p:nvPr/>
        </p:nvSpPr>
        <p:spPr>
          <a:xfrm>
            <a:off x="10287000" y="20116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583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14:40 - 14:55</a:t>
            </a:r>
          </a:p>
        </p:txBody>
      </p:sp>
      <p:sp>
        <p:nvSpPr>
          <p:cNvPr id="12" name="TextBox 11"/>
          <p:cNvSpPr txBox="1"/>
          <p:nvPr/>
        </p:nvSpPr>
        <p:spPr>
          <a:xfrm>
            <a:off x="2377440" y="235839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T4.3 Forward Testing with Automated Paper Trading</a:t>
            </a:r>
          </a:p>
        </p:txBody>
      </p:sp>
      <p:sp>
        <p:nvSpPr>
          <p:cNvPr id="13" name="TextBox 12"/>
          <p:cNvSpPr txBox="1"/>
          <p:nvPr/>
        </p:nvSpPr>
        <p:spPr>
          <a:xfrm>
            <a:off x="10287000" y="23583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4" name="TextBox 13"/>
          <p:cNvSpPr txBox="1"/>
          <p:nvPr/>
        </p:nvSpPr>
        <p:spPr>
          <a:xfrm>
            <a:off x="822960" y="270510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14:55 - 15:25</a:t>
            </a:r>
          </a:p>
        </p:txBody>
      </p:sp>
      <p:sp>
        <p:nvSpPr>
          <p:cNvPr id="15" name="TextBox 14"/>
          <p:cNvSpPr txBox="1"/>
          <p:nvPr/>
        </p:nvSpPr>
        <p:spPr>
          <a:xfrm>
            <a:off x="2377440" y="270510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16: Automation Stage: a Scheduled, Risk-Checked Forward Test and Live Paper Trading</a:t>
            </a:r>
          </a:p>
        </p:txBody>
      </p:sp>
      <p:sp>
        <p:nvSpPr>
          <p:cNvPr id="16" name="TextBox 15"/>
          <p:cNvSpPr txBox="1"/>
          <p:nvPr/>
        </p:nvSpPr>
        <p:spPr>
          <a:xfrm>
            <a:off x="10287000" y="270510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7" name="TextBox 16"/>
          <p:cNvSpPr txBox="1"/>
          <p:nvPr/>
        </p:nvSpPr>
        <p:spPr>
          <a:xfrm>
            <a:off x="822960" y="305181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15:25 - 15:50</a:t>
            </a:r>
          </a:p>
        </p:txBody>
      </p:sp>
      <p:sp>
        <p:nvSpPr>
          <p:cNvPr id="18" name="TextBox 17"/>
          <p:cNvSpPr txBox="1"/>
          <p:nvPr/>
        </p:nvSpPr>
        <p:spPr>
          <a:xfrm>
            <a:off x="2377440" y="305181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17: Event-Driven Automation: TradingView Webhook to Signal, Risk and Execution</a:t>
            </a:r>
          </a:p>
        </p:txBody>
      </p:sp>
      <p:sp>
        <p:nvSpPr>
          <p:cNvPr id="19" name="TextBox 18"/>
          <p:cNvSpPr txBox="1"/>
          <p:nvPr/>
        </p:nvSpPr>
        <p:spPr>
          <a:xfrm>
            <a:off x="10287000" y="305181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0" name="TextBox 19"/>
          <p:cNvSpPr txBox="1"/>
          <p:nvPr/>
        </p:nvSpPr>
        <p:spPr>
          <a:xfrm>
            <a:off x="822960" y="339852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15:50 - 16:00</a:t>
            </a:r>
          </a:p>
        </p:txBody>
      </p:sp>
      <p:sp>
        <p:nvSpPr>
          <p:cNvPr id="21" name="TextBox 20"/>
          <p:cNvSpPr txBox="1"/>
          <p:nvPr/>
        </p:nvSpPr>
        <p:spPr>
          <a:xfrm>
            <a:off x="2377440" y="339852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T4.4 Potential Reasons for Unintended Outcomes</a:t>
            </a:r>
          </a:p>
        </p:txBody>
      </p:sp>
      <p:sp>
        <p:nvSpPr>
          <p:cNvPr id="22" name="TextBox 21"/>
          <p:cNvSpPr txBox="1"/>
          <p:nvPr/>
        </p:nvSpPr>
        <p:spPr>
          <a:xfrm>
            <a:off x="10287000" y="339852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3" name="TextBox 22"/>
          <p:cNvSpPr txBox="1"/>
          <p:nvPr/>
        </p:nvSpPr>
        <p:spPr>
          <a:xfrm>
            <a:off x="822960" y="374523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16:00 - 16:25</a:t>
            </a:r>
          </a:p>
        </p:txBody>
      </p:sp>
      <p:sp>
        <p:nvSpPr>
          <p:cNvPr id="24" name="TextBox 23"/>
          <p:cNvSpPr txBox="1"/>
          <p:nvPr/>
        </p:nvSpPr>
        <p:spPr>
          <a:xfrm>
            <a:off x="2377440" y="374523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18: Diagnostics Stage: Automated Bias Checks before Go-Live</a:t>
            </a:r>
          </a:p>
        </p:txBody>
      </p:sp>
      <p:sp>
        <p:nvSpPr>
          <p:cNvPr id="25" name="TextBox 24"/>
          <p:cNvSpPr txBox="1"/>
          <p:nvPr/>
        </p:nvSpPr>
        <p:spPr>
          <a:xfrm>
            <a:off x="10287000" y="374523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8" name="TextBox 27"/>
          <p:cNvSpPr txBox="1"/>
          <p:nvPr/>
        </p:nvSpPr>
        <p:spPr>
          <a:xfrm>
            <a:off x="822960" y="4091939"/>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16:25 - 16:35</a:t>
            </a:r>
          </a:p>
        </p:txBody>
      </p:sp>
      <p:sp>
        <p:nvSpPr>
          <p:cNvPr id="29" name="TextBox 28"/>
          <p:cNvSpPr txBox="1"/>
          <p:nvPr/>
        </p:nvSpPr>
        <p:spPr>
          <a:xfrm>
            <a:off x="2377440" y="4091939"/>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T4.5 Performance Analysis, Insights and Reporting</a:t>
            </a:r>
          </a:p>
        </p:txBody>
      </p:sp>
      <p:sp>
        <p:nvSpPr>
          <p:cNvPr id="30" name="TextBox 29"/>
          <p:cNvSpPr txBox="1"/>
          <p:nvPr/>
        </p:nvSpPr>
        <p:spPr>
          <a:xfrm>
            <a:off x="10287000" y="4091939"/>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1" name="TextBox 30"/>
          <p:cNvSpPr txBox="1"/>
          <p:nvPr/>
        </p:nvSpPr>
        <p:spPr>
          <a:xfrm>
            <a:off x="822960" y="443865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16:35 - 17:05</a:t>
            </a:r>
          </a:p>
        </p:txBody>
      </p:sp>
      <p:sp>
        <p:nvSpPr>
          <p:cNvPr id="32" name="TextBox 31"/>
          <p:cNvSpPr txBox="1"/>
          <p:nvPr/>
        </p:nvSpPr>
        <p:spPr>
          <a:xfrm>
            <a:off x="2377440" y="443865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19: Monitoring and Reporting Stage: Automated Tearsheet and Backtest-vs-Forward Report</a:t>
            </a:r>
          </a:p>
        </p:txBody>
      </p:sp>
      <p:sp>
        <p:nvSpPr>
          <p:cNvPr id="33" name="TextBox 32"/>
          <p:cNvSpPr txBox="1"/>
          <p:nvPr/>
        </p:nvSpPr>
        <p:spPr>
          <a:xfrm>
            <a:off x="10287000" y="443865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4" name="TextBox 33"/>
          <p:cNvSpPr txBox="1"/>
          <p:nvPr/>
        </p:nvSpPr>
        <p:spPr>
          <a:xfrm>
            <a:off x="822960" y="478536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17:05 - 17:30</a:t>
            </a:r>
          </a:p>
        </p:txBody>
      </p:sp>
      <p:sp>
        <p:nvSpPr>
          <p:cNvPr id="35" name="TextBox 34"/>
          <p:cNvSpPr txBox="1"/>
          <p:nvPr/>
        </p:nvSpPr>
        <p:spPr>
          <a:xfrm>
            <a:off x="2377440" y="478536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20: Capstone: One Command Runs the Pipeline End to End, with a Multi AI Agents Workflow</a:t>
            </a:r>
          </a:p>
        </p:txBody>
      </p:sp>
      <p:sp>
        <p:nvSpPr>
          <p:cNvPr id="36" name="TextBox 35"/>
          <p:cNvSpPr txBox="1"/>
          <p:nvPr/>
        </p:nvSpPr>
        <p:spPr>
          <a:xfrm>
            <a:off x="10287000" y="478536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F6FEB"/>
                </a:solidFill>
                <a:latin typeface="Arial"/>
              </a:rPr>
              <a:t>GETTING STARTED</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Set Up Alpaca and TradingView</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F6FEB"/>
                </a:solidFill>
                <a:latin typeface="Arial"/>
              </a:rPr>
              <a:t>LEARNING OUTCOME</a:t>
            </a:r>
          </a:p>
          <a:p>
            <a:pPr algn="l">
              <a:spcAft>
                <a:spcPts val="400"/>
              </a:spcAft>
            </a:pPr>
            <a:r>
              <a:rPr sz="1350" b="0">
                <a:solidFill>
                  <a:srgbClr val="161B26"/>
                </a:solidFill>
                <a:latin typeface="Arial"/>
              </a:rPr>
              <a:t>Install the Trading Simulator and create the free accounts every lab uses. Everything runs on paper — no real money at any point.</a:t>
            </a:r>
          </a:p>
        </p:txBody>
      </p:sp>
      <p:sp>
        <p:nvSpPr>
          <p:cNvPr id="9" name="TextBox 8"/>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01</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Download, Install and Start the Trading Simulator Software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Install Docker Desktop - or Python 3.11+ and uv</a:t>
            </a:r>
          </a:p>
        </p:txBody>
      </p:sp>
      <p:sp>
        <p:nvSpPr>
          <p:cNvPr id="13" name="TextBox 12"/>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Download the simulator: GitHub &gt; Code &gt; Download ZIP</a:t>
            </a:r>
          </a:p>
        </p:txBody>
      </p:sp>
      <p:sp>
        <p:nvSpPr>
          <p:cNvPr id="19" name="TextBox 18"/>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Start it: docker compose up -d  (or uv sync, then uv run trader serve --with-worker)</a:t>
            </a:r>
          </a:p>
        </p:txBody>
      </p:sp>
      <p:sp>
        <p:nvSpPr>
          <p:cNvPr id="25" name="TextBox 24"/>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Load the demo data: Settings &gt; Load demo data</a:t>
            </a:r>
          </a:p>
        </p:txBody>
      </p:sp>
      <p:sp>
        <p:nvSpPr>
          <p:cNvPr id="31" name="TextBox 30"/>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Open http://localhost:8000 &gt; Course Labs</a:t>
            </a:r>
          </a:p>
        </p:txBody>
      </p:sp>
      <p:sp>
        <p:nvSpPr>
          <p:cNvPr id="37" name="TextBox 36"/>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8" name="Rectangle 37"/>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2" name="TextBox 41"/>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Keys: Integrations page (no files to edit)</a:t>
            </a:r>
          </a:p>
        </p:txBody>
      </p:sp>
      <p:sp>
        <p:nvSpPr>
          <p:cNvPr id="43" name="Rectangle 4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Simulator: github.com/alfredang/algorithmic-trader-bot - the README has the full start-up steps and troubleshooting.</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Trading Simulator — Pipeline 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pipeline_map_v2.png"/>
          <p:cNvPicPr>
            <a:picLocks noChangeAspect="1"/>
          </p:cNvPicPr>
          <p:nvPr/>
        </p:nvPicPr>
        <p:blipFill>
          <a:blip r:embed="rId2"/>
          <a:stretch>
            <a:fillRect/>
          </a:stretch>
        </p:blipFill>
        <p:spPr>
          <a:xfrm>
            <a:off x="1448866" y="2057400"/>
            <a:ext cx="9293961" cy="3520440"/>
          </a:xfrm>
          <a:prstGeom prst="rect">
            <a:avLst/>
          </a:prstGeom>
        </p:spPr>
      </p:pic>
      <p:sp>
        <p:nvSpPr>
          <p:cNvPr id="8" name="Rectangle 7"/>
          <p:cNvSpPr/>
          <p:nvPr/>
        </p:nvSpPr>
        <p:spPr>
          <a:xfrm>
            <a:off x="1437894" y="2046427"/>
            <a:ext cx="9315907"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Pipeline Map shows the 14 stages of the automated pipeline, plus TradingView webhook alerts and the always-on AI agent as side inputs, each with its live state. Click a stage to see its activity.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Sign Up for Alpaca and Open the Paper-Trading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up at alpaca.markets and verify your email</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Log in; choose 'Paper Trading' (upper left)</a:t>
            </a:r>
          </a:p>
        </p:txBody>
      </p:sp>
      <p:sp>
        <p:nvSpPr>
          <p:cNvPr id="19" name="TextBox 18"/>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API section: generate key - copy the secret once</a:t>
            </a:r>
          </a:p>
        </p:txBody>
      </p:sp>
      <p:sp>
        <p:nvSpPr>
          <p:cNvPr id="25" name="TextBox 24"/>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Simulator: Integrations &gt; Alpaca &gt; paste &gt; Save &amp; test</a:t>
            </a:r>
          </a:p>
        </p:txBody>
      </p:sp>
      <p:sp>
        <p:nvSpPr>
          <p:cNvPr id="31" name="TextBox 30"/>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Test connection: 'Paper account ACTIVE'</a:t>
            </a:r>
          </a:p>
        </p:txBody>
      </p:sp>
      <p:sp>
        <p:nvSpPr>
          <p:cNvPr id="37" name="Rectangle 3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No deposit needed. Paper keys only work on paper-api.alpaca.markets. No account? Every lab also runs offline.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Alpaca Paper-Trading Dashboard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lpaca_paper_home.png"/>
          <p:cNvPicPr>
            <a:picLocks noChangeAspect="1"/>
          </p:cNvPicPr>
          <p:nvPr/>
        </p:nvPicPr>
        <p:blipFill>
          <a:blip r:embed="rId2"/>
          <a:stretch>
            <a:fillRect/>
          </a:stretch>
        </p:blipFill>
        <p:spPr>
          <a:xfrm>
            <a:off x="1701184" y="2057400"/>
            <a:ext cx="8789325" cy="3520440"/>
          </a:xfrm>
          <a:prstGeom prst="rect">
            <a:avLst/>
          </a:prstGeom>
        </p:spPr>
      </p:pic>
      <p:sp>
        <p:nvSpPr>
          <p:cNvPr id="8" name="Rectangle 7"/>
          <p:cNvSpPr/>
          <p:nvPr/>
        </p:nvSpPr>
        <p:spPr>
          <a:xfrm>
            <a:off x="1690211" y="2046427"/>
            <a:ext cx="8811271"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Check that the account selector shows 'Paper'. The banner confirms that no real money is being used. The API keys for the labs are generated from this account.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Connect Alpaca to the Simulator — Integrations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integrations.png"/>
          <p:cNvPicPr>
            <a:picLocks noChangeAspect="1"/>
          </p:cNvPicPr>
          <p:nvPr/>
        </p:nvPicPr>
        <p:blipFill>
          <a:blip r:embed="rId2"/>
          <a:stretch>
            <a:fillRect/>
          </a:stretch>
        </p:blipFill>
        <p:spPr>
          <a:xfrm>
            <a:off x="1977491" y="2057400"/>
            <a:ext cx="8236712" cy="3520440"/>
          </a:xfrm>
          <a:prstGeom prst="rect">
            <a:avLst/>
          </a:prstGeom>
        </p:spPr>
      </p:pic>
      <p:sp>
        <p:nvSpPr>
          <p:cNvPr id="8" name="Rectangle 7"/>
          <p:cNvSpPr/>
          <p:nvPr/>
        </p:nvSpPr>
        <p:spPr>
          <a:xfrm>
            <a:off x="1966518" y="2046427"/>
            <a:ext cx="8258657"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Paste the paper Key ID and Secret into the Alpaca card, then press Save &amp; test. Keys stay on your computer and are only shown masked. Without keys, every lab still runs offline.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Sign Up for TradingView and Find the Tools You Will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up at tradingview.com (email, Google or Apple)</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Keep the free plan</a:t>
            </a:r>
          </a:p>
        </p:txBody>
      </p:sp>
      <p:sp>
        <p:nvSpPr>
          <p:cNvPr id="19" name="TextBox 18"/>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Products &gt; Supercharts; search NASDAQ:AAPL or SGX:D05</a:t>
            </a:r>
          </a:p>
        </p:txBody>
      </p:sp>
      <p:sp>
        <p:nvSpPr>
          <p:cNvPr id="25" name="TextBox 24"/>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Set time zone to Singapore</a:t>
            </a:r>
          </a:p>
        </p:txBody>
      </p:sp>
      <p:sp>
        <p:nvSpPr>
          <p:cNvPr id="31" name="TextBox 30"/>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Find Indicators, Pine Editor, Strategy Tester, Trade</a:t>
            </a:r>
          </a:p>
        </p:txBody>
      </p:sp>
      <p:sp>
        <p:nvSpPr>
          <p:cNvPr id="37" name="Rectangle 3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The free plan covers Labs 2, 5 and 6. Webhook alerts in Lab 17 need a paid plan - the lab includes a local simulator.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 Chart, Watchlist and Symbol Panel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radingview_chart.png"/>
          <p:cNvPicPr>
            <a:picLocks noChangeAspect="1"/>
          </p:cNvPicPr>
          <p:nvPr/>
        </p:nvPicPr>
        <p:blipFill>
          <a:blip r:embed="rId2"/>
          <a:stretch>
            <a:fillRect/>
          </a:stretch>
        </p:blipFill>
        <p:spPr>
          <a:xfrm>
            <a:off x="2493368" y="2057400"/>
            <a:ext cx="7204958" cy="3520440"/>
          </a:xfrm>
          <a:prstGeom prst="rect">
            <a:avLst/>
          </a:prstGeom>
        </p:spPr>
      </p:pic>
      <p:sp>
        <p:nvSpPr>
          <p:cNvPr id="8" name="Rectangle 7"/>
          <p:cNvSpPr/>
          <p:nvPr/>
        </p:nvSpPr>
        <p:spPr>
          <a:xfrm>
            <a:off x="2482395" y="2046427"/>
            <a:ext cx="7226903"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Search for a symbol, pick the interval, and add Indicators. Pine Script and the Strategy Tester open from the panel below the chart, and Trade opens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 · LOW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No Coding Needed - and a Prompt Library if You Want the Code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Every lab, no code</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Each lab runs in the Trading Simulator: choose settings, press Run, read the result. The lab manual gives every step and check.</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Want to see the code?</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labs/Prompt_Library.html has one prompt per lab. One click opens Claude or ChatGPT with the prompt filled in - the AI writes the code for you.</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Run it without installing</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Paste the code into Google Colab and press Run, or paste a strategy into the simulator's Strategy Builder. Never paste API keys into an AI chat.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PLATFORM · THE IDEA THAT MATTERS MOST</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Paper first. Always.</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Every strategy in this course is tested on history, then forward-tested on a paper account with automatic orders, before anyone would consider real capital. That discipline is the course.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F6FEB"/>
                </a:solidFill>
                <a:latin typeface="Arial"/>
              </a:rPr>
              <a:t>TOPIC 1</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Quant and Algo Trading Foundations</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F6FEB"/>
                </a:solidFill>
                <a:latin typeface="Arial"/>
              </a:rPr>
              <a:t>LEARNING OUTCOME</a:t>
            </a:r>
          </a:p>
          <a:p>
            <a:pPr algn="l">
              <a:spcAft>
                <a:spcPts val="400"/>
              </a:spcAft>
            </a:pPr>
            <a:r>
              <a:rPr sz="1350" b="0">
                <a:solidFill>
                  <a:srgbClr val="161B26"/>
                </a:solidFill>
                <a:latin typeface="Arial"/>
              </a:rPr>
              <a:t>Develop hypotheses for implementing data analytics and computational modelling activities in algorithmic trading, and identify possible big data applications across the forms of data within financial services.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Day 1   ·   Labs 1–4</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01</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 Success Stories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Ed Thorp - Princeton Newport  ·  1969</a:t>
            </a:r>
          </a:p>
          <a:p>
            <a:pPr algn="l">
              <a:spcAft>
                <a:spcPts val="300"/>
              </a:spcAft>
            </a:pPr>
            <a:r>
              <a:rPr sz="1000" b="0">
                <a:solidFill>
                  <a:srgbClr val="5B6372"/>
                </a:solidFill>
                <a:latin typeface="Arial"/>
              </a:rPr>
              <a:t>First market-neutral quant fund: about 20% a year after fees for two decades by hedging warrants and convertibles</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Renaissance - Medallion  ·  1988</a:t>
            </a:r>
          </a:p>
          <a:p>
            <a:pPr algn="l">
              <a:spcAft>
                <a:spcPts val="300"/>
              </a:spcAft>
            </a:pPr>
            <a:r>
              <a:rPr sz="1000" b="0">
                <a:solidFill>
                  <a:srgbClr val="5B6372"/>
                </a:solidFill>
                <a:latin typeface="Arial"/>
              </a:rPr>
              <a:t>Purely model-driven; about 66% a year before fees, 39% after (1988-2018); closed to outsiders, employee-owned</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D.E. Shaw  ·  1988</a:t>
            </a:r>
          </a:p>
          <a:p>
            <a:pPr algn="l">
              <a:spcAft>
                <a:spcPts val="300"/>
              </a:spcAft>
            </a:pPr>
            <a:r>
              <a:rPr sz="1000" b="0">
                <a:solidFill>
                  <a:srgbClr val="5B6372"/>
                </a:solidFill>
                <a:latin typeface="Arial"/>
              </a:rPr>
              <a:t>Founded by a computer-science professor from Morgan Stanley's quant group; models and software; about US$60-65bn</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Man AHL  ·  1987</a:t>
            </a:r>
          </a:p>
          <a:p>
            <a:pPr algn="l">
              <a:spcAft>
                <a:spcPts val="300"/>
              </a:spcAft>
            </a:pPr>
            <a:r>
              <a:rPr sz="1000" b="0">
                <a:solidFill>
                  <a:srgbClr val="5B6372"/>
                </a:solidFill>
                <a:latin typeface="Arial"/>
              </a:rPr>
              <a:t>Systematic trend following from hand-typed price histories to momentum models across 800+ markets</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Two Sigma  ·  2001</a:t>
            </a:r>
          </a:p>
          <a:p>
            <a:pPr algn="l">
              <a:spcAft>
                <a:spcPts val="300"/>
              </a:spcAft>
            </a:pPr>
            <a:r>
              <a:rPr sz="1000" b="0">
                <a:solidFill>
                  <a:srgbClr val="5B6372"/>
                </a:solidFill>
                <a:latin typeface="Arial"/>
              </a:rPr>
              <a:t>AI, machine learning and distributed computing applied to trading; about US$70bn under management</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Jane Street  ·  2024</a:t>
            </a:r>
          </a:p>
          <a:p>
            <a:pPr algn="l">
              <a:spcAft>
                <a:spcPts val="300"/>
              </a:spcAft>
            </a:pPr>
            <a:r>
              <a:rPr sz="1000" b="0">
                <a:solidFill>
                  <a:srgbClr val="5B6372"/>
                </a:solidFill>
                <a:latin typeface="Arial"/>
              </a:rPr>
              <a:t>Quant market maker: about US$20.5bn net trading revenue; nearly a quarter of primary US ETF activity</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Spotlight: Renaissance Technologies and the Medallion Fund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Founded by a mathematician</a:t>
            </a:r>
          </a:p>
          <a:p>
            <a:pPr algn="l">
              <a:spcAft>
                <a:spcPts val="300"/>
              </a:spcAft>
            </a:pPr>
            <a:r>
              <a:rPr sz="1100" b="0">
                <a:solidFill>
                  <a:srgbClr val="5B6372"/>
                </a:solidFill>
                <a:latin typeface="Arial"/>
              </a:rPr>
              <a:t>Jim Simons founds Monemetrics in 1978; renamed Renaissance Technologies in 1982</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Medallion fund, 1988</a:t>
            </a:r>
          </a:p>
          <a:p>
            <a:pPr algn="l">
              <a:spcAft>
                <a:spcPts val="300"/>
              </a:spcAft>
            </a:pPr>
            <a:r>
              <a:rPr sz="1100" b="0">
                <a:solidFill>
                  <a:srgbClr val="5B6372"/>
                </a:solidFill>
                <a:latin typeface="Arial"/>
              </a:rPr>
              <a:t>The flagship fund trades purely on mathematical models of market data</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About 66% a year before fees</a:t>
            </a:r>
          </a:p>
          <a:p>
            <a:pPr algn="l">
              <a:spcAft>
                <a:spcPts val="300"/>
              </a:spcAft>
            </a:pPr>
            <a:r>
              <a:rPr sz="1100" b="0">
                <a:solidFill>
                  <a:srgbClr val="5B6372"/>
                </a:solidFill>
                <a:latin typeface="Arial"/>
              </a:rPr>
              <a:t>Average gross return 1988-2018, about 39% after its high fees; closed to outsiders, employee-owned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The lesson for this course</a:t>
            </a:r>
          </a:p>
          <a:p>
            <a:pPr algn="l">
              <a:spcAft>
                <a:spcPts val="300"/>
              </a:spcAft>
            </a:pPr>
            <a:r>
              <a:rPr sz="1100" b="0">
                <a:solidFill>
                  <a:srgbClr val="5B6372"/>
                </a:solidFill>
                <a:latin typeface="Arial"/>
              </a:rPr>
              <a:t>The edge came from data, rigorous testing, costs and risk control - not from one clever indicator</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the Success Stories Have in Common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Hypothesis first</a:t>
            </a:r>
          </a:p>
          <a:p>
            <a:pPr algn="l">
              <a:spcAft>
                <a:spcPts val="300"/>
              </a:spcAft>
            </a:pPr>
            <a:r>
              <a:rPr sz="1050" b="0">
                <a:solidFill>
                  <a:srgbClr val="5B6372"/>
                </a:solidFill>
                <a:latin typeface="Arial"/>
              </a:rPr>
              <a:t>Each started from a testable idea about prices, not from a tool</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Data and testing</a:t>
            </a:r>
          </a:p>
          <a:p>
            <a:pPr algn="l">
              <a:spcAft>
                <a:spcPts val="300"/>
              </a:spcAft>
            </a:pPr>
            <a:r>
              <a:rPr sz="1050" b="0">
                <a:solidFill>
                  <a:srgbClr val="5B6372"/>
                </a:solidFill>
                <a:latin typeface="Arial"/>
              </a:rPr>
              <a:t>Clean data and out-of-sample tests before capital</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Many small edges</a:t>
            </a:r>
          </a:p>
          <a:p>
            <a:pPr algn="l">
              <a:spcAft>
                <a:spcPts val="300"/>
              </a:spcAft>
            </a:pPr>
            <a:r>
              <a:rPr sz="1050" b="0">
                <a:solidFill>
                  <a:srgbClr val="5B6372"/>
                </a:solidFill>
                <a:latin typeface="Arial"/>
              </a:rPr>
              <a:t>Diversified, market-neutral bets rather than one big call</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Costs and risk</a:t>
            </a:r>
          </a:p>
          <a:p>
            <a:pPr algn="l">
              <a:spcAft>
                <a:spcPts val="300"/>
              </a:spcAft>
            </a:pPr>
            <a:r>
              <a:rPr sz="1050" b="0">
                <a:solidFill>
                  <a:srgbClr val="5B6372"/>
                </a:solidFill>
                <a:latin typeface="Arial"/>
              </a:rPr>
              <a:t>Execution cost, leverage and risk limits decide survival - see LTCM 1998</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Citadel Securities</a:t>
            </a:r>
          </a:p>
          <a:p>
            <a:pPr algn="l">
              <a:spcAft>
                <a:spcPts val="300"/>
              </a:spcAft>
            </a:pPr>
            <a:r>
              <a:rPr sz="1050" b="0">
                <a:solidFill>
                  <a:srgbClr val="5B6372"/>
                </a:solidFill>
                <a:latin typeface="Arial"/>
              </a:rPr>
              <a:t>Quant market maker estimated to handle about a quarter of all US equities trading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F6FEB"/>
                </a:solidFill>
                <a:latin typeface="Arial"/>
              </a:rPr>
              <a:t>TOPIC 1 · DEFINITION</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Algorithmic trading</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Using computer programs that follow predefined rules on price, timing, volume or models to generate and execute orders automatically, with limited or no human intervention.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EVOLUTION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Evolution of Quant: From Thorp to HFT to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266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26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1950s-70s: portfolio theory, arbitrage and option pricing</a:t>
            </a:r>
          </a:p>
        </p:txBody>
      </p:sp>
      <p:sp>
        <p:nvSpPr>
          <p:cNvPr id="15" name="TextBox 14"/>
          <p:cNvSpPr txBox="1"/>
          <p:nvPr/>
        </p:nvSpPr>
        <p:spPr>
          <a:xfrm>
            <a:off x="204303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233563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35638"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62106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210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46365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1970s-80s: factor risk models and program trading</a:t>
            </a:r>
          </a:p>
        </p:txBody>
      </p:sp>
      <p:sp>
        <p:nvSpPr>
          <p:cNvPr id="21" name="TextBox 20"/>
          <p:cNvSpPr txBox="1"/>
          <p:nvPr/>
        </p:nvSpPr>
        <p:spPr>
          <a:xfrm>
            <a:off x="36014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3894036"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894036"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1794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79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022052"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1980s-90s: statistical arbitrage and pairs trading</a:t>
            </a:r>
          </a:p>
        </p:txBody>
      </p:sp>
      <p:sp>
        <p:nvSpPr>
          <p:cNvPr id="27" name="TextBox 26"/>
          <p:cNvSpPr txBox="1"/>
          <p:nvPr/>
        </p:nvSpPr>
        <p:spPr>
          <a:xfrm>
            <a:off x="515982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5452434"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52434"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73785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37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5580450"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1988 on: fully systematic signal mining (Renaissance, D.E. Shaw)</a:t>
            </a:r>
          </a:p>
        </p:txBody>
      </p:sp>
      <p:sp>
        <p:nvSpPr>
          <p:cNvPr id="33" name="TextBox 32"/>
          <p:cNvSpPr txBox="1"/>
          <p:nvPr/>
        </p:nvSpPr>
        <p:spPr>
          <a:xfrm>
            <a:off x="671822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4" name="Rectangle 33"/>
          <p:cNvSpPr/>
          <p:nvPr/>
        </p:nvSpPr>
        <p:spPr>
          <a:xfrm>
            <a:off x="7010832"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010832"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296255"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9625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7138848"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2000s: electronic market making and HFT</a:t>
            </a:r>
          </a:p>
        </p:txBody>
      </p:sp>
      <p:sp>
        <p:nvSpPr>
          <p:cNvPr id="39" name="TextBox 38"/>
          <p:cNvSpPr txBox="1"/>
          <p:nvPr/>
        </p:nvSpPr>
        <p:spPr>
          <a:xfrm>
            <a:off x="8276622"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0" name="Rectangle 39"/>
          <p:cNvSpPr/>
          <p:nvPr/>
        </p:nvSpPr>
        <p:spPr>
          <a:xfrm>
            <a:off x="856923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569230"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85465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5465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869724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2010s: speed race - co-location, microwave, microseconds</a:t>
            </a:r>
          </a:p>
        </p:txBody>
      </p:sp>
      <p:sp>
        <p:nvSpPr>
          <p:cNvPr id="45" name="TextBox 44"/>
          <p:cNvSpPr txBox="1"/>
          <p:nvPr/>
        </p:nvSpPr>
        <p:spPr>
          <a:xfrm>
            <a:off x="983502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6" name="Rectangle 45"/>
          <p:cNvSpPr/>
          <p:nvPr/>
        </p:nvSpPr>
        <p:spPr>
          <a:xfrm>
            <a:off x="1012762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127628"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41305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41305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0" name="TextBox 49"/>
          <p:cNvSpPr txBox="1"/>
          <p:nvPr/>
        </p:nvSpPr>
        <p:spPr>
          <a:xfrm>
            <a:off x="1025564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2020s: ML on alternative data, then LLM and agentic quant</a:t>
            </a:r>
          </a:p>
        </p:txBody>
      </p:sp>
      <p:sp>
        <p:nvSpPr>
          <p:cNvPr id="51" name="Rectangle 5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Each era kept the last era's discipline - hypothesis, data, testing, costs, risk - and added speed or new data.</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(1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1952</a:t>
            </a:r>
          </a:p>
          <a:p>
            <a:pPr algn="ctr">
              <a:spcAft>
                <a:spcPts val="100"/>
              </a:spcAft>
            </a:pPr>
            <a:r>
              <a:rPr sz="1150" b="1">
                <a:solidFill>
                  <a:srgbClr val="161B26"/>
                </a:solidFill>
                <a:latin typeface="Arial"/>
              </a:rPr>
              <a:t>Modern portfolio theory</a:t>
            </a:r>
          </a:p>
          <a:p>
            <a:pPr algn="ctr">
              <a:spcAft>
                <a:spcPts val="100"/>
              </a:spcAft>
            </a:pPr>
            <a:r>
              <a:rPr sz="950" b="0">
                <a:solidFill>
                  <a:srgbClr val="5B6372"/>
                </a:solidFill>
                <a:latin typeface="Arial"/>
              </a:rPr>
              <a:t>Markowitz's 'Portfolio Selection' measures risk as variance: diversification becomes maths</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1967</a:t>
            </a:r>
          </a:p>
          <a:p>
            <a:pPr algn="ctr">
              <a:spcAft>
                <a:spcPts val="100"/>
              </a:spcAft>
            </a:pPr>
            <a:r>
              <a:rPr sz="1150" b="1">
                <a:solidFill>
                  <a:srgbClr val="161B26"/>
                </a:solidFill>
                <a:latin typeface="Arial"/>
              </a:rPr>
              <a:t>Thorp's 'Beat the Market'</a:t>
            </a:r>
          </a:p>
          <a:p>
            <a:pPr algn="ctr">
              <a:spcAft>
                <a:spcPts val="100"/>
              </a:spcAft>
            </a:pPr>
            <a:r>
              <a:rPr sz="950" b="0">
                <a:solidFill>
                  <a:srgbClr val="5B6372"/>
                </a:solidFill>
                <a:latin typeface="Arial"/>
              </a:rPr>
              <a:t>Ed Thorp applies probability to hedging warrants - an early quant trading playbook</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1969</a:t>
            </a:r>
          </a:p>
          <a:p>
            <a:pPr algn="ctr">
              <a:spcAft>
                <a:spcPts val="100"/>
              </a:spcAft>
            </a:pPr>
            <a:r>
              <a:rPr sz="1150" b="1">
                <a:solidFill>
                  <a:srgbClr val="161B26"/>
                </a:solidFill>
                <a:latin typeface="Arial"/>
              </a:rPr>
              <a:t>First market-neutral quant fund</a:t>
            </a:r>
          </a:p>
          <a:p>
            <a:pPr algn="ctr">
              <a:spcAft>
                <a:spcPts val="100"/>
              </a:spcAft>
            </a:pPr>
            <a:r>
              <a:rPr sz="950" b="0">
                <a:solidFill>
                  <a:srgbClr val="5B6372"/>
                </a:solidFill>
                <a:latin typeface="Arial"/>
              </a:rPr>
              <a:t>Thorp's fund (Princeton Newport from 1974) earns about 20% a year after fees for two decades</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1973</a:t>
            </a:r>
          </a:p>
          <a:p>
            <a:pPr algn="ctr">
              <a:spcAft>
                <a:spcPts val="100"/>
              </a:spcAft>
            </a:pPr>
            <a:r>
              <a:rPr sz="1150" b="1">
                <a:solidFill>
                  <a:srgbClr val="161B26"/>
                </a:solidFill>
                <a:latin typeface="Arial"/>
              </a:rPr>
              <a:t>Black-Scholes and the CBOE</a:t>
            </a:r>
          </a:p>
          <a:p>
            <a:pPr algn="ctr">
              <a:spcAft>
                <a:spcPts val="100"/>
              </a:spcAft>
            </a:pPr>
            <a:r>
              <a:rPr sz="950" b="0">
                <a:solidFill>
                  <a:srgbClr val="5B6372"/>
                </a:solidFill>
                <a:latin typeface="Arial"/>
              </a:rPr>
              <a:t>Option-pricing formula published as the CBOE opens (Apr 1973); CBOE adopts it by 1975</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Mid-1970s</a:t>
            </a:r>
          </a:p>
          <a:p>
            <a:pPr algn="ctr">
              <a:spcAft>
                <a:spcPts val="100"/>
              </a:spcAft>
            </a:pPr>
            <a:r>
              <a:rPr sz="1150" b="1">
                <a:solidFill>
                  <a:srgbClr val="161B26"/>
                </a:solidFill>
                <a:latin typeface="Arial"/>
              </a:rPr>
              <a:t>Factor risk models</a:t>
            </a:r>
          </a:p>
          <a:p>
            <a:pPr algn="ctr">
              <a:spcAft>
                <a:spcPts val="100"/>
              </a:spcAft>
            </a:pPr>
            <a:r>
              <a:rPr sz="950" b="0">
                <a:solidFill>
                  <a:srgbClr val="5B6372"/>
                </a:solidFill>
                <a:latin typeface="Arial"/>
              </a:rPr>
              <a:t>Barr Rosenberg's Barra models portfolio risk from style, industry and size factors</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1978</a:t>
            </a:r>
          </a:p>
          <a:p>
            <a:pPr algn="ctr">
              <a:spcAft>
                <a:spcPts val="100"/>
              </a:spcAft>
            </a:pPr>
            <a:r>
              <a:rPr sz="1150" b="1">
                <a:solidFill>
                  <a:srgbClr val="161B26"/>
                </a:solidFill>
                <a:latin typeface="Arial"/>
              </a:rPr>
              <a:t>Renaissance is founded</a:t>
            </a:r>
          </a:p>
          <a:p>
            <a:pPr algn="ctr">
              <a:spcAft>
                <a:spcPts val="100"/>
              </a:spcAft>
            </a:pPr>
            <a:r>
              <a:rPr sz="950" b="0">
                <a:solidFill>
                  <a:srgbClr val="5B6372"/>
                </a:solidFill>
                <a:latin typeface="Arial"/>
              </a:rPr>
              <a:t>Mathematician Jim Simons founds Monemetrics; renamed Renaissance Technologies in 1982</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(2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1980s</a:t>
            </a:r>
          </a:p>
          <a:p>
            <a:pPr algn="ctr">
              <a:spcAft>
                <a:spcPts val="100"/>
              </a:spcAft>
            </a:pPr>
            <a:r>
              <a:rPr sz="1150" b="1">
                <a:solidFill>
                  <a:srgbClr val="161B26"/>
                </a:solidFill>
                <a:latin typeface="Arial"/>
              </a:rPr>
              <a:t>Statistical arbitrage</a:t>
            </a:r>
          </a:p>
          <a:p>
            <a:pPr algn="ctr">
              <a:spcAft>
                <a:spcPts val="100"/>
              </a:spcAft>
            </a:pPr>
            <a:r>
              <a:rPr sz="950" b="0">
                <a:solidFill>
                  <a:srgbClr val="5B6372"/>
                </a:solidFill>
                <a:latin typeface="Arial"/>
              </a:rPr>
              <a:t>Bamberger and Tartaglia's Morgan Stanley group trades pairs of co-moving stocks by rule</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1987</a:t>
            </a:r>
          </a:p>
          <a:p>
            <a:pPr algn="ctr">
              <a:spcAft>
                <a:spcPts val="100"/>
              </a:spcAft>
            </a:pPr>
            <a:r>
              <a:rPr sz="1150" b="1">
                <a:solidFill>
                  <a:srgbClr val="161B26"/>
                </a:solidFill>
                <a:latin typeface="Arial"/>
              </a:rPr>
              <a:t>Black Monday</a:t>
            </a:r>
          </a:p>
          <a:p>
            <a:pPr algn="ctr">
              <a:spcAft>
                <a:spcPts val="100"/>
              </a:spcAft>
            </a:pPr>
            <a:r>
              <a:rPr sz="950" b="0">
                <a:solidFill>
                  <a:srgbClr val="5B6372"/>
                </a:solidFill>
                <a:latin typeface="Arial"/>
              </a:rPr>
              <a:t>Dow falls 22.6% on 19 Oct; portfolio-insurance program selling deepens the crash</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1988</a:t>
            </a:r>
          </a:p>
          <a:p>
            <a:pPr algn="ctr">
              <a:spcAft>
                <a:spcPts val="100"/>
              </a:spcAft>
            </a:pPr>
            <a:r>
              <a:rPr sz="1150" b="1">
                <a:solidFill>
                  <a:srgbClr val="161B26"/>
                </a:solidFill>
                <a:latin typeface="Arial"/>
              </a:rPr>
              <a:t>Medallion and D.E. Shaw</a:t>
            </a:r>
          </a:p>
          <a:p>
            <a:pPr algn="ctr">
              <a:spcAft>
                <a:spcPts val="100"/>
              </a:spcAft>
            </a:pPr>
            <a:r>
              <a:rPr sz="950" b="0">
                <a:solidFill>
                  <a:srgbClr val="5B6372"/>
                </a:solidFill>
                <a:latin typeface="Arial"/>
              </a:rPr>
              <a:t>Renaissance launches Medallion; ex-Morgan Stanley quant David Shaw founds D.E. Shaw</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1996</a:t>
            </a:r>
          </a:p>
          <a:p>
            <a:pPr algn="ctr">
              <a:spcAft>
                <a:spcPts val="100"/>
              </a:spcAft>
            </a:pPr>
            <a:r>
              <a:rPr sz="1150" b="1">
                <a:solidFill>
                  <a:srgbClr val="161B26"/>
                </a:solidFill>
                <a:latin typeface="Arial"/>
              </a:rPr>
              <a:t>Island ECN</a:t>
            </a:r>
          </a:p>
          <a:p>
            <a:pPr algn="ctr">
              <a:spcAft>
                <a:spcPts val="100"/>
              </a:spcAft>
            </a:pPr>
            <a:r>
              <a:rPr sz="950" b="0">
                <a:solidFill>
                  <a:srgbClr val="5B6372"/>
                </a:solidFill>
                <a:latin typeface="Arial"/>
              </a:rPr>
              <a:t>Fast electronic order book (trading from 1997) becomes a hub for early HFT firms</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1998</a:t>
            </a:r>
          </a:p>
          <a:p>
            <a:pPr algn="ctr">
              <a:spcAft>
                <a:spcPts val="100"/>
              </a:spcAft>
            </a:pPr>
            <a:r>
              <a:rPr sz="1150" b="1">
                <a:solidFill>
                  <a:srgbClr val="161B26"/>
                </a:solidFill>
                <a:latin typeface="Arial"/>
              </a:rPr>
              <a:t>LTCM collapses</a:t>
            </a:r>
          </a:p>
          <a:p>
            <a:pPr algn="ctr">
              <a:spcAft>
                <a:spcPts val="100"/>
              </a:spcAft>
            </a:pPr>
            <a:r>
              <a:rPr sz="950" b="0">
                <a:solidFill>
                  <a:srgbClr val="5B6372"/>
                </a:solidFill>
                <a:latin typeface="Arial"/>
              </a:rPr>
              <a:t>Leveraged relative-value fund loses US$4.6bn; Fed-supervised US$3.65bn recapitalisation</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2001</a:t>
            </a:r>
          </a:p>
          <a:p>
            <a:pPr algn="ctr">
              <a:spcAft>
                <a:spcPts val="100"/>
              </a:spcAft>
            </a:pPr>
            <a:r>
              <a:rPr sz="1150" b="1">
                <a:solidFill>
                  <a:srgbClr val="161B26"/>
                </a:solidFill>
                <a:latin typeface="Arial"/>
              </a:rPr>
              <a:t>Decimalisation</a:t>
            </a:r>
          </a:p>
          <a:p>
            <a:pPr algn="ctr">
              <a:spcAft>
                <a:spcPts val="100"/>
              </a:spcAft>
            </a:pPr>
            <a:r>
              <a:rPr sz="950" b="0">
                <a:solidFill>
                  <a:srgbClr val="5B6372"/>
                </a:solidFill>
                <a:latin typeface="Arial"/>
              </a:rPr>
              <a:t>US stocks quote in cents, not 1/16ths; spreads narrow and electronic market making grows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(3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2005</a:t>
            </a:r>
          </a:p>
          <a:p>
            <a:pPr algn="ctr">
              <a:spcAft>
                <a:spcPts val="100"/>
              </a:spcAft>
            </a:pPr>
            <a:r>
              <a:rPr sz="1150" b="1">
                <a:solidFill>
                  <a:srgbClr val="161B26"/>
                </a:solidFill>
                <a:latin typeface="Arial"/>
              </a:rPr>
              <a:t>Regulation NMS</a:t>
            </a:r>
          </a:p>
          <a:p>
            <a:pPr algn="ctr">
              <a:spcAft>
                <a:spcPts val="100"/>
              </a:spcAft>
            </a:pPr>
            <a:r>
              <a:rPr sz="950" b="0">
                <a:solidFill>
                  <a:srgbClr val="5B6372"/>
                </a:solidFill>
                <a:latin typeface="Arial"/>
              </a:rPr>
              <a:t>SEC rule (in force 2007) links venues; fragmentation rewards speed and smart order routing</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2007</a:t>
            </a:r>
          </a:p>
          <a:p>
            <a:pPr algn="ctr">
              <a:spcAft>
                <a:spcPts val="100"/>
              </a:spcAft>
            </a:pPr>
            <a:r>
              <a:rPr sz="1150" b="1">
                <a:solidFill>
                  <a:srgbClr val="161B26"/>
                </a:solidFill>
                <a:latin typeface="Arial"/>
              </a:rPr>
              <a:t>The quant quake</a:t>
            </a:r>
          </a:p>
          <a:p>
            <a:pPr algn="ctr">
              <a:spcAft>
                <a:spcPts val="100"/>
              </a:spcAft>
            </a:pPr>
            <a:r>
              <a:rPr sz="950" b="0">
                <a:solidFill>
                  <a:srgbClr val="5B6372"/>
                </a:solidFill>
                <a:latin typeface="Arial"/>
              </a:rPr>
              <a:t>Week of 6 Aug: crowded quant market-neutral funds suffer sudden losses as positions unwind</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2010</a:t>
            </a:r>
          </a:p>
          <a:p>
            <a:pPr algn="ctr">
              <a:spcAft>
                <a:spcPts val="100"/>
              </a:spcAft>
            </a:pPr>
            <a:r>
              <a:rPr sz="1150" b="1">
                <a:solidFill>
                  <a:srgbClr val="161B26"/>
                </a:solidFill>
                <a:latin typeface="Arial"/>
              </a:rPr>
              <a:t>Flash Crash</a:t>
            </a:r>
          </a:p>
          <a:p>
            <a:pPr algn="ctr">
              <a:spcAft>
                <a:spcPts val="100"/>
              </a:spcAft>
            </a:pPr>
            <a:r>
              <a:rPr sz="950" b="0">
                <a:solidFill>
                  <a:srgbClr val="5B6372"/>
                </a:solidFill>
                <a:latin typeface="Arial"/>
              </a:rPr>
              <a:t>6 May: the Dow drops nearly 1,000 points in minutes after a large algorithmic sell order</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2010</a:t>
            </a:r>
          </a:p>
          <a:p>
            <a:pPr algn="ctr">
              <a:spcAft>
                <a:spcPts val="100"/>
              </a:spcAft>
            </a:pPr>
            <a:r>
              <a:rPr sz="1150" b="1">
                <a:solidFill>
                  <a:srgbClr val="161B26"/>
                </a:solidFill>
                <a:latin typeface="Arial"/>
              </a:rPr>
              <a:t>The speed race</a:t>
            </a:r>
          </a:p>
          <a:p>
            <a:pPr algn="ctr">
              <a:spcAft>
                <a:spcPts val="100"/>
              </a:spcAft>
            </a:pPr>
            <a:r>
              <a:rPr sz="950" b="0">
                <a:solidFill>
                  <a:srgbClr val="5B6372"/>
                </a:solidFill>
                <a:latin typeface="Arial"/>
              </a:rPr>
              <a:t>US$300m straight fibre New York-Chicago cuts about 3 ms; microwave links soon beat it</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2012</a:t>
            </a:r>
          </a:p>
          <a:p>
            <a:pPr algn="ctr">
              <a:spcAft>
                <a:spcPts val="100"/>
              </a:spcAft>
            </a:pPr>
            <a:r>
              <a:rPr sz="1150" b="1">
                <a:solidFill>
                  <a:srgbClr val="161B26"/>
                </a:solidFill>
                <a:latin typeface="Arial"/>
              </a:rPr>
              <a:t>Knight Capital</a:t>
            </a:r>
          </a:p>
          <a:p>
            <a:pPr algn="ctr">
              <a:spcAft>
                <a:spcPts val="100"/>
              </a:spcAft>
            </a:pPr>
            <a:r>
              <a:rPr sz="950" b="0">
                <a:solidFill>
                  <a:srgbClr val="5B6372"/>
                </a:solidFill>
                <a:latin typeface="Arial"/>
              </a:rPr>
              <a:t>A faulty deployment sends millions of orders in 45 minutes; Knight loses over US$460m</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2016</a:t>
            </a:r>
          </a:p>
          <a:p>
            <a:pPr algn="ctr">
              <a:spcAft>
                <a:spcPts val="100"/>
              </a:spcAft>
            </a:pPr>
            <a:r>
              <a:rPr sz="1150" b="1">
                <a:solidFill>
                  <a:srgbClr val="161B26"/>
                </a:solidFill>
                <a:latin typeface="Arial"/>
              </a:rPr>
              <a:t>IEX speed bump</a:t>
            </a:r>
          </a:p>
          <a:p>
            <a:pPr algn="ctr">
              <a:spcAft>
                <a:spcPts val="100"/>
              </a:spcAft>
            </a:pPr>
            <a:r>
              <a:rPr sz="950" b="0">
                <a:solidFill>
                  <a:srgbClr val="5B6372"/>
                </a:solidFill>
                <a:latin typeface="Arial"/>
              </a:rPr>
              <a:t>SEC approves IEX as an exchange with a 350-microsecond delay against latency arbitrage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(4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2018</a:t>
            </a:r>
          </a:p>
          <a:p>
            <a:pPr algn="ctr">
              <a:spcAft>
                <a:spcPts val="100"/>
              </a:spcAft>
            </a:pPr>
            <a:r>
              <a:rPr sz="1150" b="1">
                <a:solidFill>
                  <a:srgbClr val="161B26"/>
                </a:solidFill>
                <a:latin typeface="Arial"/>
              </a:rPr>
              <a:t>MiFID II</a:t>
            </a:r>
          </a:p>
          <a:p>
            <a:pPr algn="ctr">
              <a:spcAft>
                <a:spcPts val="100"/>
              </a:spcAft>
            </a:pPr>
            <a:r>
              <a:rPr sz="950" b="0">
                <a:solidFill>
                  <a:srgbClr val="5B6372"/>
                </a:solidFill>
                <a:latin typeface="Arial"/>
              </a:rPr>
              <a:t>EU requires algorithm testing, kill switches and records; HFT formally defined</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2018</a:t>
            </a:r>
          </a:p>
          <a:p>
            <a:pPr algn="ctr">
              <a:spcAft>
                <a:spcPts val="100"/>
              </a:spcAft>
            </a:pPr>
            <a:r>
              <a:rPr sz="1150" b="1">
                <a:solidFill>
                  <a:srgbClr val="161B26"/>
                </a:solidFill>
                <a:latin typeface="Arial"/>
              </a:rPr>
              <a:t>API-first brokers</a:t>
            </a:r>
          </a:p>
          <a:p>
            <a:pPr algn="ctr">
              <a:spcAft>
                <a:spcPts val="100"/>
              </a:spcAft>
            </a:pPr>
            <a:r>
              <a:rPr sz="950" b="0">
                <a:solidFill>
                  <a:srgbClr val="5B6372"/>
                </a:solidFill>
                <a:latin typeface="Arial"/>
              </a:rPr>
              <a:t>Alpaca's commission-free trading API opens algorithmic stock trading to individuals</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2020</a:t>
            </a:r>
          </a:p>
          <a:p>
            <a:pPr algn="ctr">
              <a:spcAft>
                <a:spcPts val="100"/>
              </a:spcAft>
            </a:pPr>
            <a:r>
              <a:rPr sz="1150" b="1">
                <a:solidFill>
                  <a:srgbClr val="161B26"/>
                </a:solidFill>
                <a:latin typeface="Arial"/>
              </a:rPr>
              <a:t>SGX RegCo algo guide</a:t>
            </a:r>
          </a:p>
          <a:p>
            <a:pPr algn="ctr">
              <a:spcAft>
                <a:spcPts val="100"/>
              </a:spcAft>
            </a:pPr>
            <a:r>
              <a:rPr sz="950" b="0">
                <a:solidFill>
                  <a:srgbClr val="5B6372"/>
                </a:solidFill>
                <a:latin typeface="Arial"/>
              </a:rPr>
              <a:t>Sets expectations for governance, risk controls and testing of algorithms by SGX members</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2023</a:t>
            </a:r>
          </a:p>
          <a:p>
            <a:pPr algn="ctr">
              <a:spcAft>
                <a:spcPts val="100"/>
              </a:spcAft>
            </a:pPr>
            <a:r>
              <a:rPr sz="1150" b="1">
                <a:solidFill>
                  <a:srgbClr val="161B26"/>
                </a:solidFill>
                <a:latin typeface="Arial"/>
              </a:rPr>
              <a:t>LLM trading signals</a:t>
            </a:r>
          </a:p>
          <a:p>
            <a:pPr algn="ctr">
              <a:spcAft>
                <a:spcPts val="100"/>
              </a:spcAft>
            </a:pPr>
            <a:r>
              <a:rPr sz="950" b="0">
                <a:solidFill>
                  <a:srgbClr val="5B6372"/>
                </a:solidFill>
                <a:latin typeface="Arial"/>
              </a:rPr>
              <a:t>ChatGPT headline sentiment predicts next-day stock returns (Lopez-Lira and Tang)</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2024</a:t>
            </a:r>
          </a:p>
          <a:p>
            <a:pPr algn="ctr">
              <a:spcAft>
                <a:spcPts val="100"/>
              </a:spcAft>
            </a:pPr>
            <a:r>
              <a:rPr sz="1150" b="1">
                <a:solidFill>
                  <a:srgbClr val="161B26"/>
                </a:solidFill>
                <a:latin typeface="Arial"/>
              </a:rPr>
              <a:t>Multi-agent LLM trading</a:t>
            </a:r>
          </a:p>
          <a:p>
            <a:pPr algn="ctr">
              <a:spcAft>
                <a:spcPts val="100"/>
              </a:spcAft>
            </a:pPr>
            <a:r>
              <a:rPr sz="950" b="0">
                <a:solidFill>
                  <a:srgbClr val="5B6372"/>
                </a:solidFill>
                <a:latin typeface="Arial"/>
              </a:rPr>
              <a:t>TradingAgents (Dec 2024): analyst, debate, trader and risk agents trade stocks</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2026</a:t>
            </a:r>
          </a:p>
          <a:p>
            <a:pPr algn="ctr">
              <a:spcAft>
                <a:spcPts val="100"/>
              </a:spcAft>
            </a:pPr>
            <a:r>
              <a:rPr sz="1150" b="1">
                <a:solidFill>
                  <a:srgbClr val="161B26"/>
                </a:solidFill>
                <a:latin typeface="Arial"/>
              </a:rPr>
              <a:t>MAS AI Risk Management</a:t>
            </a:r>
          </a:p>
          <a:p>
            <a:pPr algn="ctr">
              <a:spcAft>
                <a:spcPts val="100"/>
              </a:spcAft>
            </a:pPr>
            <a:r>
              <a:rPr sz="950" b="0">
                <a:solidFill>
                  <a:srgbClr val="5B6372"/>
                </a:solidFill>
                <a:latin typeface="Arial"/>
              </a:rPr>
              <a:t>Guidelines issued 7 Oct 2026, effective 7 Oct 2027: AI inventories and lifecycle controls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PARADIGM SHIFTS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Six Paradigm Shifts in Quant and Algorithmic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intuition to probability  ·  1950s-1970s</a:t>
            </a:r>
          </a:p>
          <a:p>
            <a:pPr algn="l">
              <a:spcAft>
                <a:spcPts val="300"/>
              </a:spcAft>
            </a:pPr>
            <a:r>
              <a:rPr sz="950" b="0">
                <a:solidFill>
                  <a:srgbClr val="5B6372"/>
                </a:solidFill>
                <a:latin typeface="Arial"/>
              </a:rPr>
              <a:t>Markowitz, Thorp and Black-Scholes make risk, hedging and option value mathematical</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stocks to factors  ·  1970s-1980s</a:t>
            </a:r>
          </a:p>
          <a:p>
            <a:pPr algn="l">
              <a:spcAft>
                <a:spcPts val="300"/>
              </a:spcAft>
            </a:pPr>
            <a:r>
              <a:rPr sz="950" b="0">
                <a:solidFill>
                  <a:srgbClr val="5B6372"/>
                </a:solidFill>
                <a:latin typeface="Arial"/>
              </a:rPr>
              <a:t>Barra factor models and program trading treat portfolios as baskets of risk exposures</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factors to statistical arbitrage  ·  1980s-2000s</a:t>
            </a:r>
          </a:p>
          <a:p>
            <a:pPr algn="l">
              <a:spcAft>
                <a:spcPts val="300"/>
              </a:spcAft>
            </a:pPr>
            <a:r>
              <a:rPr sz="950" b="0">
                <a:solidFill>
                  <a:srgbClr val="5B6372"/>
                </a:solidFill>
                <a:latin typeface="Arial"/>
              </a:rPr>
              <a:t>Morgan Stanley's pairs group, D.E. Shaw and Renaissance harvest many small market-neutral edges</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floors to electronic speed  ·  1996-2010s</a:t>
            </a:r>
          </a:p>
          <a:p>
            <a:pPr algn="l">
              <a:spcAft>
                <a:spcPts val="300"/>
              </a:spcAft>
            </a:pPr>
            <a:r>
              <a:rPr sz="950" b="0">
                <a:solidFill>
                  <a:srgbClr val="5B6372"/>
                </a:solidFill>
                <a:latin typeface="Arial"/>
              </a:rPr>
              <a:t>ECNs, decimalisation and Reg NMS enable HFT: co-location, microwave links, microseconds</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statistics to machine learning  ·  2000s-2010s</a:t>
            </a:r>
          </a:p>
          <a:p>
            <a:pPr algn="l">
              <a:spcAft>
                <a:spcPts val="300"/>
              </a:spcAft>
            </a:pPr>
            <a:r>
              <a:rPr sz="950" b="0">
                <a:solidFill>
                  <a:srgbClr val="5B6372"/>
                </a:solidFill>
                <a:latin typeface="Arial"/>
              </a:rPr>
              <a:t>Models learn non-linear patterns from prices, order books and alternative data</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writing code to directing AI  ·  2023-present</a:t>
            </a:r>
          </a:p>
          <a:p>
            <a:pPr algn="l">
              <a:spcAft>
                <a:spcPts val="300"/>
              </a:spcAft>
            </a:pPr>
            <a:r>
              <a:rPr sz="950" b="0">
                <a:solidFill>
                  <a:srgbClr val="5B6372"/>
                </a:solidFill>
                <a:latin typeface="Arial"/>
              </a:rPr>
              <a:t>AI writes and runs the code; quants own the big concepts - hypothesis, algorithm logic, testing, risk</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Algorithms - and What Can Go Wrong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10235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10235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4645152" cy="365760"/>
          </a:xfrm>
          <a:prstGeom prst="rect">
            <a:avLst/>
          </a:prstGeom>
          <a:noFill/>
        </p:spPr>
        <p:txBody>
          <a:bodyPr wrap="square" anchor="t">
            <a:spAutoFit/>
          </a:bodyPr>
          <a:lstStyle/>
          <a:p>
            <a:pPr algn="l">
              <a:spcAft>
                <a:spcPts val="400"/>
              </a:spcAft>
            </a:pPr>
            <a:r>
              <a:rPr sz="1500" b="1">
                <a:solidFill>
                  <a:srgbClr val="1F6FEB"/>
                </a:solidFill>
                <a:latin typeface="Arial"/>
              </a:rPr>
              <a:t>Benefits</a:t>
            </a:r>
          </a:p>
        </p:txBody>
      </p:sp>
      <p:sp>
        <p:nvSpPr>
          <p:cNvPr id="10" name="TextBox 9"/>
          <p:cNvSpPr txBox="1"/>
          <p:nvPr/>
        </p:nvSpPr>
        <p:spPr>
          <a:xfrm>
            <a:off x="1005840" y="2514600"/>
            <a:ext cx="4645152" cy="3291840"/>
          </a:xfrm>
          <a:prstGeom prst="rect">
            <a:avLst/>
          </a:prstGeom>
          <a:noFill/>
        </p:spPr>
        <p:txBody>
          <a:bodyPr wrap="square">
            <a:spAutoFit/>
          </a:bodyPr>
          <a:lstStyle/>
          <a:p>
            <a:pPr>
              <a:spcAft>
                <a:spcPts val="800"/>
              </a:spcAft>
            </a:pPr>
            <a:r>
              <a:rPr sz="1250">
                <a:solidFill>
                  <a:srgbClr val="161B26"/>
                </a:solidFill>
                <a:latin typeface="Arial"/>
              </a:rPr>
              <a:t>•  Speed: reacts and executes in milliseconds</a:t>
            </a:r>
          </a:p>
          <a:p>
            <a:pPr>
              <a:spcAft>
                <a:spcPts val="800"/>
              </a:spcAft>
            </a:pPr>
            <a:r>
              <a:rPr sz="1250">
                <a:solidFill>
                  <a:srgbClr val="161B26"/>
                </a:solidFill>
                <a:latin typeface="Arial"/>
              </a:rPr>
              <a:t>•  Discipline: rules remove fear, greed and fatigue</a:t>
            </a:r>
          </a:p>
          <a:p>
            <a:pPr>
              <a:spcAft>
                <a:spcPts val="800"/>
              </a:spcAft>
            </a:pPr>
            <a:r>
              <a:rPr sz="1250">
                <a:solidFill>
                  <a:srgbClr val="161B26"/>
                </a:solidFill>
                <a:latin typeface="Arial"/>
              </a:rPr>
              <a:t>•  Backtesting: test ideas on historical data first</a:t>
            </a:r>
          </a:p>
          <a:p>
            <a:pPr>
              <a:spcAft>
                <a:spcPts val="800"/>
              </a:spcAft>
            </a:pPr>
            <a:r>
              <a:rPr sz="1250">
                <a:solidFill>
                  <a:srgbClr val="161B26"/>
                </a:solidFill>
                <a:latin typeface="Arial"/>
              </a:rPr>
              <a:t>•  Lower costs: split large orders to reduce market impact</a:t>
            </a:r>
          </a:p>
          <a:p>
            <a:pPr>
              <a:spcAft>
                <a:spcPts val="800"/>
              </a:spcAft>
            </a:pPr>
            <a:r>
              <a:rPr sz="1250">
                <a:solidFill>
                  <a:srgbClr val="161B26"/>
                </a:solidFill>
                <a:latin typeface="Arial"/>
              </a:rPr>
              <a:t>•  Scale: monitors many markets and assets around the clock</a:t>
            </a:r>
          </a:p>
        </p:txBody>
      </p:sp>
      <p:sp>
        <p:nvSpPr>
          <p:cNvPr id="11" name="Rectangle 10"/>
          <p:cNvSpPr/>
          <p:nvPr/>
        </p:nvSpPr>
        <p:spPr>
          <a:xfrm>
            <a:off x="6309360" y="1828800"/>
            <a:ext cx="510235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828800"/>
            <a:ext cx="510235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2057400"/>
            <a:ext cx="4645152" cy="365760"/>
          </a:xfrm>
          <a:prstGeom prst="rect">
            <a:avLst/>
          </a:prstGeom>
          <a:noFill/>
        </p:spPr>
        <p:txBody>
          <a:bodyPr wrap="square" anchor="t">
            <a:spAutoFit/>
          </a:bodyPr>
          <a:lstStyle/>
          <a:p>
            <a:pPr algn="l">
              <a:spcAft>
                <a:spcPts val="400"/>
              </a:spcAft>
            </a:pPr>
            <a:r>
              <a:rPr sz="1500" b="1">
                <a:solidFill>
                  <a:srgbClr val="10B981"/>
                </a:solidFill>
                <a:latin typeface="Arial"/>
              </a:rPr>
              <a:t>Risks</a:t>
            </a:r>
          </a:p>
        </p:txBody>
      </p:sp>
      <p:sp>
        <p:nvSpPr>
          <p:cNvPr id="14" name="TextBox 13"/>
          <p:cNvSpPr txBox="1"/>
          <p:nvPr/>
        </p:nvSpPr>
        <p:spPr>
          <a:xfrm>
            <a:off x="6537960" y="2514600"/>
            <a:ext cx="4645152" cy="3291840"/>
          </a:xfrm>
          <a:prstGeom prst="rect">
            <a:avLst/>
          </a:prstGeom>
          <a:noFill/>
        </p:spPr>
        <p:txBody>
          <a:bodyPr wrap="square">
            <a:spAutoFit/>
          </a:bodyPr>
          <a:lstStyle/>
          <a:p>
            <a:pPr>
              <a:spcAft>
                <a:spcPts val="800"/>
              </a:spcAft>
            </a:pPr>
            <a:r>
              <a:rPr sz="1250">
                <a:solidFill>
                  <a:srgbClr val="161B26"/>
                </a:solidFill>
                <a:latin typeface="Arial"/>
              </a:rPr>
              <a:t>•  Technical failure: bugs and outages (Knight Capital, 2012)</a:t>
            </a:r>
          </a:p>
          <a:p>
            <a:pPr>
              <a:spcAft>
                <a:spcPts val="800"/>
              </a:spcAft>
            </a:pPr>
            <a:r>
              <a:rPr sz="1250">
                <a:solidFill>
                  <a:srgbClr val="161B26"/>
                </a:solidFill>
                <a:latin typeface="Arial"/>
              </a:rPr>
              <a:t>•  Overfitting: great backtests that fail on live data</a:t>
            </a:r>
          </a:p>
          <a:p>
            <a:pPr>
              <a:spcAft>
                <a:spcPts val="800"/>
              </a:spcAft>
            </a:pPr>
            <a:r>
              <a:rPr sz="1250">
                <a:solidFill>
                  <a:srgbClr val="161B26"/>
                </a:solidFill>
                <a:latin typeface="Arial"/>
              </a:rPr>
              <a:t>•  Black swans and regime change the model has never seen</a:t>
            </a:r>
          </a:p>
          <a:p>
            <a:pPr>
              <a:spcAft>
                <a:spcPts val="800"/>
              </a:spcAft>
            </a:pPr>
            <a:r>
              <a:rPr sz="1250">
                <a:solidFill>
                  <a:srgbClr val="161B26"/>
                </a:solidFill>
                <a:latin typeface="Arial"/>
              </a:rPr>
              <a:t>•  Feedback loops between algorithms (2010 Flash Crash)</a:t>
            </a:r>
          </a:p>
          <a:p>
            <a:pPr>
              <a:spcAft>
                <a:spcPts val="800"/>
              </a:spcAft>
            </a:pPr>
            <a:r>
              <a:rPr sz="1250">
                <a:solidFill>
                  <a:srgbClr val="161B26"/>
                </a:solidFill>
                <a:latin typeface="Arial"/>
              </a:rPr>
              <a:t>•  Set-up, data and compliance costs; no guaranteed profit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Eras of AI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Symbolic AI  ·  1956-1980s</a:t>
            </a:r>
          </a:p>
          <a:p>
            <a:pPr algn="l">
              <a:spcAft>
                <a:spcPts val="300"/>
              </a:spcAft>
            </a:pPr>
            <a:r>
              <a:rPr sz="1000" b="0">
                <a:solidFill>
                  <a:srgbClr val="5B6372"/>
                </a:solidFill>
                <a:latin typeface="Arial"/>
              </a:rPr>
              <a:t>Hand-written rules: expert systems and rule-based program trading; brittle when markets change</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Machine learning  ·  1990s-2000s</a:t>
            </a:r>
          </a:p>
          <a:p>
            <a:pPr algn="l">
              <a:spcAft>
                <a:spcPts val="300"/>
              </a:spcAft>
            </a:pPr>
            <a:r>
              <a:rPr sz="1000" b="0">
                <a:solidFill>
                  <a:srgbClr val="5B6372"/>
                </a:solidFill>
                <a:latin typeface="Arial"/>
              </a:rPr>
              <a:t>Models learn from data: regression, tree and boosting signals; statistical arbitrage at scale</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Deep learning  ·  2012-2017</a:t>
            </a:r>
          </a:p>
          <a:p>
            <a:pPr algn="l">
              <a:spcAft>
                <a:spcPts val="300"/>
              </a:spcAft>
            </a:pPr>
            <a:r>
              <a:rPr sz="1000" b="0">
                <a:solidFill>
                  <a:srgbClr val="5B6372"/>
                </a:solidFill>
                <a:latin typeface="Arial"/>
              </a:rPr>
              <a:t>Many-layer networks on GPUs find non-linear patterns in prices, order books and alternative data</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Generative AI  ·  2017-2023</a:t>
            </a:r>
          </a:p>
          <a:p>
            <a:pPr algn="l">
              <a:spcAft>
                <a:spcPts val="300"/>
              </a:spcAft>
            </a:pPr>
            <a:r>
              <a:rPr sz="1000" b="0">
                <a:solidFill>
                  <a:srgbClr val="5B6372"/>
                </a:solidFill>
                <a:latin typeface="Arial"/>
              </a:rPr>
              <a:t>Transformers and LLMs turn news, filings and earnings calls into trading signals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Agentic AI  ·  2024-present</a:t>
            </a:r>
          </a:p>
          <a:p>
            <a:pPr algn="l">
              <a:spcAft>
                <a:spcPts val="300"/>
              </a:spcAft>
            </a:pPr>
            <a:r>
              <a:rPr sz="1000" b="0">
                <a:solidFill>
                  <a:srgbClr val="5B6372"/>
                </a:solidFill>
                <a:latin typeface="Arial"/>
              </a:rPr>
              <a:t>LLM agents research, code, backtest and paper-trade strategies under hard risk limits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AI Milestones and Their Trading Counterparts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1950</a:t>
            </a:r>
          </a:p>
          <a:p>
            <a:pPr algn="ctr">
              <a:spcAft>
                <a:spcPts val="100"/>
              </a:spcAft>
            </a:pPr>
            <a:r>
              <a:rPr sz="1150" b="1">
                <a:solidFill>
                  <a:srgbClr val="161B26"/>
                </a:solidFill>
                <a:latin typeface="Arial"/>
              </a:rPr>
              <a:t>Turing Test</a:t>
            </a:r>
          </a:p>
          <a:p>
            <a:pPr algn="ctr">
              <a:spcAft>
                <a:spcPts val="100"/>
              </a:spcAft>
            </a:pPr>
            <a:r>
              <a:rPr sz="950" b="0">
                <a:solidFill>
                  <a:srgbClr val="5B6372"/>
                </a:solidFill>
                <a:latin typeface="Arial"/>
              </a:rPr>
              <a:t>Turing asks if machines can think; in 1952 Markowitz turns portfolio choice into maths</a:t>
            </a:r>
          </a:p>
        </p:txBody>
      </p:sp>
      <p:sp>
        <p:nvSpPr>
          <p:cNvPr id="14" name="Oval 13"/>
          <p:cNvSpPr/>
          <p:nvPr/>
        </p:nvSpPr>
        <p:spPr>
          <a:xfrm>
            <a:off x="249174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329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3619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1956</a:t>
            </a:r>
          </a:p>
          <a:p>
            <a:pPr algn="ctr">
              <a:spcAft>
                <a:spcPts val="100"/>
              </a:spcAft>
            </a:pPr>
            <a:r>
              <a:rPr sz="1150" b="1">
                <a:solidFill>
                  <a:srgbClr val="161B26"/>
                </a:solidFill>
                <a:latin typeface="Arial"/>
              </a:rPr>
              <a:t>'AI' is named</a:t>
            </a:r>
          </a:p>
          <a:p>
            <a:pPr algn="ctr">
              <a:spcAft>
                <a:spcPts val="100"/>
              </a:spcAft>
            </a:pPr>
            <a:r>
              <a:rPr sz="950" b="0">
                <a:solidFill>
                  <a:srgbClr val="5B6372"/>
                </a:solidFill>
                <a:latin typeface="Arial"/>
              </a:rPr>
              <a:t>AI becomes a field; Ed Thorp soon applies computers and probability to blackjack, then markets</a:t>
            </a:r>
          </a:p>
        </p:txBody>
      </p:sp>
      <p:sp>
        <p:nvSpPr>
          <p:cNvPr id="17" name="Oval 16"/>
          <p:cNvSpPr/>
          <p:nvPr/>
        </p:nvSpPr>
        <p:spPr>
          <a:xfrm>
            <a:off x="4233672"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5228"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8124"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1980s</a:t>
            </a:r>
          </a:p>
          <a:p>
            <a:pPr algn="ctr">
              <a:spcAft>
                <a:spcPts val="100"/>
              </a:spcAft>
            </a:pPr>
            <a:r>
              <a:rPr sz="1150" b="1">
                <a:solidFill>
                  <a:srgbClr val="161B26"/>
                </a:solidFill>
                <a:latin typeface="Arial"/>
              </a:rPr>
              <a:t>Expert systems</a:t>
            </a:r>
          </a:p>
          <a:p>
            <a:pPr algn="ctr">
              <a:spcAft>
                <a:spcPts val="100"/>
              </a:spcAft>
            </a:pPr>
            <a:r>
              <a:rPr sz="950" b="0">
                <a:solidFill>
                  <a:srgbClr val="5B6372"/>
                </a:solidFill>
                <a:latin typeface="Arial"/>
              </a:rPr>
              <a:t>Hand-written if-then rules - the same logic as the rule-based program trading of the 1980s</a:t>
            </a:r>
          </a:p>
        </p:txBody>
      </p:sp>
      <p:sp>
        <p:nvSpPr>
          <p:cNvPr id="20" name="Oval 19"/>
          <p:cNvSpPr/>
          <p:nvPr/>
        </p:nvSpPr>
        <p:spPr>
          <a:xfrm>
            <a:off x="5975604"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716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0056"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1986</a:t>
            </a:r>
          </a:p>
          <a:p>
            <a:pPr algn="ctr">
              <a:spcAft>
                <a:spcPts val="100"/>
              </a:spcAft>
            </a:pPr>
            <a:r>
              <a:rPr sz="1150" b="1">
                <a:solidFill>
                  <a:srgbClr val="161B26"/>
                </a:solidFill>
                <a:latin typeface="Arial"/>
              </a:rPr>
              <a:t>Backpropagation</a:t>
            </a:r>
          </a:p>
          <a:p>
            <a:pPr algn="ctr">
              <a:spcAft>
                <a:spcPts val="100"/>
              </a:spcAft>
            </a:pPr>
            <a:r>
              <a:rPr sz="950" b="0">
                <a:solidFill>
                  <a:srgbClr val="5B6372"/>
                </a:solidFill>
                <a:latin typeface="Arial"/>
              </a:rPr>
              <a:t>Multi-layer neural networks become trainable - the ancestor of today's price-prediction nets</a:t>
            </a:r>
          </a:p>
        </p:txBody>
      </p:sp>
      <p:sp>
        <p:nvSpPr>
          <p:cNvPr id="23" name="Oval 22"/>
          <p:cNvSpPr/>
          <p:nvPr/>
        </p:nvSpPr>
        <p:spPr>
          <a:xfrm>
            <a:off x="7717536"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29092"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1988"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1988</a:t>
            </a:r>
          </a:p>
          <a:p>
            <a:pPr algn="ctr">
              <a:spcAft>
                <a:spcPts val="100"/>
              </a:spcAft>
            </a:pPr>
            <a:r>
              <a:rPr sz="1150" b="1">
                <a:solidFill>
                  <a:srgbClr val="161B26"/>
                </a:solidFill>
                <a:latin typeface="Arial"/>
              </a:rPr>
              <a:t>Models trade markets</a:t>
            </a:r>
          </a:p>
          <a:p>
            <a:pPr algn="ctr">
              <a:spcAft>
                <a:spcPts val="100"/>
              </a:spcAft>
            </a:pPr>
            <a:r>
              <a:rPr sz="950" b="0">
                <a:solidFill>
                  <a:srgbClr val="5B6372"/>
                </a:solidFill>
                <a:latin typeface="Arial"/>
              </a:rPr>
              <a:t>Renaissance's Medallion fund launches, trading purely on mathematical models of market data</a:t>
            </a:r>
          </a:p>
        </p:txBody>
      </p:sp>
      <p:sp>
        <p:nvSpPr>
          <p:cNvPr id="26" name="Oval 25"/>
          <p:cNvSpPr/>
          <p:nvPr/>
        </p:nvSpPr>
        <p:spPr>
          <a:xfrm>
            <a:off x="9459468"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71024"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1997</a:t>
            </a:r>
          </a:p>
          <a:p>
            <a:pPr algn="ctr">
              <a:spcAft>
                <a:spcPts val="100"/>
              </a:spcAft>
            </a:pPr>
            <a:r>
              <a:rPr sz="1150" b="1">
                <a:solidFill>
                  <a:srgbClr val="161B26"/>
                </a:solidFill>
                <a:latin typeface="Arial"/>
              </a:rPr>
              <a:t>Deep Blue</a:t>
            </a:r>
          </a:p>
          <a:p>
            <a:pPr algn="ctr">
              <a:spcAft>
                <a:spcPts val="100"/>
              </a:spcAft>
            </a:pPr>
            <a:r>
              <a:rPr sz="950" b="0">
                <a:solidFill>
                  <a:srgbClr val="5B6372"/>
                </a:solidFill>
                <a:latin typeface="Arial"/>
              </a:rPr>
              <a:t>IBM beats Kasparov at chess; computer-driven quant firms such as D.E. Shaw are already trading</a:t>
            </a:r>
          </a:p>
        </p:txBody>
      </p:sp>
      <p:sp>
        <p:nvSpPr>
          <p:cNvPr id="29" name="Oval 28"/>
          <p:cNvSpPr/>
          <p:nvPr/>
        </p:nvSpPr>
        <p:spPr>
          <a:xfrm>
            <a:off x="11201400"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312956"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2012</a:t>
            </a:r>
          </a:p>
          <a:p>
            <a:pPr algn="ctr">
              <a:spcAft>
                <a:spcPts val="100"/>
              </a:spcAft>
            </a:pPr>
            <a:r>
              <a:rPr sz="1150" b="1">
                <a:solidFill>
                  <a:srgbClr val="161B26"/>
                </a:solidFill>
                <a:latin typeface="Arial"/>
              </a:rPr>
              <a:t>Deep learning</a:t>
            </a:r>
          </a:p>
          <a:p>
            <a:pPr algn="ctr">
              <a:spcAft>
                <a:spcPts val="100"/>
              </a:spcAft>
            </a:pPr>
            <a:r>
              <a:rPr sz="950" b="0">
                <a:solidFill>
                  <a:srgbClr val="5B6372"/>
                </a:solidFill>
                <a:latin typeface="Arial"/>
              </a:rPr>
              <a:t>GPU-trained deep networks win ImageNet; deep learning becomes a new tool for market data</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AI Milestones and Their Trading Counterparts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2016</a:t>
            </a:r>
          </a:p>
          <a:p>
            <a:pPr algn="ctr">
              <a:spcAft>
                <a:spcPts val="100"/>
              </a:spcAft>
            </a:pPr>
            <a:r>
              <a:rPr sz="1150" b="1">
                <a:solidFill>
                  <a:srgbClr val="161B26"/>
                </a:solidFill>
                <a:latin typeface="Arial"/>
              </a:rPr>
              <a:t>AlphaGo</a:t>
            </a:r>
          </a:p>
          <a:p>
            <a:pPr algn="ctr">
              <a:spcAft>
                <a:spcPts val="100"/>
              </a:spcAft>
            </a:pPr>
            <a:r>
              <a:rPr sz="950" b="0">
                <a:solidFill>
                  <a:srgbClr val="5B6372"/>
                </a:solidFill>
                <a:latin typeface="Arial"/>
              </a:rPr>
              <a:t>Deep reinforcement learning wins at Go; RL is researched for order execution and portfolios</a:t>
            </a:r>
          </a:p>
        </p:txBody>
      </p:sp>
      <p:sp>
        <p:nvSpPr>
          <p:cNvPr id="14" name="Oval 13"/>
          <p:cNvSpPr/>
          <p:nvPr/>
        </p:nvSpPr>
        <p:spPr>
          <a:xfrm>
            <a:off x="249174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329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3619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2017</a:t>
            </a:r>
          </a:p>
          <a:p>
            <a:pPr algn="ctr">
              <a:spcAft>
                <a:spcPts val="100"/>
              </a:spcAft>
            </a:pPr>
            <a:r>
              <a:rPr sz="1150" b="1">
                <a:solidFill>
                  <a:srgbClr val="161B26"/>
                </a:solidFill>
                <a:latin typeface="Arial"/>
              </a:rPr>
              <a:t>Transformer</a:t>
            </a:r>
          </a:p>
          <a:p>
            <a:pPr algn="ctr">
              <a:spcAft>
                <a:spcPts val="100"/>
              </a:spcAft>
            </a:pPr>
            <a:r>
              <a:rPr sz="950" b="0">
                <a:solidFill>
                  <a:srgbClr val="5B6372"/>
                </a:solidFill>
                <a:latin typeface="Arial"/>
              </a:rPr>
              <a:t>The architecture behind every LLM - later used to read news and filings for trading signals</a:t>
            </a:r>
          </a:p>
        </p:txBody>
      </p:sp>
      <p:sp>
        <p:nvSpPr>
          <p:cNvPr id="17" name="Oval 16"/>
          <p:cNvSpPr/>
          <p:nvPr/>
        </p:nvSpPr>
        <p:spPr>
          <a:xfrm>
            <a:off x="4233672"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5228"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8124"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2023</a:t>
            </a:r>
          </a:p>
          <a:p>
            <a:pPr algn="ctr">
              <a:spcAft>
                <a:spcPts val="100"/>
              </a:spcAft>
            </a:pPr>
            <a:r>
              <a:rPr sz="1150" b="1">
                <a:solidFill>
                  <a:srgbClr val="161B26"/>
                </a:solidFill>
                <a:latin typeface="Arial"/>
              </a:rPr>
              <a:t>LLMs meet markets</a:t>
            </a:r>
          </a:p>
          <a:p>
            <a:pPr algn="ctr">
              <a:spcAft>
                <a:spcPts val="100"/>
              </a:spcAft>
            </a:pPr>
            <a:r>
              <a:rPr sz="950" b="0">
                <a:solidFill>
                  <a:srgbClr val="5B6372"/>
                </a:solidFill>
                <a:latin typeface="Arial"/>
              </a:rPr>
              <a:t>BloombergGPT (50bn parameters); ChatGPT headline sentiment predicts next-day stock returns</a:t>
            </a:r>
          </a:p>
        </p:txBody>
      </p:sp>
      <p:sp>
        <p:nvSpPr>
          <p:cNvPr id="20" name="Oval 19"/>
          <p:cNvSpPr/>
          <p:nvPr/>
        </p:nvSpPr>
        <p:spPr>
          <a:xfrm>
            <a:off x="5975604"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716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0056"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2024</a:t>
            </a:r>
          </a:p>
          <a:p>
            <a:pPr algn="ctr">
              <a:spcAft>
                <a:spcPts val="100"/>
              </a:spcAft>
            </a:pPr>
            <a:r>
              <a:rPr sz="1150" b="1">
                <a:solidFill>
                  <a:srgbClr val="161B26"/>
                </a:solidFill>
                <a:latin typeface="Arial"/>
              </a:rPr>
              <a:t>Multi-agent trading</a:t>
            </a:r>
          </a:p>
          <a:p>
            <a:pPr algn="ctr">
              <a:spcAft>
                <a:spcPts val="100"/>
              </a:spcAft>
            </a:pPr>
            <a:r>
              <a:rPr sz="950" b="0">
                <a:solidFill>
                  <a:srgbClr val="5B6372"/>
                </a:solidFill>
                <a:latin typeface="Arial"/>
              </a:rPr>
              <a:t>TradingAgents models a trading firm: analyst, bull/bear debate, trader and risk agents</a:t>
            </a:r>
          </a:p>
        </p:txBody>
      </p:sp>
      <p:sp>
        <p:nvSpPr>
          <p:cNvPr id="23" name="Oval 22"/>
          <p:cNvSpPr/>
          <p:nvPr/>
        </p:nvSpPr>
        <p:spPr>
          <a:xfrm>
            <a:off x="7717536"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29092"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1988"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2025</a:t>
            </a:r>
          </a:p>
          <a:p>
            <a:pPr algn="ctr">
              <a:spcAft>
                <a:spcPts val="100"/>
              </a:spcAft>
            </a:pPr>
            <a:r>
              <a:rPr sz="1150" b="1">
                <a:solidFill>
                  <a:srgbClr val="161B26"/>
                </a:solidFill>
                <a:latin typeface="Arial"/>
              </a:rPr>
              <a:t>Agentic quant research</a:t>
            </a:r>
          </a:p>
          <a:p>
            <a:pPr algn="ctr">
              <a:spcAft>
                <a:spcPts val="100"/>
              </a:spcAft>
            </a:pPr>
            <a:r>
              <a:rPr sz="950" b="0">
                <a:solidFill>
                  <a:srgbClr val="5B6372"/>
                </a:solidFill>
                <a:latin typeface="Arial"/>
              </a:rPr>
              <a:t>LLM agents mine formulaic alphas and write backtests (e.g. Alpha-GPT, AlphaAgent)</a:t>
            </a:r>
          </a:p>
        </p:txBody>
      </p:sp>
      <p:sp>
        <p:nvSpPr>
          <p:cNvPr id="26" name="Oval 25"/>
          <p:cNvSpPr/>
          <p:nvPr/>
        </p:nvSpPr>
        <p:spPr>
          <a:xfrm>
            <a:off x="9459468"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71024"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2026</a:t>
            </a:r>
          </a:p>
          <a:p>
            <a:pPr algn="ctr">
              <a:spcAft>
                <a:spcPts val="100"/>
              </a:spcAft>
            </a:pPr>
            <a:r>
              <a:rPr sz="1150" b="1">
                <a:solidFill>
                  <a:srgbClr val="161B26"/>
                </a:solidFill>
                <a:latin typeface="Arial"/>
              </a:rPr>
              <a:t>Always-on AI agents</a:t>
            </a:r>
          </a:p>
          <a:p>
            <a:pPr algn="ctr">
              <a:spcAft>
                <a:spcPts val="100"/>
              </a:spcAft>
            </a:pPr>
            <a:r>
              <a:rPr sz="950" b="0">
                <a:solidFill>
                  <a:srgbClr val="5B6372"/>
                </a:solidFill>
                <a:latin typeface="Arial"/>
              </a:rPr>
              <a:t>OpenClaw, Hermes Agent and OpenAI Dots stand by 24/7: agentic AI that keeps working</a:t>
            </a:r>
          </a:p>
        </p:txBody>
      </p:sp>
      <p:sp>
        <p:nvSpPr>
          <p:cNvPr id="29" name="Oval 28"/>
          <p:cNvSpPr/>
          <p:nvPr/>
        </p:nvSpPr>
        <p:spPr>
          <a:xfrm>
            <a:off x="11201400"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312956"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2026</a:t>
            </a:r>
          </a:p>
          <a:p>
            <a:pPr algn="ctr">
              <a:spcAft>
                <a:spcPts val="100"/>
              </a:spcAft>
            </a:pPr>
            <a:r>
              <a:rPr sz="1150" b="1">
                <a:solidFill>
                  <a:srgbClr val="161B26"/>
                </a:solidFill>
                <a:latin typeface="Arial"/>
              </a:rPr>
              <a:t>Governed AI</a:t>
            </a:r>
          </a:p>
          <a:p>
            <a:pPr algn="ctr">
              <a:spcAft>
                <a:spcPts val="100"/>
              </a:spcAft>
            </a:pPr>
            <a:r>
              <a:rPr sz="950" b="0">
                <a:solidFill>
                  <a:srgbClr val="5B6372"/>
                </a:solidFill>
                <a:latin typeface="Arial"/>
              </a:rPr>
              <a:t>MAS AI Risk Management Guidelines (7 Oct 2026) set lifecycle controls for AI in finance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ML TO LLM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Paradigm Shift: Machine-Learning Quant versus LLM-Era Quant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Machine-learning quant</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LLM-era quant</a:t>
            </a:r>
          </a:p>
        </p:txBody>
      </p:sp>
      <p:sp>
        <p:nvSpPr>
          <p:cNvPr id="14" name="Rectangle 13"/>
          <p:cNvSpPr/>
          <p:nvPr/>
        </p:nvSpPr>
        <p:spPr>
          <a:xfrm>
            <a:off x="777240" y="228600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Main data</a:t>
            </a:r>
          </a:p>
        </p:txBody>
      </p:sp>
      <p:sp>
        <p:nvSpPr>
          <p:cNvPr id="16" name="TextBox 15"/>
          <p:cNvSpPr txBox="1"/>
          <p:nvPr/>
        </p:nvSpPr>
        <p:spPr>
          <a:xfrm>
            <a:off x="3017520" y="228600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Structured: prices, volumes, fundamentals</a:t>
            </a:r>
          </a:p>
        </p:txBody>
      </p:sp>
      <p:sp>
        <p:nvSpPr>
          <p:cNvPr id="17" name="TextBox 16"/>
          <p:cNvSpPr txBox="1"/>
          <p:nvPr/>
        </p:nvSpPr>
        <p:spPr>
          <a:xfrm>
            <a:off x="7260336" y="228600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Adds unstructured text: news, filings, earnings calls, research</a:t>
            </a:r>
          </a:p>
        </p:txBody>
      </p:sp>
      <p:sp>
        <p:nvSpPr>
          <p:cNvPr id="18" name="TextBox 17"/>
          <p:cNvSpPr txBox="1"/>
          <p:nvPr/>
        </p:nvSpPr>
        <p:spPr>
          <a:xfrm>
            <a:off x="886968" y="278320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Features</a:t>
            </a:r>
          </a:p>
        </p:txBody>
      </p:sp>
      <p:sp>
        <p:nvSpPr>
          <p:cNvPr id="19" name="TextBox 18"/>
          <p:cNvSpPr txBox="1"/>
          <p:nvPr/>
        </p:nvSpPr>
        <p:spPr>
          <a:xfrm>
            <a:off x="3017520" y="278320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Hand-engineered by the quant (lags, RSI, factors)</a:t>
            </a:r>
          </a:p>
        </p:txBody>
      </p:sp>
      <p:sp>
        <p:nvSpPr>
          <p:cNvPr id="20" name="TextBox 19"/>
          <p:cNvSpPr txBox="1"/>
          <p:nvPr/>
        </p:nvSpPr>
        <p:spPr>
          <a:xfrm>
            <a:off x="7260336" y="278320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Text read directly; LLM scores sentiment and events</a:t>
            </a:r>
          </a:p>
        </p:txBody>
      </p:sp>
      <p:sp>
        <p:nvSpPr>
          <p:cNvPr id="21" name="Rectangle 20"/>
          <p:cNvSpPr/>
          <p:nvPr/>
        </p:nvSpPr>
        <p:spPr>
          <a:xfrm>
            <a:off x="777240" y="328041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28041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Model building</a:t>
            </a:r>
          </a:p>
        </p:txBody>
      </p:sp>
      <p:sp>
        <p:nvSpPr>
          <p:cNvPr id="23" name="TextBox 22"/>
          <p:cNvSpPr txBox="1"/>
          <p:nvPr/>
        </p:nvSpPr>
        <p:spPr>
          <a:xfrm>
            <a:off x="3017520" y="328041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Fit regressions, trees, boosting on labelled data</a:t>
            </a:r>
          </a:p>
        </p:txBody>
      </p:sp>
      <p:sp>
        <p:nvSpPr>
          <p:cNvPr id="24" name="TextBox 23"/>
          <p:cNvSpPr txBox="1"/>
          <p:nvPr/>
        </p:nvSpPr>
        <p:spPr>
          <a:xfrm>
            <a:off x="7260336" y="328041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Prompt or fine-tune pretrained LLMs; agents propose alphas</a:t>
            </a:r>
          </a:p>
        </p:txBody>
      </p:sp>
      <p:sp>
        <p:nvSpPr>
          <p:cNvPr id="25" name="TextBox 24"/>
          <p:cNvSpPr txBox="1"/>
          <p:nvPr/>
        </p:nvSpPr>
        <p:spPr>
          <a:xfrm>
            <a:off x="886968" y="377761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Who writes the code</a:t>
            </a:r>
          </a:p>
        </p:txBody>
      </p:sp>
      <p:sp>
        <p:nvSpPr>
          <p:cNvPr id="26" name="TextBox 25"/>
          <p:cNvSpPr txBox="1"/>
          <p:nvPr/>
        </p:nvSpPr>
        <p:spPr>
          <a:xfrm>
            <a:off x="3017520" y="377761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The quant, line by line</a:t>
            </a:r>
          </a:p>
        </p:txBody>
      </p:sp>
      <p:sp>
        <p:nvSpPr>
          <p:cNvPr id="27" name="TextBox 26"/>
          <p:cNvSpPr txBox="1"/>
          <p:nvPr/>
        </p:nvSpPr>
        <p:spPr>
          <a:xfrm>
            <a:off x="7260336" y="377761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AI writes it; the quant directs and reviews</a:t>
            </a:r>
          </a:p>
        </p:txBody>
      </p:sp>
      <p:sp>
        <p:nvSpPr>
          <p:cNvPr id="28" name="Rectangle 27"/>
          <p:cNvSpPr/>
          <p:nvPr/>
        </p:nvSpPr>
        <p:spPr>
          <a:xfrm>
            <a:off x="777240" y="427482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27482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Research workflow</a:t>
            </a:r>
          </a:p>
        </p:txBody>
      </p:sp>
      <p:sp>
        <p:nvSpPr>
          <p:cNvPr id="30" name="TextBox 29"/>
          <p:cNvSpPr txBox="1"/>
          <p:nvPr/>
        </p:nvSpPr>
        <p:spPr>
          <a:xfrm>
            <a:off x="3017520" y="427482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The quant writes every line of code</a:t>
            </a:r>
          </a:p>
        </p:txBody>
      </p:sp>
      <p:sp>
        <p:nvSpPr>
          <p:cNvPr id="31" name="TextBox 30"/>
          <p:cNvSpPr txBox="1"/>
          <p:nvPr/>
        </p:nvSpPr>
        <p:spPr>
          <a:xfrm>
            <a:off x="7260336" y="427482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Coding agents draft code and backtests; the quant reviews</a:t>
            </a:r>
          </a:p>
        </p:txBody>
      </p:sp>
      <p:sp>
        <p:nvSpPr>
          <p:cNvPr id="32" name="TextBox 31"/>
          <p:cNvSpPr txBox="1"/>
          <p:nvPr/>
        </p:nvSpPr>
        <p:spPr>
          <a:xfrm>
            <a:off x="886968" y="477202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Alpha decay</a:t>
            </a:r>
          </a:p>
        </p:txBody>
      </p:sp>
      <p:sp>
        <p:nvSpPr>
          <p:cNvPr id="33" name="TextBox 32"/>
          <p:cNvSpPr txBox="1"/>
          <p:nvPr/>
        </p:nvSpPr>
        <p:spPr>
          <a:xfrm>
            <a:off x="3017520" y="477202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Signals fade as more funds trade them</a:t>
            </a:r>
          </a:p>
        </p:txBody>
      </p:sp>
      <p:sp>
        <p:nvSpPr>
          <p:cNvPr id="34" name="TextBox 33"/>
          <p:cNvSpPr txBox="1"/>
          <p:nvPr/>
        </p:nvSpPr>
        <p:spPr>
          <a:xfrm>
            <a:off x="7260336" y="477202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signals fade too as LLM adoption rises</a:t>
            </a:r>
          </a:p>
        </p:txBody>
      </p:sp>
      <p:sp>
        <p:nvSpPr>
          <p:cNvPr id="35" name="Rectangle 34"/>
          <p:cNvSpPr/>
          <p:nvPr/>
        </p:nvSpPr>
        <p:spPr>
          <a:xfrm>
            <a:off x="777240" y="5269229"/>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269229"/>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New risks</a:t>
            </a:r>
          </a:p>
        </p:txBody>
      </p:sp>
      <p:sp>
        <p:nvSpPr>
          <p:cNvPr id="37" name="TextBox 36"/>
          <p:cNvSpPr txBox="1"/>
          <p:nvPr/>
        </p:nvSpPr>
        <p:spPr>
          <a:xfrm>
            <a:off x="3017520" y="5269229"/>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Overfitting; look-ahead in features</a:t>
            </a:r>
          </a:p>
        </p:txBody>
      </p:sp>
      <p:sp>
        <p:nvSpPr>
          <p:cNvPr id="38" name="TextBox 37"/>
          <p:cNvSpPr txBox="1"/>
          <p:nvPr/>
        </p:nvSpPr>
        <p:spPr>
          <a:xfrm>
            <a:off x="7260336" y="5269229"/>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training-data look-ahead and 'distraction'; homogeneous factors</a:t>
            </a:r>
          </a:p>
        </p:txBody>
      </p:sp>
      <p:sp>
        <p:nvSpPr>
          <p:cNvPr id="39" name="TextBox 38"/>
          <p:cNvSpPr txBox="1"/>
          <p:nvPr/>
        </p:nvSpPr>
        <p:spPr>
          <a:xfrm>
            <a:off x="886968" y="576643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Human role</a:t>
            </a:r>
          </a:p>
        </p:txBody>
      </p:sp>
      <p:sp>
        <p:nvSpPr>
          <p:cNvPr id="40" name="TextBox 39"/>
          <p:cNvSpPr txBox="1"/>
          <p:nvPr/>
        </p:nvSpPr>
        <p:spPr>
          <a:xfrm>
            <a:off x="3017520" y="576643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Model builder</a:t>
            </a:r>
          </a:p>
        </p:txBody>
      </p:sp>
      <p:sp>
        <p:nvSpPr>
          <p:cNvPr id="41" name="TextBox 40"/>
          <p:cNvSpPr txBox="1"/>
          <p:nvPr/>
        </p:nvSpPr>
        <p:spPr>
          <a:xfrm>
            <a:off x="7260336" y="576643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Supervisor: hypothesis, testing, risk sign-off</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ML TO LLM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Impact of LLMs on Quant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Text becomes a signal</a:t>
            </a:r>
          </a:p>
          <a:p>
            <a:pPr algn="l">
              <a:spcAft>
                <a:spcPts val="300"/>
              </a:spcAft>
            </a:pPr>
            <a:r>
              <a:rPr sz="950" b="0">
                <a:solidFill>
                  <a:srgbClr val="5B6372"/>
                </a:solidFill>
                <a:latin typeface="Arial"/>
              </a:rPr>
              <a:t>ChatGPT headline scores predict next-day returns, strongest for small stocks and bad news (Lopez-Lira and Tang)</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Finance-specific LLMs</a:t>
            </a:r>
          </a:p>
          <a:p>
            <a:pPr algn="l">
              <a:spcAft>
                <a:spcPts val="300"/>
              </a:spcAft>
            </a:pPr>
            <a:r>
              <a:rPr sz="950" b="0">
                <a:solidFill>
                  <a:srgbClr val="5B6372"/>
                </a:solidFill>
                <a:latin typeface="Arial"/>
              </a:rPr>
              <a:t>BloombergGPT (2023): 50bn parameters trained with 363bn tokens of Bloomberg financial data</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Automated alpha mining</a:t>
            </a:r>
          </a:p>
          <a:p>
            <a:pPr algn="l">
              <a:spcAft>
                <a:spcPts val="300"/>
              </a:spcAft>
            </a:pPr>
            <a:r>
              <a:rPr sz="950" b="0">
                <a:solidFill>
                  <a:srgbClr val="5B6372"/>
                </a:solidFill>
                <a:latin typeface="Arial"/>
              </a:rPr>
              <a:t>Alpha-GPT turns ideas into formulaic alphas; AlphaAgent targets alpha decay and crowding</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Backtests need new controls</a:t>
            </a:r>
          </a:p>
          <a:p>
            <a:pPr algn="l">
              <a:spcAft>
                <a:spcPts val="300"/>
              </a:spcAft>
            </a:pPr>
            <a:r>
              <a:rPr sz="950" b="0">
                <a:solidFill>
                  <a:srgbClr val="5B6372"/>
                </a:solidFill>
                <a:latin typeface="Arial"/>
              </a:rPr>
              <a:t>LLMs may 'know' in-sample history: test after the knowledge cutoff and anonymise firms (Glasserman and Lin)</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Faster crowding</a:t>
            </a:r>
          </a:p>
          <a:p>
            <a:pPr algn="l">
              <a:spcAft>
                <a:spcPts val="300"/>
              </a:spcAft>
            </a:pPr>
            <a:r>
              <a:rPr sz="950" b="0">
                <a:solidFill>
                  <a:srgbClr val="5B6372"/>
                </a:solidFill>
                <a:latin typeface="Arial"/>
              </a:rPr>
              <a:t>Strategy returns decline as LLM adoption rises - prices become more efficient (Lopez-Lira and Tang)</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Agents still need limits</a:t>
            </a:r>
          </a:p>
          <a:p>
            <a:pPr algn="l">
              <a:spcAft>
                <a:spcPts val="300"/>
              </a:spcAft>
            </a:pPr>
            <a:r>
              <a:rPr sz="950" b="0">
                <a:solidFill>
                  <a:srgbClr val="5B6372"/>
                </a:solidFill>
                <a:latin typeface="Arial"/>
              </a:rPr>
              <a:t>Agents propose trades; hard-coded risk checks and humans approve them</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Agentic AI versus AI Agents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Agentic AI - the capability</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The capability of AI to plan and act: it calls tools, uses skills and memory, and follows instructions to complete multi-step work when it is asked.
Trading example: On request, an LLM fetches a stock's bars and news through tools, checks its memory of past trades and proposes an order within its instructions</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AI Agent - always on, 24/7</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A special class of agentic AI that stands by 24/7 and works all the time: always on, woken by schedules, events and messages, with its own long-term memory.
Examples: OpenClaw, Hermes Agent, OpenAI Dots.
Trading example: A round-the-clock trading agent that watches prices and news overnight and proposes paper trades within risk limits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AI Agents vs Agentic AI - Side by Side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AI Agents</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Agentic AI</a:t>
            </a:r>
          </a:p>
        </p:txBody>
      </p:sp>
      <p:sp>
        <p:nvSpPr>
          <p:cNvPr id="14" name="Rectangle 13"/>
          <p:cNvSpPr/>
          <p:nvPr/>
        </p:nvSpPr>
        <p:spPr>
          <a:xfrm>
            <a:off x="777240" y="228600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What it is</a:t>
            </a:r>
          </a:p>
        </p:txBody>
      </p:sp>
      <p:sp>
        <p:nvSpPr>
          <p:cNvPr id="16" name="TextBox 15"/>
          <p:cNvSpPr txBox="1"/>
          <p:nvPr/>
        </p:nvSpPr>
        <p:spPr>
          <a:xfrm>
            <a:off x="3017520" y="228600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 special class of agentic AI that is always on</a:t>
            </a:r>
          </a:p>
        </p:txBody>
      </p:sp>
      <p:sp>
        <p:nvSpPr>
          <p:cNvPr id="17" name="TextBox 16"/>
          <p:cNvSpPr txBox="1"/>
          <p:nvPr/>
        </p:nvSpPr>
        <p:spPr>
          <a:xfrm>
            <a:off x="7260336" y="228600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Capability to plan and act with tools, skills, memory</a:t>
            </a:r>
          </a:p>
        </p:txBody>
      </p:sp>
      <p:sp>
        <p:nvSpPr>
          <p:cNvPr id="18" name="TextBox 17"/>
          <p:cNvSpPr txBox="1"/>
          <p:nvPr/>
        </p:nvSpPr>
        <p:spPr>
          <a:xfrm>
            <a:off x="886968" y="278320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Runtime</a:t>
            </a:r>
          </a:p>
        </p:txBody>
      </p:sp>
      <p:sp>
        <p:nvSpPr>
          <p:cNvPr id="19" name="TextBox 18"/>
          <p:cNvSpPr txBox="1"/>
          <p:nvPr/>
        </p:nvSpPr>
        <p:spPr>
          <a:xfrm>
            <a:off x="3017520" y="278320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Persistent: stands by 24/7 on a server or PC</a:t>
            </a:r>
          </a:p>
        </p:txBody>
      </p:sp>
      <p:sp>
        <p:nvSpPr>
          <p:cNvPr id="20" name="TextBox 19"/>
          <p:cNvSpPr txBox="1"/>
          <p:nvPr/>
        </p:nvSpPr>
        <p:spPr>
          <a:xfrm>
            <a:off x="7260336" y="278320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Runs when invoked: a chat, workflow or pipeline</a:t>
            </a:r>
          </a:p>
        </p:txBody>
      </p:sp>
      <p:sp>
        <p:nvSpPr>
          <p:cNvPr id="21" name="Rectangle 20"/>
          <p:cNvSpPr/>
          <p:nvPr/>
        </p:nvSpPr>
        <p:spPr>
          <a:xfrm>
            <a:off x="777240" y="328041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28041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Trigger</a:t>
            </a:r>
          </a:p>
        </p:txBody>
      </p:sp>
      <p:sp>
        <p:nvSpPr>
          <p:cNvPr id="23" name="TextBox 22"/>
          <p:cNvSpPr txBox="1"/>
          <p:nvPr/>
        </p:nvSpPr>
        <p:spPr>
          <a:xfrm>
            <a:off x="3017520" y="328041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Schedules, events, messages - unprompted</a:t>
            </a:r>
          </a:p>
        </p:txBody>
      </p:sp>
      <p:sp>
        <p:nvSpPr>
          <p:cNvPr id="24" name="TextBox 23"/>
          <p:cNvSpPr txBox="1"/>
          <p:nvPr/>
        </p:nvSpPr>
        <p:spPr>
          <a:xfrm>
            <a:off x="7260336" y="328041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 user prompt or a pipeline step</a:t>
            </a:r>
          </a:p>
        </p:txBody>
      </p:sp>
      <p:sp>
        <p:nvSpPr>
          <p:cNvPr id="25" name="TextBox 24"/>
          <p:cNvSpPr txBox="1"/>
          <p:nvPr/>
        </p:nvSpPr>
        <p:spPr>
          <a:xfrm>
            <a:off x="886968" y="377761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Memory</a:t>
            </a:r>
          </a:p>
        </p:txBody>
      </p:sp>
      <p:sp>
        <p:nvSpPr>
          <p:cNvPr id="26" name="TextBox 25"/>
          <p:cNvSpPr txBox="1"/>
          <p:nvPr/>
        </p:nvSpPr>
        <p:spPr>
          <a:xfrm>
            <a:off x="3017520" y="377761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Long-term memory across days and tasks</a:t>
            </a:r>
          </a:p>
        </p:txBody>
      </p:sp>
      <p:sp>
        <p:nvSpPr>
          <p:cNvPr id="27" name="TextBox 26"/>
          <p:cNvSpPr txBox="1"/>
          <p:nvPr/>
        </p:nvSpPr>
        <p:spPr>
          <a:xfrm>
            <a:off x="7260336" y="377761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Session or task memory; can use long-term memory</a:t>
            </a:r>
          </a:p>
        </p:txBody>
      </p:sp>
      <p:sp>
        <p:nvSpPr>
          <p:cNvPr id="28" name="Rectangle 27"/>
          <p:cNvSpPr/>
          <p:nvPr/>
        </p:nvSpPr>
        <p:spPr>
          <a:xfrm>
            <a:off x="777240" y="427482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27482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Building blocks</a:t>
            </a:r>
          </a:p>
        </p:txBody>
      </p:sp>
      <p:sp>
        <p:nvSpPr>
          <p:cNvPr id="30" name="TextBox 29"/>
          <p:cNvSpPr txBox="1"/>
          <p:nvPr/>
        </p:nvSpPr>
        <p:spPr>
          <a:xfrm>
            <a:off x="3017520" y="427482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Agentic AI + always-on runtime and scheduler</a:t>
            </a:r>
          </a:p>
        </p:txBody>
      </p:sp>
      <p:sp>
        <p:nvSpPr>
          <p:cNvPr id="31" name="TextBox 30"/>
          <p:cNvSpPr txBox="1"/>
          <p:nvPr/>
        </p:nvSpPr>
        <p:spPr>
          <a:xfrm>
            <a:off x="7260336" y="427482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 tools + skills + memory + instructions</a:t>
            </a:r>
          </a:p>
        </p:txBody>
      </p:sp>
      <p:sp>
        <p:nvSpPr>
          <p:cNvPr id="32" name="TextBox 31"/>
          <p:cNvSpPr txBox="1"/>
          <p:nvPr/>
        </p:nvSpPr>
        <p:spPr>
          <a:xfrm>
            <a:off x="886968" y="477202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Examples</a:t>
            </a:r>
          </a:p>
        </p:txBody>
      </p:sp>
      <p:sp>
        <p:nvSpPr>
          <p:cNvPr id="33" name="TextBox 32"/>
          <p:cNvSpPr txBox="1"/>
          <p:nvPr/>
        </p:nvSpPr>
        <p:spPr>
          <a:xfrm>
            <a:off x="3017520" y="477202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OpenClaw, Hermes Agent, OpenAI Dots</a:t>
            </a:r>
          </a:p>
        </p:txBody>
      </p:sp>
      <p:sp>
        <p:nvSpPr>
          <p:cNvPr id="34" name="TextBox 33"/>
          <p:cNvSpPr txBox="1"/>
          <p:nvPr/>
        </p:nvSpPr>
        <p:spPr>
          <a:xfrm>
            <a:off x="7260336" y="477202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Claude Code, ChatGPT with tools, TradingAgents</a:t>
            </a:r>
          </a:p>
        </p:txBody>
      </p:sp>
      <p:sp>
        <p:nvSpPr>
          <p:cNvPr id="35" name="Rectangle 34"/>
          <p:cNvSpPr/>
          <p:nvPr/>
        </p:nvSpPr>
        <p:spPr>
          <a:xfrm>
            <a:off x="777240" y="5269229"/>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269229"/>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Trading example</a:t>
            </a:r>
          </a:p>
        </p:txBody>
      </p:sp>
      <p:sp>
        <p:nvSpPr>
          <p:cNvPr id="37" name="TextBox 36"/>
          <p:cNvSpPr txBox="1"/>
          <p:nvPr/>
        </p:nvSpPr>
        <p:spPr>
          <a:xfrm>
            <a:off x="3017520" y="5269229"/>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24/7 market and news monitor proposing trades</a:t>
            </a:r>
          </a:p>
        </p:txBody>
      </p:sp>
      <p:sp>
        <p:nvSpPr>
          <p:cNvPr id="38" name="TextBox 37"/>
          <p:cNvSpPr txBox="1"/>
          <p:nvPr/>
        </p:nvSpPr>
        <p:spPr>
          <a:xfrm>
            <a:off x="7260336" y="5269229"/>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On-demand multi-agent analysis before a trade</a:t>
            </a:r>
          </a:p>
        </p:txBody>
      </p:sp>
      <p:sp>
        <p:nvSpPr>
          <p:cNvPr id="39" name="TextBox 38"/>
          <p:cNvSpPr txBox="1"/>
          <p:nvPr/>
        </p:nvSpPr>
        <p:spPr>
          <a:xfrm>
            <a:off x="886968" y="576643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Main risks</a:t>
            </a:r>
          </a:p>
        </p:txBody>
      </p:sp>
      <p:sp>
        <p:nvSpPr>
          <p:cNvPr id="40" name="TextBox 39"/>
          <p:cNvSpPr txBox="1"/>
          <p:nvPr/>
        </p:nvSpPr>
        <p:spPr>
          <a:xfrm>
            <a:off x="3017520" y="576643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Acting unsupervised overnight; runaway loops</a:t>
            </a:r>
          </a:p>
        </p:txBody>
      </p:sp>
      <p:sp>
        <p:nvSpPr>
          <p:cNvPr id="41" name="TextBox 40"/>
          <p:cNvSpPr txBox="1"/>
          <p:nvPr/>
        </p:nvSpPr>
        <p:spPr>
          <a:xfrm>
            <a:off x="7260336" y="576643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Hallucination; prompt injection; tool misuse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Chatbot to Always-On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64706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470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1 · Chatbot: Answers one prompt at a time; no tools, no actions</a:t>
            </a:r>
          </a:p>
        </p:txBody>
      </p:sp>
      <p:sp>
        <p:nvSpPr>
          <p:cNvPr id="15" name="TextBox 14"/>
          <p:cNvSpPr txBox="1"/>
          <p:nvPr/>
        </p:nvSpPr>
        <p:spPr>
          <a:xfrm>
            <a:off x="321183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04438"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37426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742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632454"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2 · Agentic AI: Plans and calls tools, skills, memory and instructions when asked</a:t>
            </a:r>
          </a:p>
        </p:txBody>
      </p:sp>
      <p:sp>
        <p:nvSpPr>
          <p:cNvPr id="21" name="TextBox 20"/>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014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01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6359652"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3 · Multi-agent agentic system: Specialist agents coordinate: analysts, debate, trader, risk manager</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2865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286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9086850"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4 · AI agent (always on): Stands by 24/7, wakes on schedules and events, works continuously within limits</a:t>
            </a:r>
          </a:p>
        </p:txBody>
      </p:sp>
      <p:sp>
        <p:nvSpPr>
          <p:cNvPr id="33" name="Rectangle 3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An AI agent is agentic AI that never switches off - so its limits, kill switch and monitoring matter most.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Roles in a Multi-Agent Trading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Fundamental Analyst</a:t>
            </a:r>
          </a:p>
          <a:p>
            <a:pPr algn="l">
              <a:spcAft>
                <a:spcPts val="300"/>
              </a:spcAft>
            </a:pPr>
            <a:r>
              <a:rPr sz="1000" b="0">
                <a:solidFill>
                  <a:srgbClr val="5B6372"/>
                </a:solidFill>
                <a:latin typeface="Arial"/>
              </a:rPr>
              <a:t>Reads filings, earnings and balance sheets to judge intrinsic value</a:t>
            </a:r>
          </a:p>
        </p:txBody>
      </p:sp>
      <p:sp>
        <p:nvSpPr>
          <p:cNvPr id="15" name="Rectangle 14"/>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Technical Analyst</a:t>
            </a:r>
          </a:p>
          <a:p>
            <a:pPr algn="l">
              <a:spcAft>
                <a:spcPts val="300"/>
              </a:spcAft>
            </a:pPr>
            <a:r>
              <a:rPr sz="1000" b="0">
                <a:solidFill>
                  <a:srgbClr val="5B6372"/>
                </a:solidFill>
                <a:latin typeface="Arial"/>
              </a:rPr>
              <a:t>Reads price, volume and indicators such as MACD and RSI</a:t>
            </a:r>
          </a:p>
        </p:txBody>
      </p:sp>
      <p:sp>
        <p:nvSpPr>
          <p:cNvPr id="20" name="Rectangle 19"/>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Sentiment Analyst</a:t>
            </a:r>
          </a:p>
          <a:p>
            <a:pPr algn="l">
              <a:spcAft>
                <a:spcPts val="300"/>
              </a:spcAft>
            </a:pPr>
            <a:r>
              <a:rPr sz="1000" b="0">
                <a:solidFill>
                  <a:srgbClr val="5B6372"/>
                </a:solidFill>
                <a:latin typeface="Arial"/>
              </a:rPr>
              <a:t>Gauges mood from social media, analyst ratings and options flow</a:t>
            </a:r>
          </a:p>
        </p:txBody>
      </p:sp>
      <p:sp>
        <p:nvSpPr>
          <p:cNvPr id="25" name="Rectangle 24"/>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News Analyst</a:t>
            </a:r>
          </a:p>
          <a:p>
            <a:pPr algn="l">
              <a:spcAft>
                <a:spcPts val="300"/>
              </a:spcAft>
            </a:pPr>
            <a:r>
              <a:rPr sz="1000" b="0">
                <a:solidFill>
                  <a:srgbClr val="5B6372"/>
                </a:solidFill>
                <a:latin typeface="Arial"/>
              </a:rPr>
              <a:t>Tracks news wires, press releases and macro events</a:t>
            </a:r>
          </a:p>
        </p:txBody>
      </p:sp>
      <p:sp>
        <p:nvSpPr>
          <p:cNvPr id="30" name="Rectangle 29"/>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Bull / Bear Researchers</a:t>
            </a:r>
          </a:p>
          <a:p>
            <a:pPr algn="l">
              <a:spcAft>
                <a:spcPts val="300"/>
              </a:spcAft>
            </a:pPr>
            <a:r>
              <a:rPr sz="1000" b="0">
                <a:solidFill>
                  <a:srgbClr val="5B6372"/>
                </a:solidFill>
                <a:latin typeface="Arial"/>
              </a:rPr>
              <a:t>Argue for and against the trade so weak ideas are challenged</a:t>
            </a:r>
          </a:p>
        </p:txBody>
      </p:sp>
      <p:sp>
        <p:nvSpPr>
          <p:cNvPr id="35" name="Rectangle 34"/>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Trader</a:t>
            </a:r>
          </a:p>
          <a:p>
            <a:pPr algn="l">
              <a:spcAft>
                <a:spcPts val="300"/>
              </a:spcAft>
            </a:pPr>
            <a:r>
              <a:rPr sz="1000" b="0">
                <a:solidFill>
                  <a:srgbClr val="5B6372"/>
                </a:solidFill>
                <a:latin typeface="Arial"/>
              </a:rPr>
              <a:t>Combines the reports into a buy, sell or hold call with timing and size</a:t>
            </a:r>
          </a:p>
        </p:txBody>
      </p:sp>
      <p:sp>
        <p:nvSpPr>
          <p:cNvPr id="40" name="Rectangle 39"/>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4" name="TextBox 43"/>
          <p:cNvSpPr txBox="1"/>
          <p:nvPr/>
        </p:nvSpPr>
        <p:spPr>
          <a:xfrm>
            <a:off x="1764792"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Risk Manager</a:t>
            </a:r>
          </a:p>
          <a:p>
            <a:pPr algn="l">
              <a:spcAft>
                <a:spcPts val="300"/>
              </a:spcAft>
            </a:pPr>
            <a:r>
              <a:rPr sz="1000" b="0">
                <a:solidFill>
                  <a:srgbClr val="5B6372"/>
                </a:solidFill>
                <a:latin typeface="Arial"/>
              </a:rPr>
              <a:t>Checks volatility, liquidity, exposure and drawdown limits</a:t>
            </a:r>
          </a:p>
        </p:txBody>
      </p:sp>
      <p:sp>
        <p:nvSpPr>
          <p:cNvPr id="45" name="Rectangle 44"/>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9" name="TextBox 48"/>
          <p:cNvSpPr txBox="1"/>
          <p:nvPr/>
        </p:nvSpPr>
        <p:spPr>
          <a:xfrm>
            <a:off x="7219188"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Portfolio Manager</a:t>
            </a:r>
          </a:p>
          <a:p>
            <a:pPr algn="l">
              <a:spcAft>
                <a:spcPts val="300"/>
              </a:spcAft>
            </a:pPr>
            <a:r>
              <a:rPr sz="1000" b="0">
                <a:solidFill>
                  <a:srgbClr val="5B6372"/>
                </a:solidFill>
                <a:latin typeface="Arial"/>
              </a:rPr>
              <a:t>Approves or rejects the proposal and fits it into the whole portfolio</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Stock-Trading Agent Frameworks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TradingAgents (Xiao et al., 2024)</a:t>
            </a:r>
          </a:p>
          <a:p>
            <a:pPr algn="l">
              <a:spcAft>
                <a:spcPts val="300"/>
              </a:spcAft>
            </a:pPr>
            <a:r>
              <a:rPr sz="950" b="0">
                <a:solidFill>
                  <a:srgbClr val="5B6372"/>
                </a:solidFill>
                <a:latin typeface="Arial"/>
              </a:rPr>
              <a:t>Simulated stock-trading firm: fundamental, sentiment, news and technical analysts, bull/bear debate, trader, risk team</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FinMem (Yu et al., 2023)</a:t>
            </a:r>
          </a:p>
          <a:p>
            <a:pPr algn="l">
              <a:spcAft>
                <a:spcPts val="300"/>
              </a:spcAft>
            </a:pPr>
            <a:r>
              <a:rPr sz="950" b="0">
                <a:solidFill>
                  <a:srgbClr val="5B6372"/>
                </a:solidFill>
                <a:latin typeface="Arial"/>
              </a:rPr>
              <a:t>LLM trading agent with profiling and layered memory making Buy / Sell / Hold decisions on individual stocks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FinAgent (Zhang et al., 2024)</a:t>
            </a:r>
          </a:p>
          <a:p>
            <a:pPr algn="l">
              <a:spcAft>
                <a:spcPts val="300"/>
              </a:spcAft>
            </a:pPr>
            <a:r>
              <a:rPr sz="950" b="0">
                <a:solidFill>
                  <a:srgbClr val="5B6372"/>
                </a:solidFill>
                <a:latin typeface="Arial"/>
              </a:rPr>
              <a:t>Multimodal agent reading prices, news and chart images, with dual-level reflection; tested on stocks and crypto</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StockAgent (2024)</a:t>
            </a:r>
          </a:p>
          <a:p>
            <a:pPr algn="l">
              <a:spcAft>
                <a:spcPts val="300"/>
              </a:spcAft>
            </a:pPr>
            <a:r>
              <a:rPr sz="950" b="0">
                <a:solidFill>
                  <a:srgbClr val="5B6372"/>
                </a:solidFill>
                <a:latin typeface="Arial"/>
              </a:rPr>
              <a:t>LLM investor agents trade a simulated stock market under macro, policy and event shocks; avoids test-set leakage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Stock-Trading Agent Frameworks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QuantAgent (2025)</a:t>
            </a:r>
          </a:p>
          <a:p>
            <a:pPr algn="l">
              <a:spcAft>
                <a:spcPts val="300"/>
              </a:spcAft>
            </a:pPr>
            <a:r>
              <a:rPr sz="950" b="0">
                <a:solidFill>
                  <a:srgbClr val="5B6372"/>
                </a:solidFill>
                <a:latin typeface="Arial"/>
              </a:rPr>
              <a:t>Price-driven multi-agent system for high-frequency trading: Indicator, Pattern, Trend and Risk agents</a:t>
            </a:r>
          </a:p>
        </p:txBody>
      </p:sp>
      <p:sp>
        <p:nvSpPr>
          <p:cNvPr id="15" name="Rectangle 14"/>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447288"/>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AI Hedge Fund (open source)</a:t>
            </a:r>
          </a:p>
          <a:p>
            <a:pPr algn="l">
              <a:spcAft>
                <a:spcPts val="300"/>
              </a:spcAft>
            </a:pPr>
            <a:r>
              <a:rPr sz="950" b="0">
                <a:solidFill>
                  <a:srgbClr val="5B6372"/>
                </a:solidFill>
                <a:latin typeface="Arial"/>
              </a:rPr>
              <a:t>Investor-persona agents (e.g. Warren Buffett), a risk manager and a portfolio manager decide trades for chosen tickers</a:t>
            </a:r>
          </a:p>
        </p:txBody>
      </p:sp>
      <p:sp>
        <p:nvSpPr>
          <p:cNvPr id="20" name="Rectangle 19"/>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983480"/>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Agentic Trading Lab (Open-Finance-Lab)</a:t>
            </a:r>
          </a:p>
          <a:p>
            <a:pPr algn="l">
              <a:spcAft>
                <a:spcPts val="300"/>
              </a:spcAft>
            </a:pPr>
            <a:r>
              <a:rPr sz="950" b="0">
                <a:solidFill>
                  <a:srgbClr val="5B6372"/>
                </a:solidFill>
                <a:latin typeface="Arial"/>
              </a:rPr>
              <a:t>Agent-run stock portfolios with backtests and paper trading through the Alpaca API</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GOVERNANCE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Risks and Controls for AI Agents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What goes wrong</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Control</a:t>
            </a:r>
          </a:p>
        </p:txBody>
      </p:sp>
      <p:sp>
        <p:nvSpPr>
          <p:cNvPr id="14" name="Rectangle 13"/>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Hallucination</a:t>
            </a:r>
          </a:p>
        </p:txBody>
      </p:sp>
      <p:sp>
        <p:nvSpPr>
          <p:cNvPr id="16" name="TextBox 15"/>
          <p:cNvSpPr txBox="1"/>
          <p:nvPr/>
        </p:nvSpPr>
        <p:spPr>
          <a:xfrm>
            <a:off x="3017520" y="22860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An LLM states a wrong earnings figure or invents a signal with confidence</a:t>
            </a:r>
          </a:p>
        </p:txBody>
      </p:sp>
      <p:sp>
        <p:nvSpPr>
          <p:cNvPr id="17" name="TextBox 16"/>
          <p:cNvSpPr txBox="1"/>
          <p:nvPr/>
        </p:nvSpPr>
        <p:spPr>
          <a:xfrm>
            <a:off x="7260336" y="22860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Ground answers in tool or RAG data, log the reasoning, review unusual calls</a:t>
            </a:r>
          </a:p>
        </p:txBody>
      </p:sp>
      <p:sp>
        <p:nvSpPr>
          <p:cNvPr id="18" name="TextBox 17"/>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Prompt injection</a:t>
            </a:r>
          </a:p>
        </p:txBody>
      </p:sp>
      <p:sp>
        <p:nvSpPr>
          <p:cNvPr id="19" name="TextBox 18"/>
          <p:cNvSpPr txBox="1"/>
          <p:nvPr/>
        </p:nvSpPr>
        <p:spPr>
          <a:xfrm>
            <a:off x="3017520" y="294894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Malicious text in news, web pages or files hijacks the agent's instructions</a:t>
            </a:r>
          </a:p>
        </p:txBody>
      </p:sp>
      <p:sp>
        <p:nvSpPr>
          <p:cNvPr id="20" name="TextBox 19"/>
          <p:cNvSpPr txBox="1"/>
          <p:nvPr/>
        </p:nvSpPr>
        <p:spPr>
          <a:xfrm>
            <a:off x="7260336" y="294894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Input and output guardrails, least-privilege API keys, no secrets in prompts</a:t>
            </a:r>
          </a:p>
        </p:txBody>
      </p:sp>
      <p:sp>
        <p:nvSpPr>
          <p:cNvPr id="21" name="Rectangle 20"/>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Overtrading and runaway loops</a:t>
            </a:r>
          </a:p>
        </p:txBody>
      </p:sp>
      <p:sp>
        <p:nvSpPr>
          <p:cNvPr id="23" name="TextBox 22"/>
          <p:cNvSpPr txBox="1"/>
          <p:nvPr/>
        </p:nvSpPr>
        <p:spPr>
          <a:xfrm>
            <a:off x="3017520" y="361188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Agents trade too often or amplify each other, compounding losses</a:t>
            </a:r>
          </a:p>
        </p:txBody>
      </p:sp>
      <p:sp>
        <p:nvSpPr>
          <p:cNvPr id="24" name="TextBox 23"/>
          <p:cNvSpPr txBox="1"/>
          <p:nvPr/>
        </p:nvSpPr>
        <p:spPr>
          <a:xfrm>
            <a:off x="7260336" y="361188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Order and position caps, daily-loss circuit breaker, kill switch</a:t>
            </a:r>
          </a:p>
        </p:txBody>
      </p:sp>
      <p:sp>
        <p:nvSpPr>
          <p:cNvPr id="25" name="TextBox 24"/>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Model and backtest risk</a:t>
            </a:r>
          </a:p>
        </p:txBody>
      </p:sp>
      <p:sp>
        <p:nvSpPr>
          <p:cNvPr id="26" name="TextBox 25"/>
          <p:cNvSpPr txBox="1"/>
          <p:nvPr/>
        </p:nvSpPr>
        <p:spPr>
          <a:xfrm>
            <a:off x="3017520" y="427482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Overfitting, look-ahead bias and regime change: strong backtests, weak live results</a:t>
            </a:r>
          </a:p>
        </p:txBody>
      </p:sp>
      <p:sp>
        <p:nvSpPr>
          <p:cNvPr id="27" name="TextBox 26"/>
          <p:cNvSpPr txBox="1"/>
          <p:nvPr/>
        </p:nvSpPr>
        <p:spPr>
          <a:xfrm>
            <a:off x="7260336" y="427482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Walk-forward tests, paper trade first, monitor drift and costs</a:t>
            </a:r>
          </a:p>
        </p:txBody>
      </p:sp>
      <p:sp>
        <p:nvSpPr>
          <p:cNvPr id="28" name="Rectangle 27"/>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Accountability</a:t>
            </a:r>
          </a:p>
        </p:txBody>
      </p:sp>
      <p:sp>
        <p:nvSpPr>
          <p:cNvPr id="30" name="TextBox 29"/>
          <p:cNvSpPr txBox="1"/>
          <p:nvPr/>
        </p:nvSpPr>
        <p:spPr>
          <a:xfrm>
            <a:off x="3017520" y="493776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Unclear who answers for an autonomous agent's trade or a vendor's AI</a:t>
            </a:r>
          </a:p>
        </p:txBody>
      </p:sp>
      <p:sp>
        <p:nvSpPr>
          <p:cNvPr id="31" name="TextBox 30"/>
          <p:cNvSpPr txBox="1"/>
          <p:nvPr/>
        </p:nvSpPr>
        <p:spPr>
          <a:xfrm>
            <a:off x="7260336" y="493776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The firm stays accountable: human sign-off, audit trails, clear owners</a:t>
            </a:r>
          </a:p>
        </p:txBody>
      </p:sp>
      <p:sp>
        <p:nvSpPr>
          <p:cNvPr id="32" name="TextBox 31"/>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Regulation (MAS)</a:t>
            </a:r>
          </a:p>
        </p:txBody>
      </p:sp>
      <p:sp>
        <p:nvSpPr>
          <p:cNvPr id="33" name="TextBox 32"/>
          <p:cNvSpPr txBox="1"/>
          <p:nvPr/>
        </p:nvSpPr>
        <p:spPr>
          <a:xfrm>
            <a:off x="3017520" y="56007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FEAT principles (2018) and MAS AI Risk Management Guidelines (issued Oct 2026)</a:t>
            </a:r>
          </a:p>
        </p:txBody>
      </p:sp>
      <p:sp>
        <p:nvSpPr>
          <p:cNvPr id="34" name="TextBox 33"/>
          <p:cNvSpPr txBox="1"/>
          <p:nvPr/>
        </p:nvSpPr>
        <p:spPr>
          <a:xfrm>
            <a:off x="7260336" y="56007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Board oversight, AI inventory, materiality assessment and lifecycle controls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Forms of Data within Financial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 data</a:t>
            </a:r>
          </a:p>
          <a:p>
            <a:pPr algn="l">
              <a:spcAft>
                <a:spcPts val="300"/>
              </a:spcAft>
            </a:pPr>
            <a:r>
              <a:rPr sz="1150" b="0">
                <a:solidFill>
                  <a:srgbClr val="5B6372"/>
                </a:solidFill>
                <a:latin typeface="Arial"/>
              </a:rPr>
              <a:t>OHLCV bars, quotes, trades, order-book depth — Alpaca serves bars, quotes, trades, news.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Reference &amp; corporate actions</a:t>
            </a:r>
          </a:p>
          <a:p>
            <a:pPr algn="l">
              <a:spcAft>
                <a:spcPts val="300"/>
              </a:spcAft>
            </a:pPr>
            <a:r>
              <a:rPr sz="1150" b="0">
                <a:solidFill>
                  <a:srgbClr val="5B6372"/>
                </a:solidFill>
                <a:latin typeface="Arial"/>
              </a:rPr>
              <a:t>Symbols, calendars, splits, dividends — unadjusted splits fake a crash.</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Fundamental &amp; macro</a:t>
            </a:r>
          </a:p>
          <a:p>
            <a:pPr algn="l">
              <a:spcAft>
                <a:spcPts val="300"/>
              </a:spcAft>
            </a:pPr>
            <a:r>
              <a:rPr sz="1150" b="0">
                <a:solidFill>
                  <a:srgbClr val="5B6372"/>
                </a:solidFill>
                <a:latin typeface="Arial"/>
              </a:rPr>
              <a:t>Statements, ratios, earnings; rates, inflation, central-bank decisions.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Alternative data</a:t>
            </a:r>
          </a:p>
          <a:p>
            <a:pPr algn="l">
              <a:spcAft>
                <a:spcPts val="300"/>
              </a:spcAft>
            </a:pPr>
            <a:r>
              <a:rPr sz="1150" b="0">
                <a:solidFill>
                  <a:srgbClr val="5B6372"/>
                </a:solidFill>
                <a:latin typeface="Arial"/>
              </a:rPr>
              <a:t>News and social sentiment, web traffic, satellite, card spend, ESG.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Unstructured Data in Practice — Headlines and Sentiment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news_sentiment.png"/>
          <p:cNvPicPr>
            <a:picLocks noChangeAspect="1"/>
          </p:cNvPicPr>
          <p:nvPr/>
        </p:nvPicPr>
        <p:blipFill>
          <a:blip r:embed="rId2"/>
          <a:stretch>
            <a:fillRect/>
          </a:stretch>
        </p:blipFill>
        <p:spPr>
          <a:xfrm>
            <a:off x="2281608" y="2057400"/>
            <a:ext cx="7628479" cy="3520440"/>
          </a:xfrm>
          <a:prstGeom prst="rect">
            <a:avLst/>
          </a:prstGeom>
        </p:spPr>
      </p:pic>
      <p:sp>
        <p:nvSpPr>
          <p:cNvPr id="11" name="Rectangle 10"/>
          <p:cNvSpPr/>
          <p:nvPr/>
        </p:nvSpPr>
        <p:spPr>
          <a:xfrm>
            <a:off x="2270635" y="2046427"/>
            <a:ext cx="7650424"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Data &gt; News &amp; sentiment: headlines (unstructured text) are scored by a lexicon model and stored as one sentiment number per symbol per day - structured data a strategy can use.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Big Data in Trading — the Four Vs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Volume</a:t>
            </a:r>
          </a:p>
          <a:p>
            <a:pPr algn="l">
              <a:spcAft>
                <a:spcPts val="300"/>
              </a:spcAft>
            </a:pPr>
            <a:r>
              <a:rPr sz="1150" b="0">
                <a:solidFill>
                  <a:srgbClr val="5B6372"/>
                </a:solidFill>
                <a:latin typeface="Arial"/>
              </a:rPr>
              <a:t>Tick data runs to billions of rows per year for one exchange.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Velocity</a:t>
            </a:r>
          </a:p>
          <a:p>
            <a:pPr algn="l">
              <a:spcAft>
                <a:spcPts val="300"/>
              </a:spcAft>
            </a:pPr>
            <a:r>
              <a:rPr sz="1150" b="0">
                <a:solidFill>
                  <a:srgbClr val="5B6372"/>
                </a:solidFill>
                <a:latin typeface="Arial"/>
              </a:rPr>
              <a:t>Streaming quotes and news arrive in milliseconds.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Variety</a:t>
            </a:r>
          </a:p>
          <a:p>
            <a:pPr algn="l">
              <a:spcAft>
                <a:spcPts val="300"/>
              </a:spcAft>
            </a:pPr>
            <a:r>
              <a:rPr sz="1150" b="0">
                <a:solidFill>
                  <a:srgbClr val="5B6372"/>
                </a:solidFill>
                <a:latin typeface="Arial"/>
              </a:rPr>
              <a:t>Prices, text, images, transcripts — structured and unstructured.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Veracity</a:t>
            </a:r>
          </a:p>
          <a:p>
            <a:pPr algn="l">
              <a:spcAft>
                <a:spcPts val="300"/>
              </a:spcAft>
            </a:pPr>
            <a:r>
              <a:rPr sz="1150" b="0">
                <a:solidFill>
                  <a:srgbClr val="5B6372"/>
                </a:solidFill>
                <a:latin typeface="Arial"/>
              </a:rPr>
              <a:t>Bad ticks, survivorship, restatements — verify before you trust.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Big Data Applications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Execution analytics</a:t>
            </a:r>
          </a:p>
          <a:p>
            <a:pPr algn="l">
              <a:spcAft>
                <a:spcPts val="300"/>
              </a:spcAft>
            </a:pPr>
            <a:r>
              <a:rPr sz="1150" b="0">
                <a:solidFill>
                  <a:srgbClr val="5B6372"/>
                </a:solidFill>
                <a:latin typeface="Arial"/>
              </a:rPr>
              <a:t>Tick and quote data to measure and cut slippage.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Sentiment and event trading</a:t>
            </a:r>
          </a:p>
          <a:p>
            <a:pPr algn="l">
              <a:spcAft>
                <a:spcPts val="300"/>
              </a:spcAft>
            </a:pPr>
            <a:r>
              <a:rPr sz="1150" b="0">
                <a:solidFill>
                  <a:srgbClr val="5B6372"/>
                </a:solidFill>
                <a:latin typeface="Arial"/>
              </a:rPr>
              <a:t>News and social text scored by NLP and LLMs.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Regime detection</a:t>
            </a:r>
          </a:p>
          <a:p>
            <a:pPr algn="l">
              <a:spcAft>
                <a:spcPts val="300"/>
              </a:spcAft>
            </a:pPr>
            <a:r>
              <a:rPr sz="1150" b="0">
                <a:solidFill>
                  <a:srgbClr val="5B6372"/>
                </a:solidFill>
                <a:latin typeface="Arial"/>
              </a:rPr>
              <a:t>Cross-asset returns clustered into market states.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Surveillance and risk</a:t>
            </a:r>
          </a:p>
          <a:p>
            <a:pPr algn="l">
              <a:spcAft>
                <a:spcPts val="300"/>
              </a:spcAft>
            </a:pPr>
            <a:r>
              <a:rPr sz="1150" b="0">
                <a:solidFill>
                  <a:srgbClr val="5B6372"/>
                </a:solidFill>
                <a:latin typeface="Arial"/>
              </a:rPr>
              <a:t>Order and trade data scanned for market abuse; intraday risk.</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Analytics and Modelling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Signal generation</a:t>
            </a:r>
          </a:p>
          <a:p>
            <a:pPr algn="l">
              <a:spcAft>
                <a:spcPts val="300"/>
              </a:spcAft>
            </a:pPr>
            <a:r>
              <a:rPr sz="1150" b="0">
                <a:solidFill>
                  <a:srgbClr val="5B6372"/>
                </a:solidFill>
                <a:latin typeface="Arial"/>
              </a:rPr>
              <a:t>Find repeatable return — judged by out-of-sample, net Sharpe.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Execution</a:t>
            </a:r>
          </a:p>
          <a:p>
            <a:pPr algn="l">
              <a:spcAft>
                <a:spcPts val="300"/>
              </a:spcAft>
            </a:pPr>
            <a:r>
              <a:rPr sz="1150" b="0">
                <a:solidFill>
                  <a:srgbClr val="5B6372"/>
                </a:solidFill>
                <a:latin typeface="Arial"/>
              </a:rPr>
              <a:t>VWAP / TWAP / shortfall — judged by slippage in basis points.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 forecasting &amp; sizing</a:t>
            </a:r>
          </a:p>
          <a:p>
            <a:pPr algn="l">
              <a:spcAft>
                <a:spcPts val="300"/>
              </a:spcAft>
            </a:pPr>
            <a:r>
              <a:rPr sz="1150" b="0">
                <a:solidFill>
                  <a:srgbClr val="5B6372"/>
                </a:solidFill>
                <a:latin typeface="Arial"/>
              </a:rPr>
              <a:t>Volatility and VaR models — judged by limit breaches.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Research at scale</a:t>
            </a:r>
          </a:p>
          <a:p>
            <a:pPr algn="l">
              <a:spcAft>
                <a:spcPts val="300"/>
              </a:spcAft>
            </a:pPr>
            <a:r>
              <a:rPr sz="1150" b="0">
                <a:solidFill>
                  <a:srgbClr val="5B6372"/>
                </a:solidFill>
                <a:latin typeface="Arial"/>
              </a:rPr>
              <a:t>LLMs read filings and news — judged by accuracy and hours saved.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Makes a Hypothesis Testable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Instrument and universe</a:t>
            </a:r>
          </a:p>
          <a:p>
            <a:pPr algn="l">
              <a:spcAft>
                <a:spcPts val="300"/>
              </a:spcAft>
            </a:pPr>
            <a:r>
              <a:rPr sz="1150" b="0">
                <a:solidFill>
                  <a:srgbClr val="5B6372"/>
                </a:solidFill>
                <a:latin typeface="Arial"/>
              </a:rPr>
              <a:t>e.g. SPY, daily bars, 2018 – 2025.</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Signal and holding period</a:t>
            </a:r>
          </a:p>
          <a:p>
            <a:pPr algn="l">
              <a:spcAft>
                <a:spcPts val="300"/>
              </a:spcAft>
            </a:pPr>
            <a:r>
              <a:rPr sz="1150" b="0">
                <a:solidFill>
                  <a:srgbClr val="5B6372"/>
                </a:solidFill>
                <a:latin typeface="Arial"/>
              </a:rPr>
              <a:t>e.g. three down closes in a row; hold 5 days.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Expected effect and benchmark</a:t>
            </a:r>
          </a:p>
          <a:p>
            <a:pPr algn="l">
              <a:spcAft>
                <a:spcPts val="300"/>
              </a:spcAft>
            </a:pPr>
            <a:r>
              <a:rPr sz="1150" b="0">
                <a:solidFill>
                  <a:srgbClr val="5B6372"/>
                </a:solidFill>
                <a:latin typeface="Arial"/>
              </a:rPr>
              <a:t>Forward return exceeds the unconditional 5-day return.</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Written BEFORE the test</a:t>
            </a:r>
          </a:p>
          <a:p>
            <a:pPr algn="l">
              <a:spcAft>
                <a:spcPts val="300"/>
              </a:spcAft>
            </a:pPr>
            <a:r>
              <a:rPr sz="1150" b="0">
                <a:solidFill>
                  <a:srgbClr val="5B6372"/>
                </a:solidFill>
                <a:latin typeface="Arial"/>
              </a:rPr>
              <a:t>H0, H1 and the significance level chosen first.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Testable Hypothesis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hypothesis_test.png"/>
          <p:cNvPicPr>
            <a:picLocks noChangeAspect="1"/>
          </p:cNvPicPr>
          <p:nvPr/>
        </p:nvPicPr>
        <p:blipFill>
          <a:blip r:embed="rId2"/>
          <a:stretch>
            <a:fillRect/>
          </a:stretch>
        </p:blipFill>
        <p:spPr>
          <a:xfrm>
            <a:off x="2116919" y="2057400"/>
            <a:ext cx="7957856" cy="3520440"/>
          </a:xfrm>
          <a:prstGeom prst="rect">
            <a:avLst/>
          </a:prstGeom>
        </p:spPr>
      </p:pic>
      <p:sp>
        <p:nvSpPr>
          <p:cNvPr id="11" name="Rectangle 10"/>
          <p:cNvSpPr/>
          <p:nvPr/>
        </p:nvSpPr>
        <p:spPr>
          <a:xfrm>
            <a:off x="2105946" y="2046427"/>
            <a:ext cx="7979802"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Research &gt; Hypothesis test: H1 and H0 are written before the result, then tested with a Welch t-test, a bootstrap confidence interval and a minimum edge (Lab 4).</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Machine Learning Implementation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Frame the problem and hypothesis</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Collect and clean the data</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Define target and features</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Split by time; train and validate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Test out of sample</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Paper trade, then review</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 model that skips the out-of-sample test and the paper trade has not been tested.</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Pipeline Skeleton, Configuration and the Alpaca Paper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01</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Get the simulator running, decide between the offline demo and an Alpaca paper account, and check every integration's status.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53527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3527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Load the demo data</a:t>
            </a:r>
          </a:p>
        </p:txBody>
      </p:sp>
      <p:sp>
        <p:nvSpPr>
          <p:cNvPr id="19" name="TextBox 18"/>
          <p:cNvSpPr txBox="1"/>
          <p:nvPr/>
        </p:nvSpPr>
        <p:spPr>
          <a:xfrm>
            <a:off x="2668219"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951683"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51683"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70972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0972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061411"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Check the integrations</a:t>
            </a:r>
          </a:p>
        </p:txBody>
      </p:sp>
      <p:sp>
        <p:nvSpPr>
          <p:cNvPr id="25" name="TextBox 24"/>
          <p:cNvSpPr txBox="1"/>
          <p:nvPr/>
        </p:nvSpPr>
        <p:spPr>
          <a:xfrm>
            <a:off x="484266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5126126"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6126"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88416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8416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5235854"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Check the AI agent login</a:t>
            </a:r>
          </a:p>
        </p:txBody>
      </p:sp>
      <p:sp>
        <p:nvSpPr>
          <p:cNvPr id="31" name="TextBox 30"/>
          <p:cNvSpPr txBox="1"/>
          <p:nvPr/>
        </p:nvSpPr>
        <p:spPr>
          <a:xfrm>
            <a:off x="7017105"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7300569"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00569"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5860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5860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7410297"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the market clock</a:t>
            </a:r>
          </a:p>
        </p:txBody>
      </p:sp>
      <p:sp>
        <p:nvSpPr>
          <p:cNvPr id="37" name="TextBox 36"/>
          <p:cNvSpPr txBox="1"/>
          <p:nvPr/>
        </p:nvSpPr>
        <p:spPr>
          <a:xfrm>
            <a:off x="91915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9475012"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75012"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33049"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33049"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9584740"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Tour the Pipeline Map</a:t>
            </a:r>
          </a:p>
        </p:txBody>
      </p:sp>
      <p:sp>
        <p:nvSpPr>
          <p:cNvPr id="43" name="Rectangle 42"/>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6" name="TextBox 45"/>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working app with demo data loaded, a verified Alpaca paper account or the simulator, and a known AI-agent brain.</a:t>
            </a:r>
          </a:p>
        </p:txBody>
      </p:sp>
      <p:sp>
        <p:nvSpPr>
          <p:cNvPr id="47" name="TextBox 46"/>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01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01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01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67004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67004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713232"/>
          </a:xfrm>
          <a:prstGeom prst="rect">
            <a:avLst/>
          </a:prstGeom>
          <a:noFill/>
        </p:spPr>
        <p:txBody>
          <a:bodyPr wrap="square" anchor="ctr">
            <a:spAutoFit/>
          </a:bodyPr>
          <a:lstStyle/>
          <a:p>
            <a:pPr algn="l">
              <a:spcAft>
                <a:spcPts val="200"/>
              </a:spcAft>
            </a:pPr>
            <a:r>
              <a:rPr sz="1150" b="1">
                <a:solidFill>
                  <a:srgbClr val="161B26"/>
                </a:solidFill>
                <a:latin typeface="Arial"/>
              </a:rPr>
              <a:t>Load the demo data</a:t>
            </a:r>
          </a:p>
          <a:p>
            <a:pPr algn="l">
              <a:spcAft>
                <a:spcPts val="200"/>
              </a:spcAft>
            </a:pPr>
            <a:r>
              <a:rPr sz="1000" b="1">
                <a:solidFill>
                  <a:srgbClr val="10B981"/>
                </a:solidFill>
                <a:latin typeface="Arial"/>
              </a:rPr>
              <a:t>▸ Settings &gt; Demo data</a:t>
            </a:r>
          </a:p>
        </p:txBody>
      </p:sp>
      <p:sp>
        <p:nvSpPr>
          <p:cNvPr id="17" name="TextBox 16"/>
          <p:cNvSpPr txBox="1"/>
          <p:nvPr/>
        </p:nvSpPr>
        <p:spPr>
          <a:xfrm>
            <a:off x="4224527" y="2496311"/>
            <a:ext cx="3657600" cy="713232"/>
          </a:xfrm>
          <a:prstGeom prst="rect">
            <a:avLst/>
          </a:prstGeom>
          <a:noFill/>
        </p:spPr>
        <p:txBody>
          <a:bodyPr wrap="square" anchor="ctr">
            <a:spAutoFit/>
          </a:bodyPr>
          <a:lstStyle/>
          <a:p>
            <a:pPr algn="l">
              <a:spcAft>
                <a:spcPts val="400"/>
              </a:spcAft>
            </a:pPr>
            <a:r>
              <a:rPr sz="1000" b="0">
                <a:solidFill>
                  <a:srgbClr val="161B26"/>
                </a:solidFill>
                <a:latin typeface="Arial"/>
              </a:rPr>
              <a:t>Open Settings and press 'Load / refresh demo data'.</a:t>
            </a:r>
          </a:p>
        </p:txBody>
      </p:sp>
      <p:sp>
        <p:nvSpPr>
          <p:cNvPr id="18" name="TextBox 17"/>
          <p:cNvSpPr txBox="1"/>
          <p:nvPr/>
        </p:nvSpPr>
        <p:spPr>
          <a:xfrm>
            <a:off x="8065007" y="2496311"/>
            <a:ext cx="3255264" cy="713232"/>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Settings shows about 29,000 bars and at least 8 backtests.</a:t>
            </a:r>
          </a:p>
        </p:txBody>
      </p:sp>
      <p:sp>
        <p:nvSpPr>
          <p:cNvPr id="19" name="Rectangle 18"/>
          <p:cNvSpPr/>
          <p:nvPr/>
        </p:nvSpPr>
        <p:spPr>
          <a:xfrm>
            <a:off x="777240" y="3255263"/>
            <a:ext cx="10634472"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428999"/>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428999"/>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255263"/>
            <a:ext cx="2606039" cy="713232"/>
          </a:xfrm>
          <a:prstGeom prst="rect">
            <a:avLst/>
          </a:prstGeom>
          <a:noFill/>
        </p:spPr>
        <p:txBody>
          <a:bodyPr wrap="square" anchor="ctr">
            <a:spAutoFit/>
          </a:bodyPr>
          <a:lstStyle/>
          <a:p>
            <a:pPr algn="l">
              <a:spcAft>
                <a:spcPts val="200"/>
              </a:spcAft>
            </a:pPr>
            <a:r>
              <a:rPr sz="1150" b="1">
                <a:solidFill>
                  <a:srgbClr val="161B26"/>
                </a:solidFill>
                <a:latin typeface="Arial"/>
              </a:rPr>
              <a:t>Check the integrations</a:t>
            </a:r>
          </a:p>
          <a:p>
            <a:pPr algn="l">
              <a:spcAft>
                <a:spcPts val="200"/>
              </a:spcAft>
            </a:pPr>
            <a:r>
              <a:rPr sz="1000" b="1">
                <a:solidFill>
                  <a:srgbClr val="10B981"/>
                </a:solidFill>
                <a:latin typeface="Arial"/>
              </a:rPr>
              <a:t>▸ Integrations</a:t>
            </a:r>
          </a:p>
        </p:txBody>
      </p:sp>
      <p:sp>
        <p:nvSpPr>
          <p:cNvPr id="23" name="TextBox 22"/>
          <p:cNvSpPr txBox="1"/>
          <p:nvPr/>
        </p:nvSpPr>
        <p:spPr>
          <a:xfrm>
            <a:off x="4224527" y="3255263"/>
            <a:ext cx="3657600" cy="713232"/>
          </a:xfrm>
          <a:prstGeom prst="rect">
            <a:avLst/>
          </a:prstGeom>
          <a:noFill/>
        </p:spPr>
        <p:txBody>
          <a:bodyPr wrap="square" anchor="ctr">
            <a:spAutoFit/>
          </a:bodyPr>
          <a:lstStyle/>
          <a:p>
            <a:pPr algn="l">
              <a:spcAft>
                <a:spcPts val="400"/>
              </a:spcAft>
            </a:pPr>
            <a:r>
              <a:rPr sz="1000" b="0">
                <a:solidFill>
                  <a:srgbClr val="161B26"/>
                </a:solidFill>
                <a:latin typeface="Arial"/>
              </a:rPr>
              <a:t>Open Integrations. Without keys, Alpaca shows 'not configured' and the app uses the simulator broker and the offline data.</a:t>
            </a:r>
          </a:p>
        </p:txBody>
      </p:sp>
      <p:sp>
        <p:nvSpPr>
          <p:cNvPr id="24" name="TextBox 23"/>
          <p:cNvSpPr txBox="1"/>
          <p:nvPr/>
        </p:nvSpPr>
        <p:spPr>
          <a:xfrm>
            <a:off x="8065007" y="3255263"/>
            <a:ext cx="3255264" cy="713232"/>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Alpaca test says 'Paper account ACTIVE' (online) - or you understand the app runs fully offline.</a:t>
            </a:r>
          </a:p>
        </p:txBody>
      </p:sp>
      <p:sp>
        <p:nvSpPr>
          <p:cNvPr id="25" name="Rectangle 24"/>
          <p:cNvSpPr/>
          <p:nvPr/>
        </p:nvSpPr>
        <p:spPr>
          <a:xfrm>
            <a:off x="777240" y="4014215"/>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18795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18795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014215"/>
            <a:ext cx="2606039" cy="713232"/>
          </a:xfrm>
          <a:prstGeom prst="rect">
            <a:avLst/>
          </a:prstGeom>
          <a:noFill/>
        </p:spPr>
        <p:txBody>
          <a:bodyPr wrap="square" anchor="ctr">
            <a:spAutoFit/>
          </a:bodyPr>
          <a:lstStyle/>
          <a:p>
            <a:pPr algn="l">
              <a:spcAft>
                <a:spcPts val="200"/>
              </a:spcAft>
            </a:pPr>
            <a:r>
              <a:rPr sz="1150" b="1">
                <a:solidFill>
                  <a:srgbClr val="161B26"/>
                </a:solidFill>
                <a:latin typeface="Arial"/>
              </a:rPr>
              <a:t>Check the AI agent login</a:t>
            </a:r>
          </a:p>
          <a:p>
            <a:pPr algn="l">
              <a:spcAft>
                <a:spcPts val="200"/>
              </a:spcAft>
            </a:pPr>
            <a:r>
              <a:rPr sz="1000" b="1">
                <a:solidFill>
                  <a:srgbClr val="10B981"/>
                </a:solidFill>
                <a:latin typeface="Arial"/>
              </a:rPr>
              <a:t>▸ Integrations &gt; AI providers</a:t>
            </a:r>
          </a:p>
        </p:txBody>
      </p:sp>
      <p:sp>
        <p:nvSpPr>
          <p:cNvPr id="29" name="TextBox 28"/>
          <p:cNvSpPr txBox="1"/>
          <p:nvPr/>
        </p:nvSpPr>
        <p:spPr>
          <a:xfrm>
            <a:off x="4224527" y="4014215"/>
            <a:ext cx="3657600" cy="713232"/>
          </a:xfrm>
          <a:prstGeom prst="rect">
            <a:avLst/>
          </a:prstGeom>
          <a:noFill/>
        </p:spPr>
        <p:txBody>
          <a:bodyPr wrap="square" anchor="ctr">
            <a:spAutoFit/>
          </a:bodyPr>
          <a:lstStyle/>
          <a:p>
            <a:pPr algn="l">
              <a:spcAft>
                <a:spcPts val="400"/>
              </a:spcAft>
            </a:pPr>
            <a:r>
              <a:rPr sz="1000" b="0">
                <a:solidFill>
                  <a:srgbClr val="161B26"/>
                </a:solidFill>
                <a:latin typeface="Arial"/>
              </a:rPr>
              <a:t>On the Integrations page read the OpenAI Codex and Claude cards.</a:t>
            </a:r>
          </a:p>
        </p:txBody>
      </p:sp>
      <p:sp>
        <p:nvSpPr>
          <p:cNvPr id="30" name="TextBox 29"/>
          <p:cNvSpPr txBox="1"/>
          <p:nvPr/>
        </p:nvSpPr>
        <p:spPr>
          <a:xfrm>
            <a:off x="8065007" y="4014215"/>
            <a:ext cx="3255264" cy="713232"/>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say which brain the desk will use: codex, claude, openai or the rule-based fallback.</a:t>
            </a:r>
          </a:p>
        </p:txBody>
      </p:sp>
      <p:sp>
        <p:nvSpPr>
          <p:cNvPr id="31" name="Rectangle 30"/>
          <p:cNvSpPr/>
          <p:nvPr/>
        </p:nvSpPr>
        <p:spPr>
          <a:xfrm>
            <a:off x="777240" y="4773168"/>
            <a:ext cx="10634472"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494690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4946904"/>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4773168"/>
            <a:ext cx="2606039" cy="713232"/>
          </a:xfrm>
          <a:prstGeom prst="rect">
            <a:avLst/>
          </a:prstGeom>
          <a:noFill/>
        </p:spPr>
        <p:txBody>
          <a:bodyPr wrap="square" anchor="ctr">
            <a:spAutoFit/>
          </a:bodyPr>
          <a:lstStyle/>
          <a:p>
            <a:pPr algn="l">
              <a:spcAft>
                <a:spcPts val="200"/>
              </a:spcAft>
            </a:pPr>
            <a:r>
              <a:rPr sz="1150" b="1">
                <a:solidFill>
                  <a:srgbClr val="161B26"/>
                </a:solidFill>
                <a:latin typeface="Arial"/>
              </a:rPr>
              <a:t>Read the market clock</a:t>
            </a:r>
          </a:p>
          <a:p>
            <a:pPr algn="l">
              <a:spcAft>
                <a:spcPts val="200"/>
              </a:spcAft>
            </a:pPr>
            <a:r>
              <a:rPr sz="1000" b="1">
                <a:solidFill>
                  <a:srgbClr val="10B981"/>
                </a:solidFill>
                <a:latin typeface="Arial"/>
              </a:rPr>
              <a:t>▸ Paper Trading &gt; clock</a:t>
            </a:r>
          </a:p>
        </p:txBody>
      </p:sp>
      <p:sp>
        <p:nvSpPr>
          <p:cNvPr id="35" name="TextBox 34"/>
          <p:cNvSpPr txBox="1"/>
          <p:nvPr/>
        </p:nvSpPr>
        <p:spPr>
          <a:xfrm>
            <a:off x="4224527" y="4773168"/>
            <a:ext cx="3657600" cy="713232"/>
          </a:xfrm>
          <a:prstGeom prst="rect">
            <a:avLst/>
          </a:prstGeom>
          <a:noFill/>
        </p:spPr>
        <p:txBody>
          <a:bodyPr wrap="square" anchor="ctr">
            <a:spAutoFit/>
          </a:bodyPr>
          <a:lstStyle/>
          <a:p>
            <a:pPr algn="l">
              <a:spcAft>
                <a:spcPts val="400"/>
              </a:spcAft>
            </a:pPr>
            <a:r>
              <a:rPr sz="1000" b="0">
                <a:solidFill>
                  <a:srgbClr val="161B26"/>
                </a:solidFill>
                <a:latin typeface="Arial"/>
              </a:rPr>
              <a:t>Look at the US session badge in the top bar.</a:t>
            </a:r>
          </a:p>
        </p:txBody>
      </p:sp>
      <p:sp>
        <p:nvSpPr>
          <p:cNvPr id="36" name="TextBox 35"/>
          <p:cNvSpPr txBox="1"/>
          <p:nvPr/>
        </p:nvSpPr>
        <p:spPr>
          <a:xfrm>
            <a:off x="8065007" y="4773168"/>
            <a:ext cx="3255264" cy="713232"/>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explain why orders placed during class become extended-hours LIMIT orders.</a:t>
            </a:r>
          </a:p>
        </p:txBody>
      </p:sp>
      <p:sp>
        <p:nvSpPr>
          <p:cNvPr id="37" name="Rectangle 36"/>
          <p:cNvSpPr/>
          <p:nvPr/>
        </p:nvSpPr>
        <p:spPr>
          <a:xfrm>
            <a:off x="777240" y="553212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77824" y="570585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7824" y="570585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1435608" y="5532120"/>
            <a:ext cx="2606039" cy="713232"/>
          </a:xfrm>
          <a:prstGeom prst="rect">
            <a:avLst/>
          </a:prstGeom>
          <a:noFill/>
        </p:spPr>
        <p:txBody>
          <a:bodyPr wrap="square" anchor="ctr">
            <a:spAutoFit/>
          </a:bodyPr>
          <a:lstStyle/>
          <a:p>
            <a:pPr algn="l">
              <a:spcAft>
                <a:spcPts val="200"/>
              </a:spcAft>
            </a:pPr>
            <a:r>
              <a:rPr sz="1150" b="1">
                <a:solidFill>
                  <a:srgbClr val="161B26"/>
                </a:solidFill>
                <a:latin typeface="Arial"/>
              </a:rPr>
              <a:t>Tour the Pipeline Map</a:t>
            </a:r>
          </a:p>
          <a:p>
            <a:pPr algn="l">
              <a:spcAft>
                <a:spcPts val="200"/>
              </a:spcAft>
            </a:pPr>
            <a:r>
              <a:rPr sz="1000" b="1">
                <a:solidFill>
                  <a:srgbClr val="10B981"/>
                </a:solidFill>
                <a:latin typeface="Arial"/>
              </a:rPr>
              <a:t>▸ Pipeline Map</a:t>
            </a:r>
          </a:p>
        </p:txBody>
      </p:sp>
      <p:sp>
        <p:nvSpPr>
          <p:cNvPr id="41" name="TextBox 40"/>
          <p:cNvSpPr txBox="1"/>
          <p:nvPr/>
        </p:nvSpPr>
        <p:spPr>
          <a:xfrm>
            <a:off x="4224527" y="5532120"/>
            <a:ext cx="3657600" cy="713232"/>
          </a:xfrm>
          <a:prstGeom prst="rect">
            <a:avLst/>
          </a:prstGeom>
          <a:noFill/>
        </p:spPr>
        <p:txBody>
          <a:bodyPr wrap="square" anchor="ctr">
            <a:spAutoFit/>
          </a:bodyPr>
          <a:lstStyle/>
          <a:p>
            <a:pPr algn="l">
              <a:spcAft>
                <a:spcPts val="400"/>
              </a:spcAft>
            </a:pPr>
            <a:r>
              <a:rPr sz="1000" b="0">
                <a:solidFill>
                  <a:srgbClr val="161B26"/>
                </a:solidFill>
                <a:latin typeface="Arial"/>
              </a:rPr>
              <a:t>Open the Pipeline Map and hover each of the 14 stages. Click 'Data ingestion' to see its recent activity.</a:t>
            </a:r>
          </a:p>
        </p:txBody>
      </p:sp>
      <p:sp>
        <p:nvSpPr>
          <p:cNvPr id="42" name="TextBox 41"/>
          <p:cNvSpPr txBox="1"/>
          <p:nvPr/>
        </p:nvSpPr>
        <p:spPr>
          <a:xfrm>
            <a:off x="8065007" y="5532120"/>
            <a:ext cx="3255264" cy="713232"/>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Data ingestion and Backtesting are green; you can name the stage that enforces the kill switch.</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01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01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integrations_16x9.png"/>
          <p:cNvPicPr>
            <a:picLocks noChangeAspect="1"/>
          </p:cNvPicPr>
          <p:nvPr/>
        </p:nvPicPr>
        <p:blipFill>
          <a:blip r:embed="rId2"/>
          <a:stretch>
            <a:fillRect/>
          </a:stretch>
        </p:blipFill>
        <p:spPr>
          <a:xfrm>
            <a:off x="777240" y="2159385"/>
            <a:ext cx="6903720" cy="2950708"/>
          </a:xfrm>
          <a:prstGeom prst="rect">
            <a:avLst/>
          </a:prstGeom>
        </p:spPr>
      </p:pic>
      <p:sp>
        <p:nvSpPr>
          <p:cNvPr id="11" name="Rectangle 10"/>
          <p:cNvSpPr/>
          <p:nvPr/>
        </p:nvSpPr>
        <p:spPr>
          <a:xfrm>
            <a:off x="766267" y="2148413"/>
            <a:ext cx="6925665" cy="2972653"/>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54428" y="2542978"/>
            <a:ext cx="5592013" cy="501620"/>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898980" y="24241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98980" y="24241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088946" y="3634739"/>
            <a:ext cx="2761487" cy="649155"/>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933498" y="3515868"/>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33498" y="351586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088946" y="4549459"/>
            <a:ext cx="2761487" cy="472113"/>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933498" y="4430587"/>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33498" y="443058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4919471" y="3133119"/>
            <a:ext cx="2726969" cy="1091761"/>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764023" y="3014247"/>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64023" y="301424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5057546" y="2218400"/>
            <a:ext cx="2519857" cy="162288"/>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902098" y="2099528"/>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02098" y="209952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No keys needed</a:t>
            </a:r>
          </a:p>
          <a:p>
            <a:pPr algn="l">
              <a:spcAft>
                <a:spcPts val="100"/>
              </a:spcAft>
            </a:pPr>
            <a:r>
              <a:rPr sz="1000" b="0">
                <a:solidFill>
                  <a:srgbClr val="161B26"/>
                </a:solidFill>
                <a:latin typeface="Arial"/>
              </a:rPr>
              <a:t>Every lab runs on the offline demo data and the built-in paper broker; keys are optional.</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Paste your Alpaca keys</a:t>
            </a:r>
          </a:p>
          <a:p>
            <a:pPr algn="l">
              <a:spcAft>
                <a:spcPts val="100"/>
              </a:spcAft>
            </a:pPr>
            <a:r>
              <a:rPr sz="1000" b="0">
                <a:solidFill>
                  <a:srgbClr val="161B26"/>
                </a:solidFill>
                <a:latin typeface="Arial"/>
              </a:rPr>
              <a:t>Key ID (starts with PK) and Secret from Alpaca &gt; Paper account &gt; API Keys.</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Save &amp; test</a:t>
            </a:r>
          </a:p>
          <a:p>
            <a:pPr algn="l">
              <a:spcAft>
                <a:spcPts val="100"/>
              </a:spcAft>
            </a:pPr>
            <a:r>
              <a:rPr sz="1000" b="0">
                <a:solidFill>
                  <a:srgbClr val="161B26"/>
                </a:solidFill>
                <a:latin typeface="Arial"/>
              </a:rPr>
              <a:t>Green 'Paper account ACTIVE' = connected. paper=True is hard-coded: no live trading.</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Optional data sources</a:t>
            </a:r>
          </a:p>
          <a:p>
            <a:pPr algn="l">
              <a:spcAft>
                <a:spcPts val="100"/>
              </a:spcAft>
            </a:pPr>
            <a:r>
              <a:rPr sz="1000" b="0">
                <a:solidFill>
                  <a:srgbClr val="161B26"/>
                </a:solidFill>
                <a:latin typeface="Arial"/>
              </a:rPr>
              <a:t>Twelve Data and the other cards are extras; 'connected' shows the key works.</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Status bar</a:t>
            </a:r>
          </a:p>
          <a:p>
            <a:pPr algn="l">
              <a:spcAft>
                <a:spcPts val="100"/>
              </a:spcAft>
            </a:pPr>
            <a:r>
              <a:rPr sz="1000" b="0">
                <a:solidFill>
                  <a:srgbClr val="161B26"/>
                </a:solidFill>
                <a:latin typeface="Arial"/>
              </a:rPr>
              <a:t>US session and clock, broker (Alpaca paper or Offline demo), AI brain and the kill switch.</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Ready when the status bar shows your broker and every lab page opens - online with Alpaca paper or fully offline.</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Data-Validation Stage: Cross-Check Pipeline Bars against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02</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Prove the app's prices are right: compare its bars with TradingView's Data Window and explain adjusted vs unadjusted prices.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TradingView's Data Window</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Compare with RAW and ADJUSTED bars</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Repeat for SGX:D05 (DBS)</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Inspect the chart</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PASS / FAIL validation for SGX:D05 and NASDAQ:AAPL on 2025-12-31, with the dividend-adjustment factor explained.</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02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02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649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6491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Read TradingView's Data Window</a:t>
            </a:r>
          </a:p>
          <a:p>
            <a:pPr algn="l">
              <a:spcAft>
                <a:spcPts val="200"/>
              </a:spcAft>
            </a:pPr>
            <a:r>
              <a:rPr sz="1000" b="1">
                <a:solidFill>
                  <a:srgbClr val="10B981"/>
                </a:solidFill>
                <a:latin typeface="Arial"/>
              </a:rPr>
              <a:t>▸ Data &gt; Validate vs TradingView (AAPL)</a:t>
            </a:r>
          </a:p>
        </p:txBody>
      </p:sp>
      <p:sp>
        <p:nvSpPr>
          <p:cNvPr id="17" name="TextBox 16"/>
          <p:cNvSpPr txBox="1"/>
          <p:nvPr/>
        </p:nvSpPr>
        <p:spPr>
          <a:xfrm>
            <a:off x="4224527" y="249631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In TradingView open NASDAQ:AAPL, daily timeframe, hover the bar of 2025-12-31 and read open/high/low/close in the Data Window (default settings: dividends NOT adjusted).</a:t>
            </a:r>
          </a:p>
        </p:txBody>
      </p:sp>
      <p:sp>
        <p:nvSpPr>
          <p:cNvPr id="18" name="TextBox 17"/>
          <p:cNvSpPr txBox="1"/>
          <p:nvPr/>
        </p:nvSpPr>
        <p:spPr>
          <a:xfrm>
            <a:off x="8065007" y="249631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have four numbers from TradingView.</a:t>
            </a:r>
          </a:p>
        </p:txBody>
      </p:sp>
      <p:sp>
        <p:nvSpPr>
          <p:cNvPr id="19" name="Rectangle 18"/>
          <p:cNvSpPr/>
          <p:nvPr/>
        </p:nvSpPr>
        <p:spPr>
          <a:xfrm>
            <a:off x="777240" y="344500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136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1360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4500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Compare with RAW and ADJUSTED bars</a:t>
            </a:r>
          </a:p>
          <a:p>
            <a:pPr algn="l">
              <a:spcAft>
                <a:spcPts val="200"/>
              </a:spcAft>
            </a:pPr>
            <a:r>
              <a:rPr sz="1000" b="1">
                <a:solidFill>
                  <a:srgbClr val="10B981"/>
                </a:solidFill>
                <a:latin typeface="Arial"/>
              </a:rPr>
              <a:t>▸ Data &gt; Validate vs TradingView</a:t>
            </a:r>
          </a:p>
        </p:txBody>
      </p:sp>
      <p:sp>
        <p:nvSpPr>
          <p:cNvPr id="23" name="TextBox 22"/>
          <p:cNvSpPr txBox="1"/>
          <p:nvPr/>
        </p:nvSpPr>
        <p:spPr>
          <a:xfrm>
            <a:off x="4224527" y="344500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Type your TradingView values into the 'Your TradingView reading' row. The app shows the difference against RAW (split-adjusted only) and ADJUSTED (split + dividend) bars.</a:t>
            </a:r>
          </a:p>
        </p:txBody>
      </p:sp>
      <p:sp>
        <p:nvSpPr>
          <p:cNvPr id="24" name="TextBox 23"/>
          <p:cNvSpPr txBox="1"/>
          <p:nvPr/>
        </p:nvSpPr>
        <p:spPr>
          <a:xfrm>
            <a:off x="8065007" y="344500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Verdict 'PASS - TradingView matches RAW' (to within 0.1%).</a:t>
            </a:r>
          </a:p>
        </p:txBody>
      </p:sp>
      <p:sp>
        <p:nvSpPr>
          <p:cNvPr id="25" name="Rectangle 24"/>
          <p:cNvSpPr/>
          <p:nvPr/>
        </p:nvSpPr>
        <p:spPr>
          <a:xfrm>
            <a:off x="777240" y="4393692"/>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6229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6229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393692"/>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Repeat for SGX:D05 (DBS)</a:t>
            </a:r>
          </a:p>
          <a:p>
            <a:pPr algn="l">
              <a:spcAft>
                <a:spcPts val="200"/>
              </a:spcAft>
            </a:pPr>
            <a:r>
              <a:rPr sz="1000" b="1">
                <a:solidFill>
                  <a:srgbClr val="10B981"/>
                </a:solidFill>
                <a:latin typeface="Arial"/>
              </a:rPr>
              <a:t>▸ Data &gt; Validate vs TradingView (D05)</a:t>
            </a:r>
          </a:p>
        </p:txBody>
      </p:sp>
      <p:sp>
        <p:nvSpPr>
          <p:cNvPr id="29" name="TextBox 28"/>
          <p:cNvSpPr txBox="1"/>
          <p:nvPr/>
        </p:nvSpPr>
        <p:spPr>
          <a:xfrm>
            <a:off x="4224527" y="4393692"/>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Select SGX:D05. DBS pays large dividends, so the adjustment factor is far from 1.</a:t>
            </a:r>
          </a:p>
        </p:txBody>
      </p:sp>
      <p:sp>
        <p:nvSpPr>
          <p:cNvPr id="30" name="TextBox 29"/>
          <p:cNvSpPr txBox="1"/>
          <p:nvPr/>
        </p:nvSpPr>
        <p:spPr>
          <a:xfrm>
            <a:off x="8065007" y="4393692"/>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explain why the ADJUSTED close is lower than the RAW close and why a model trained on adjusted prices must never be fed raw live prices.</a:t>
            </a:r>
          </a:p>
        </p:txBody>
      </p:sp>
      <p:sp>
        <p:nvSpPr>
          <p:cNvPr id="31" name="Rectangle 30"/>
          <p:cNvSpPr/>
          <p:nvPr/>
        </p:nvSpPr>
        <p:spPr>
          <a:xfrm>
            <a:off x="777240" y="534238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561098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61098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534238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Inspect the chart</a:t>
            </a:r>
          </a:p>
          <a:p>
            <a:pPr algn="l">
              <a:spcAft>
                <a:spcPts val="200"/>
              </a:spcAft>
            </a:pPr>
            <a:r>
              <a:rPr sz="1000" b="1">
                <a:solidFill>
                  <a:srgbClr val="10B981"/>
                </a:solidFill>
                <a:latin typeface="Arial"/>
              </a:rPr>
              <a:t>▸ Data &gt; Chart AAPL</a:t>
            </a:r>
          </a:p>
        </p:txBody>
      </p:sp>
      <p:sp>
        <p:nvSpPr>
          <p:cNvPr id="35" name="TextBox 34"/>
          <p:cNvSpPr txBox="1"/>
          <p:nvPr/>
        </p:nvSpPr>
        <p:spPr>
          <a:xfrm>
            <a:off x="4224527" y="534238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Open the AAPL chart and compare its shape with TradingView.</a:t>
            </a:r>
          </a:p>
        </p:txBody>
      </p:sp>
      <p:sp>
        <p:nvSpPr>
          <p:cNvPr id="36" name="TextBox 35"/>
          <p:cNvSpPr txBox="1"/>
          <p:nvPr/>
        </p:nvSpPr>
        <p:spPr>
          <a:xfrm>
            <a:off x="8065007" y="534238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candles match TradingView's daily chart (allowing for the adjustment).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02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2_tradingview_validation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61105" y="2931109"/>
            <a:ext cx="1652503" cy="333298"/>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5657" y="2812237"/>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657" y="281223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167688" y="3486607"/>
            <a:ext cx="6122822" cy="203682"/>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12240" y="3367735"/>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2240" y="336773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1167688" y="3690289"/>
            <a:ext cx="6122822" cy="185165"/>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2240" y="3571417"/>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2240" y="357141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1167688" y="3893972"/>
            <a:ext cx="6122822" cy="592531"/>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12240" y="3775100"/>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2240" y="377510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1167688" y="4523536"/>
            <a:ext cx="6122822" cy="259232"/>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12240" y="4404664"/>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2240" y="440466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Instrument and date</a:t>
            </a:r>
          </a:p>
          <a:p>
            <a:pPr algn="l">
              <a:spcAft>
                <a:spcPts val="100"/>
              </a:spcAft>
            </a:pPr>
            <a:r>
              <a:rPr sz="1000" b="0">
                <a:solidFill>
                  <a:srgbClr val="161B26"/>
                </a:solidFill>
                <a:latin typeface="Arial"/>
              </a:rPr>
              <a:t>SGX:D05 (DBS) or NASDAQ:AAPL on 31/12/2025 - the bar you read in TradingView.</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RAW bars</a:t>
            </a:r>
          </a:p>
          <a:p>
            <a:pPr algn="l">
              <a:spcAft>
                <a:spcPts val="100"/>
              </a:spcAft>
            </a:pPr>
            <a:r>
              <a:rPr sz="1000" b="0">
                <a:solidFill>
                  <a:srgbClr val="161B26"/>
                </a:solidFill>
                <a:latin typeface="Arial"/>
              </a:rPr>
              <a:t>Split-adjusted only, the TradingView default. Your reading should match this row.</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ADJUSTED bars</a:t>
            </a:r>
          </a:p>
          <a:p>
            <a:pPr algn="l">
              <a:spcAft>
                <a:spcPts val="100"/>
              </a:spcAft>
            </a:pPr>
            <a:r>
              <a:rPr sz="1000" b="0">
                <a:solidFill>
                  <a:srgbClr val="161B26"/>
                </a:solidFill>
                <a:latin typeface="Arial"/>
              </a:rPr>
              <a:t>Split + dividend adjusted, used by research and backtests - lower than RAW for DBS.</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Your TradingView reading</a:t>
            </a:r>
          </a:p>
          <a:p>
            <a:pPr algn="l">
              <a:spcAft>
                <a:spcPts val="100"/>
              </a:spcAft>
            </a:pPr>
            <a:r>
              <a:rPr sz="1000" b="0">
                <a:solidFill>
                  <a:srgbClr val="161B26"/>
                </a:solidFill>
                <a:latin typeface="Arial"/>
              </a:rPr>
              <a:t>Type the four prices; the diff rows show the gap. Within 0.1% of RAW = PASS.</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Adjustment factor</a:t>
            </a:r>
          </a:p>
          <a:p>
            <a:pPr algn="l">
              <a:spcAft>
                <a:spcPts val="100"/>
              </a:spcAft>
            </a:pPr>
            <a:r>
              <a:rPr sz="1000" b="0">
                <a:solidFill>
                  <a:srgbClr val="161B26"/>
                </a:solidFill>
                <a:latin typeface="Arial"/>
              </a:rPr>
              <a:t>0.962 for DBS: dividends shrink its history by about 4%.</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PASS when TradingView matches RAW. Never feed raw live prices to a model trained on adjusted prices.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Ingestion Stage: Multi-Timeframe Bars, Headlines and Data Quality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03</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Ingest bars from Alpaca / Twelve Data / yfinance (or the demo files), run the data-quality checks and score news sentiment.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Fetch data</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the data-quality report</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Switch timeframes</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Headlines and sentiment</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cached universe, a data-quality report and scored headlines with daily sentiment.</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03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03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649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6491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Fetch data</a:t>
            </a:r>
          </a:p>
          <a:p>
            <a:pPr algn="l">
              <a:spcAft>
                <a:spcPts val="200"/>
              </a:spcAft>
            </a:pPr>
            <a:r>
              <a:rPr sz="1000" b="1">
                <a:solidFill>
                  <a:srgbClr val="10B981"/>
                </a:solidFill>
                <a:latin typeface="Arial"/>
              </a:rPr>
              <a:t>▸ Data &gt; Fetch AAPL</a:t>
            </a:r>
          </a:p>
        </p:txBody>
      </p:sp>
      <p:sp>
        <p:nvSpPr>
          <p:cNvPr id="17" name="TextBox 16"/>
          <p:cNvSpPr txBox="1"/>
          <p:nvPr/>
        </p:nvSpPr>
        <p:spPr>
          <a:xfrm>
            <a:off x="4224527" y="249631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Data &gt; Instruments &amp; ingestion: fetch AAPL with source 'auto' (Alpaca if keys, else the demo file). Online, try 'yfinance' or 'Twelve Data' too (Twelve Data needs TWELVEDATA_API_KEY).</a:t>
            </a:r>
          </a:p>
        </p:txBody>
      </p:sp>
      <p:sp>
        <p:nvSpPr>
          <p:cNvPr id="18" name="TextBox 17"/>
          <p:cNvSpPr txBox="1"/>
          <p:nvPr/>
        </p:nvSpPr>
        <p:spPr>
          <a:xfrm>
            <a:off x="8065007" y="249631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A toast reports the number of bars, the source and the quality status.</a:t>
            </a:r>
          </a:p>
        </p:txBody>
      </p:sp>
      <p:sp>
        <p:nvSpPr>
          <p:cNvPr id="19" name="Rectangle 18"/>
          <p:cNvSpPr/>
          <p:nvPr/>
        </p:nvSpPr>
        <p:spPr>
          <a:xfrm>
            <a:off x="777240" y="344500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136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1360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4500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Read the data-quality report</a:t>
            </a:r>
          </a:p>
          <a:p>
            <a:pPr algn="l">
              <a:spcAft>
                <a:spcPts val="200"/>
              </a:spcAft>
            </a:pPr>
            <a:r>
              <a:rPr sz="1000" b="1">
                <a:solidFill>
                  <a:srgbClr val="10B981"/>
                </a:solidFill>
                <a:latin typeface="Arial"/>
              </a:rPr>
              <a:t>▸ Data &gt; Quality SPY</a:t>
            </a:r>
          </a:p>
        </p:txBody>
      </p:sp>
      <p:sp>
        <p:nvSpPr>
          <p:cNvPr id="23" name="TextBox 22"/>
          <p:cNvSpPr txBox="1"/>
          <p:nvPr/>
        </p:nvSpPr>
        <p:spPr>
          <a:xfrm>
            <a:off x="4224527" y="344500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Open Data quality for SPY. Look at missing values, duplicate timestamps, gaps over 4 days and big moves (possible unadjusted splits).</a:t>
            </a:r>
          </a:p>
        </p:txBody>
      </p:sp>
      <p:sp>
        <p:nvSpPr>
          <p:cNvPr id="24" name="TextBox 23"/>
          <p:cNvSpPr txBox="1"/>
          <p:nvPr/>
        </p:nvSpPr>
        <p:spPr>
          <a:xfrm>
            <a:off x="8065007" y="344500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Status OK or CHECK; the big-move dates include March 2020.</a:t>
            </a:r>
          </a:p>
        </p:txBody>
      </p:sp>
      <p:sp>
        <p:nvSpPr>
          <p:cNvPr id="25" name="Rectangle 24"/>
          <p:cNvSpPr/>
          <p:nvPr/>
        </p:nvSpPr>
        <p:spPr>
          <a:xfrm>
            <a:off x="777240" y="4393692"/>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6229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6229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393692"/>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Switch timeframes</a:t>
            </a:r>
          </a:p>
          <a:p>
            <a:pPr algn="l">
              <a:spcAft>
                <a:spcPts val="200"/>
              </a:spcAft>
            </a:pPr>
            <a:r>
              <a:rPr sz="1000" b="1">
                <a:solidFill>
                  <a:srgbClr val="10B981"/>
                </a:solidFill>
                <a:latin typeface="Arial"/>
              </a:rPr>
              <a:t>▸ Data &gt; Chart SPY weekly</a:t>
            </a:r>
          </a:p>
        </p:txBody>
      </p:sp>
      <p:sp>
        <p:nvSpPr>
          <p:cNvPr id="29" name="TextBox 28"/>
          <p:cNvSpPr txBox="1"/>
          <p:nvPr/>
        </p:nvSpPr>
        <p:spPr>
          <a:xfrm>
            <a:off x="4224527" y="4393692"/>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On the chart, switch SPY between 1Day, 1Week, 1Month and 1Hour.</a:t>
            </a:r>
          </a:p>
        </p:txBody>
      </p:sp>
      <p:sp>
        <p:nvSpPr>
          <p:cNvPr id="30" name="TextBox 29"/>
          <p:cNvSpPr txBox="1"/>
          <p:nvPr/>
        </p:nvSpPr>
        <p:spPr>
          <a:xfrm>
            <a:off x="8065007" y="4393692"/>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Weekly and monthly bars are resampled from daily bars; hourly bars are US/Eastern.</a:t>
            </a:r>
          </a:p>
        </p:txBody>
      </p:sp>
      <p:sp>
        <p:nvSpPr>
          <p:cNvPr id="31" name="Rectangle 30"/>
          <p:cNvSpPr/>
          <p:nvPr/>
        </p:nvSpPr>
        <p:spPr>
          <a:xfrm>
            <a:off x="777240" y="534238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561098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61098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534238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Headlines and sentiment</a:t>
            </a:r>
          </a:p>
          <a:p>
            <a:pPr algn="l">
              <a:spcAft>
                <a:spcPts val="200"/>
              </a:spcAft>
            </a:pPr>
            <a:r>
              <a:rPr sz="1000" b="1">
                <a:solidFill>
                  <a:srgbClr val="10B981"/>
                </a:solidFill>
                <a:latin typeface="Arial"/>
              </a:rPr>
              <a:t>▸ Data &gt; News NVDA</a:t>
            </a:r>
          </a:p>
        </p:txBody>
      </p:sp>
      <p:sp>
        <p:nvSpPr>
          <p:cNvPr id="35" name="TextBox 34"/>
          <p:cNvSpPr txBox="1"/>
          <p:nvPr/>
        </p:nvSpPr>
        <p:spPr>
          <a:xfrm>
            <a:off x="4224527" y="534238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Data &gt; News &amp; sentiment for NVDA: press 'Fetch &amp; score headlines'. Online with NEWSAPI_KEY it calls NewsAPI.org. otherwise Alpaca News or the synthetic sample headlines.</a:t>
            </a:r>
          </a:p>
        </p:txBody>
      </p:sp>
      <p:sp>
        <p:nvSpPr>
          <p:cNvPr id="36" name="TextBox 35"/>
          <p:cNvSpPr txBox="1"/>
          <p:nvPr/>
        </p:nvSpPr>
        <p:spPr>
          <a:xfrm>
            <a:off x="8065007" y="534238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Each headline has a VADER score between -1 and +1; the daily sentiment chart appears.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03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3_data_ingestion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61105" y="2634843"/>
            <a:ext cx="961217" cy="296265"/>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5657" y="251597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657" y="251597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161105" y="2986659"/>
            <a:ext cx="3133831" cy="185165"/>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657" y="2867787"/>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657" y="286778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1167688" y="3208858"/>
            <a:ext cx="4575657" cy="666597"/>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2240" y="3089986"/>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2240" y="308998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5776264" y="3542157"/>
            <a:ext cx="1514246" cy="333298"/>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620816" y="3423285"/>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20816" y="342328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1167688" y="3931005"/>
            <a:ext cx="3719779" cy="407365"/>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12240" y="3812133"/>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2240" y="3812133"/>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Symbol and timeframe</a:t>
            </a:r>
          </a:p>
          <a:p>
            <a:pPr algn="l">
              <a:spcAft>
                <a:spcPts val="100"/>
              </a:spcAft>
            </a:pPr>
            <a:r>
              <a:rPr sz="1000" b="0">
                <a:solidFill>
                  <a:srgbClr val="161B26"/>
                </a:solidFill>
                <a:latin typeface="Arial"/>
              </a:rPr>
              <a:t>SPY, 1Day. Weekly and monthly bars are resampled from the daily bars.</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Overall status</a:t>
            </a:r>
          </a:p>
          <a:p>
            <a:pPr algn="l">
              <a:spcAft>
                <a:spcPts val="100"/>
              </a:spcAft>
            </a:pPr>
            <a:r>
              <a:rPr sz="1000" b="0">
                <a:solidFill>
                  <a:srgbClr val="161B26"/>
                </a:solidFill>
                <a:latin typeface="Arial"/>
              </a:rPr>
              <a:t>CHECK: 2,011 bars, 2018-01-02 to 2025-12-31 - usable, but something needs a look.</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Seven integrity checks</a:t>
            </a:r>
          </a:p>
          <a:p>
            <a:pPr algn="l">
              <a:spcAft>
                <a:spcPts val="100"/>
              </a:spcAft>
            </a:pPr>
            <a:r>
              <a:rPr sz="1000" b="0">
                <a:solidFill>
                  <a:srgbClr val="161B26"/>
                </a:solidFill>
                <a:latin typeface="Arial"/>
              </a:rPr>
              <a:t>Missing, duplicate, unsorted, high &lt; low, close outside range, zero volume, gaps: all 0.</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Big moves: 5</a:t>
            </a:r>
          </a:p>
          <a:p>
            <a:pPr algn="l">
              <a:spcAft>
                <a:spcPts val="100"/>
              </a:spcAft>
            </a:pPr>
            <a:r>
              <a:rPr sz="1000" b="0">
                <a:solidFill>
                  <a:srgbClr val="161B26"/>
                </a:solidFill>
                <a:latin typeface="Arial"/>
              </a:rPr>
              <a:t>Days beyond the threshold - real news, or an unadjusted split?</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Explain each big move</a:t>
            </a:r>
          </a:p>
          <a:p>
            <a:pPr algn="l">
              <a:spcAft>
                <a:spcPts val="100"/>
              </a:spcAft>
            </a:pPr>
            <a:r>
              <a:rPr sz="1000" b="0">
                <a:solidFill>
                  <a:srgbClr val="161B26"/>
                </a:solidFill>
                <a:latin typeface="Arial"/>
              </a:rPr>
              <a:t>March 2020 (COVID crash) and 2025-04-09 (tariff-pause rally); no split ratios found.</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CHECK is not FAIL: every flagged date has a real-world cause, so the data are fit for research.</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 hour  ·  see you at 13:30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Hypothesis Stage: from a Written Card to an Automated Statistical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04</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Write H0 and H1 before looking at results and test them with a Welch t-test and a bootstrap CI.</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Write the hypothesis card</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test</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Robustness and multiple testing</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decision (SUPPORTED / NOT SUPPORTED) with p-value, edge in bps and a robustness grid.</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04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04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Write the hypothesis card</a:t>
            </a:r>
          </a:p>
          <a:p>
            <a:pPr algn="l">
              <a:spcAft>
                <a:spcPts val="200"/>
              </a:spcAft>
            </a:pPr>
            <a:r>
              <a:rPr sz="1000" b="1">
                <a:solidFill>
                  <a:srgbClr val="10B981"/>
                </a:solidFill>
                <a:latin typeface="Arial"/>
              </a:rPr>
              <a:t>▸ Research &gt; Hypothesis (SPY, losing streak 3)</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Hypothesis test. Keep signal 'losing streak' n = 3, horizon 1 day, alpha 0.05, min edge 3 bps. Read the H1 and H0 text.</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H0 and H1 are written before you press Run.</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Run the test</a:t>
            </a:r>
          </a:p>
          <a:p>
            <a:pPr algn="l">
              <a:spcAft>
                <a:spcPts val="200"/>
              </a:spcAft>
            </a:pPr>
            <a:r>
              <a:rPr sz="1000" b="1">
                <a:solidFill>
                  <a:srgbClr val="10B981"/>
                </a:solidFill>
                <a:latin typeface="Arial"/>
              </a:rPr>
              <a:t>▸ Research &gt; Hypothesis test</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Press 'Run the test'.</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read the signal-day mean, the other-day mean, Welch t and p, and the 95% bootstrap CI.</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Robustness and multiple testing</a:t>
            </a:r>
          </a:p>
          <a:p>
            <a:pPr algn="l">
              <a:spcAft>
                <a:spcPts val="200"/>
              </a:spcAft>
            </a:pPr>
            <a:r>
              <a:rPr sz="1000" b="1">
                <a:solidFill>
                  <a:srgbClr val="10B981"/>
                </a:solidFill>
                <a:latin typeface="Arial"/>
              </a:rPr>
              <a:t>▸ same page</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Read the robustness grid (other streak lengths and QQQ) and the Bonferroni alpha.</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explain why trying many variants inflates false positives.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04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4_hypothesis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523744"/>
            <a:ext cx="1514246" cy="296265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404872"/>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404872"/>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681935" y="2597810"/>
            <a:ext cx="4707331" cy="814730"/>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526487" y="2478938"/>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26487" y="247893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81935" y="3486607"/>
            <a:ext cx="4707331" cy="351815"/>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26487" y="3367735"/>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26487" y="336773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2681935" y="3893972"/>
            <a:ext cx="4707331" cy="462915"/>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26487" y="3775100"/>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26487" y="377510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81935" y="4412437"/>
            <a:ext cx="4707331" cy="925830"/>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26487" y="4293565"/>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26487" y="429356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Hypothesis card</a:t>
            </a:r>
          </a:p>
          <a:p>
            <a:pPr algn="l">
              <a:spcAft>
                <a:spcPts val="100"/>
              </a:spcAft>
            </a:pPr>
            <a:r>
              <a:rPr sz="1000" b="0">
                <a:solidFill>
                  <a:srgbClr val="161B26"/>
                </a:solidFill>
                <a:latin typeface="Arial"/>
              </a:rPr>
              <a:t>SPY, losing streak n = 3, 1-day horizon, alpha 0.05, min edge 3 bps. Write H0 and H1 first.</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H1, H0 and the decision</a:t>
            </a:r>
          </a:p>
          <a:p>
            <a:pPr algn="l">
              <a:spcAft>
                <a:spcPts val="100"/>
              </a:spcAft>
            </a:pPr>
            <a:r>
              <a:rPr sz="1000" b="0">
                <a:solidFill>
                  <a:srgbClr val="161B26"/>
                </a:solidFill>
                <a:latin typeface="Arial"/>
              </a:rPr>
              <a:t>SUPPORTED - reject H0: signal days beat the other days.</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The edge</a:t>
            </a:r>
          </a:p>
          <a:p>
            <a:pPr algn="l">
              <a:spcAft>
                <a:spcPts val="100"/>
              </a:spcAft>
            </a:pPr>
            <a:r>
              <a:rPr sz="1000" b="0">
                <a:solidFill>
                  <a:srgbClr val="161B26"/>
                </a:solidFill>
                <a:latin typeface="Arial"/>
              </a:rPr>
              <a:t>178 signal days return 0.283% vs 0.038%: a 24.4 bps edge, above the 3 bps minimum.</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Is it real?</a:t>
            </a:r>
          </a:p>
          <a:p>
            <a:pPr algn="l">
              <a:spcAft>
                <a:spcPts val="100"/>
              </a:spcAft>
            </a:pPr>
            <a:r>
              <a:rPr sz="1000" b="0">
                <a:solidFill>
                  <a:srgbClr val="161B26"/>
                </a:solidFill>
                <a:latin typeface="Arial"/>
              </a:rPr>
              <a:t>Welch p 0.044 &lt; 0.05 and the bootstrap CI excludes 0. Stricter bar: Bonferroni alpha 0.0083.</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Descriptive statistics</a:t>
            </a:r>
          </a:p>
          <a:p>
            <a:pPr algn="l">
              <a:spcAft>
                <a:spcPts val="100"/>
              </a:spcAft>
            </a:pPr>
            <a:r>
              <a:rPr sz="1000" b="0">
                <a:solidFill>
                  <a:srgbClr val="161B26"/>
                </a:solidFill>
                <a:latin typeface="Arial"/>
              </a:rPr>
              <a:t>Signal days are more volatile (1.56% std) and skewed - one reason to bootstrap.</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Passes at alpha 0.05 but not at the Bonferroni 0.0083: promote it as a candidate and keep testing (Labs 10, 13, 18).</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1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Develop hypotheses for implementing data analytics and computational modelling activities</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Identify possible big data applications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Data analytics and modelling business use cases</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Forms of data within financial services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0B981"/>
                </a:solidFill>
                <a:latin typeface="Arial"/>
              </a:rPr>
              <a:t>TOPIC 2</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Indicators, Strategies and Metrics</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0B981"/>
                </a:solidFill>
                <a:latin typeface="Arial"/>
              </a:rPr>
              <a:t>LEARNING OUTCOME</a:t>
            </a:r>
          </a:p>
          <a:p>
            <a:pPr algn="l">
              <a:spcAft>
                <a:spcPts val="400"/>
              </a:spcAft>
            </a:pPr>
            <a:r>
              <a:rPr sz="1350" b="0">
                <a:solidFill>
                  <a:srgbClr val="161B26"/>
                </a:solidFill>
                <a:latin typeface="Arial"/>
              </a:rPr>
              <a:t>Identify appropriate statistical algorithms and data models to test trading hypotheses, and use appropriate analytics platforms, analytical tools and statistical methods given specific analytics and reporting requirements.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Day 1   ·   Labs 5–9</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02</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Trend and Momentum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SMA / EMA</a:t>
            </a:r>
          </a:p>
          <a:p>
            <a:pPr algn="l">
              <a:spcAft>
                <a:spcPts val="300"/>
              </a:spcAft>
            </a:pPr>
            <a:r>
              <a:rPr sz="1150" b="0">
                <a:solidFill>
                  <a:srgbClr val="5B6372"/>
                </a:solidFill>
                <a:latin typeface="Arial"/>
              </a:rPr>
              <a:t>Average close over n bars; EMA weights recent bars by 2/(n+1).</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MACD</a:t>
            </a:r>
          </a:p>
          <a:p>
            <a:pPr algn="l">
              <a:spcAft>
                <a:spcPts val="300"/>
              </a:spcAft>
            </a:pPr>
            <a:r>
              <a:rPr sz="1150" b="0">
                <a:solidFill>
                  <a:srgbClr val="5B6372"/>
                </a:solidFill>
                <a:latin typeface="Arial"/>
              </a:rPr>
              <a:t>EMA12 − EMA26 with a 9-EMA signal line; crosses flag momentum.</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RSI (14)</a:t>
            </a:r>
          </a:p>
          <a:p>
            <a:pPr algn="l">
              <a:spcAft>
                <a:spcPts val="300"/>
              </a:spcAft>
            </a:pPr>
            <a:r>
              <a:rPr sz="1150" b="0">
                <a:solidFill>
                  <a:srgbClr val="5B6372"/>
                </a:solidFill>
                <a:latin typeface="Arial"/>
              </a:rPr>
              <a:t>100 − 100/(1+RS); above 70 overbought, below 30 oversold.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Donchian channel</a:t>
            </a:r>
          </a:p>
          <a:p>
            <a:pPr algn="l">
              <a:spcAft>
                <a:spcPts val="300"/>
              </a:spcAft>
            </a:pPr>
            <a:r>
              <a:rPr sz="1150" b="0">
                <a:solidFill>
                  <a:srgbClr val="5B6372"/>
                </a:solidFill>
                <a:latin typeface="Arial"/>
              </a:rPr>
              <a:t>Highest high / lowest low of n bars — the breakout level.</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Moving Averages (SMA and EMA)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d_sma_ema.png"/>
          <p:cNvPicPr>
            <a:picLocks noChangeAspect="1"/>
          </p:cNvPicPr>
          <p:nvPr/>
        </p:nvPicPr>
        <p:blipFill>
          <a:blip r:embed="rId2"/>
          <a:stretch>
            <a:fillRect/>
          </a:stretch>
        </p:blipFill>
        <p:spPr>
          <a:xfrm>
            <a:off x="777240" y="2395728"/>
            <a:ext cx="6172200" cy="320954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closing price over the last n bars - a smoothed line that shows the trend. The EMA weights recent bars more, so it turns sooner.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SMA(n) = (C1 + C2 + ... + Cn) / n.  EMA(t) = a x C(t) + (1 - a) x EMA(t-1), with a = 2 / (n + 1).</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Price above a rising average = uptrend. The 50 / 200-day pair is the classic trend filter; EMA 20 tracks the short-term trend.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Every average lags: the longer n, the smoother - and the later each signal. In sideways markets price whipsaws across it.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Indicator: MACD (Moving Average Convergence Divergence)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d_macd.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momentum-of-trend gauge: the gap between a fast and a slow EMA, with a signal line and a histogram that show whether momentum is growing.</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MACD = EMA12(C) - EMA26(C).  Signal = EMA9(MACD).  Histogram = MACD - Signal.</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MACD crossing above its signal line = momentum turning up; MACD above zero = the 12-day trend is above the 26-day trend.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A shrinking histogram warns that a move is losing strength before price turns - but it is built from EMAs, so it lags and whipsaws in ranges.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RSI (Relative Strength Index)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d_rsi.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An oscillator from 0 to 100 that compares the size of recent gains with recent losses - how stretched the latest move is.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RS = average gain / average loss over n bars (Wilder smoothing, n = 14).  RSI = 100 - 100 / (1 + RS).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Above 70 = overbought, below 30 = oversold. Short look-backs such as RSI(2) are used for mean-reversion entries.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In a strong trend RSI can stay above 70 for weeks: overbought is not a sell signal by itself. Test the thresholds - they are conventions.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RSI(N): the Number Is the Look-back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RSI(2) - short look-back</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RSI(14) - Wilder's standard (1978)</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Look-back</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The last 2 bars (days on a daily chart)</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The last 14 bars - about 3 trading weeks</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Reacts to</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1-2 day moves: fast and jumpy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Sustained moves: smooth and slower</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How often extreme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Often: SPY RSI(2) &lt; 10 on 9.6% of days</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Rarely: SPY RSI(14) &lt; 30 on 1.7% of days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Typical levels</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 below 10, exit above 70 (simulator default)</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Buy below 30, sell above 70</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SPY, 10 Oct 2025 (-2.7% after a -0.3% day)</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5.8 - deeply oversold: the RSI(2) rule buys</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42.5 - neutral: no signal</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Next trading day, 13 Oct</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SPY +1.5% - the bounce is captured</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No trade</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Simulator strategy</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RSI(2) mean reversion (Connors style)</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RSI oversold / overbought</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Number in Brackets Is Always the Look-back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RSI(N) formula</a:t>
            </a:r>
          </a:p>
          <a:p>
            <a:pPr algn="l">
              <a:spcAft>
                <a:spcPts val="300"/>
              </a:spcAft>
            </a:pPr>
            <a:r>
              <a:rPr sz="1100" b="0">
                <a:solidFill>
                  <a:srgbClr val="5B6372"/>
                </a:solidFill>
                <a:latin typeface="Arial"/>
              </a:rPr>
              <a:t>RS = average gain / average loss over the last N bars; RSI = 100 - 100 / (1 + RS). Mostly up days: near 100. Mostly down: near 0. Equal: 50.</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SMA(50) and EMA(20)</a:t>
            </a:r>
          </a:p>
          <a:p>
            <a:pPr algn="l">
              <a:spcAft>
                <a:spcPts val="300"/>
              </a:spcAft>
            </a:pPr>
            <a:r>
              <a:rPr sz="1100" b="0">
                <a:solidFill>
                  <a:srgbClr val="5B6372"/>
                </a:solidFill>
                <a:latin typeface="Arial"/>
              </a:rPr>
              <a:t>SMA(50): average of the last 50 closes. EMA(20): exponential average over about 20 bars, weighting recent bars more.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Bollinger(20, 2) and ATR(14)</a:t>
            </a:r>
          </a:p>
          <a:p>
            <a:pPr algn="l">
              <a:spcAft>
                <a:spcPts val="300"/>
              </a:spcAft>
            </a:pPr>
            <a:r>
              <a:rPr sz="1100" b="0">
                <a:solidFill>
                  <a:srgbClr val="5B6372"/>
                </a:solidFill>
                <a:latin typeface="Arial"/>
              </a:rPr>
              <a:t>Bollinger: 20-day average with bands 2 standard deviations away. ATR(14): average true range over 14 bars.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Where to change N</a:t>
            </a:r>
          </a:p>
          <a:p>
            <a:pPr algn="l">
              <a:spcAft>
                <a:spcPts val="300"/>
              </a:spcAft>
            </a:pPr>
            <a:r>
              <a:rPr sz="1100" b="0">
                <a:solidFill>
                  <a:srgbClr val="5B6372"/>
                </a:solidFill>
                <a:latin typeface="Arial"/>
              </a:rPr>
              <a:t>TradingView: the indicator's Settings &gt; Inputs &gt; Length. Simulator: the strategy's parameter (e.g. RSI length n) before you backtest.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Donchian Channel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d_donchian.png"/>
          <p:cNvPicPr>
            <a:picLocks noChangeAspect="1"/>
          </p:cNvPicPr>
          <p:nvPr/>
        </p:nvPicPr>
        <p:blipFill>
          <a:blip r:embed="rId2"/>
          <a:stretch>
            <a:fillRect/>
          </a:stretch>
        </p:blipFill>
        <p:spPr>
          <a:xfrm>
            <a:off x="777240" y="2394160"/>
            <a:ext cx="6172200" cy="321267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channel drawn through the highest high and the lowest low of the last n bars - the levels a breakout must clear.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Upper(n) = max(High, last n bars).  Lower(n) = min(Low, last n bars).  Classic n = 20 (the Turtle traders used 20 and 55).</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close above the prior upper band = upside breakout; exit on a break of a shorter (e.g. 10-day) low.</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Breakout systems win rarely but big. Compare today's close with the channel up to YESTERDAY - including today's high is look-ahead.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Volatility and Volume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Bollinger Bands</a:t>
            </a:r>
          </a:p>
          <a:p>
            <a:pPr algn="l">
              <a:spcAft>
                <a:spcPts val="300"/>
              </a:spcAft>
            </a:pPr>
            <a:r>
              <a:rPr sz="1150" b="0">
                <a:solidFill>
                  <a:srgbClr val="5B6372"/>
                </a:solidFill>
                <a:latin typeface="Arial"/>
              </a:rPr>
              <a:t>SMA20 ± 2 standard deviations; width tracks volatility.</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ATR (14)</a:t>
            </a:r>
          </a:p>
          <a:p>
            <a:pPr algn="l">
              <a:spcAft>
                <a:spcPts val="300"/>
              </a:spcAft>
            </a:pPr>
            <a:r>
              <a:rPr sz="1150" b="0">
                <a:solidFill>
                  <a:srgbClr val="5B6372"/>
                </a:solidFill>
                <a:latin typeface="Arial"/>
              </a:rPr>
              <a:t>Average true range — position sizing and volatility stops.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VWAP</a:t>
            </a:r>
          </a:p>
          <a:p>
            <a:pPr algn="l">
              <a:spcAft>
                <a:spcPts val="300"/>
              </a:spcAft>
            </a:pPr>
            <a:r>
              <a:rPr sz="1150" b="0">
                <a:solidFill>
                  <a:srgbClr val="5B6372"/>
                </a:solidFill>
                <a:latin typeface="Arial"/>
              </a:rPr>
              <a:t>Volume-weighted average price — the execution benchmark.</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OBV</a:t>
            </a:r>
          </a:p>
          <a:p>
            <a:pPr algn="l">
              <a:spcAft>
                <a:spcPts val="300"/>
              </a:spcAft>
            </a:pPr>
            <a:r>
              <a:rPr sz="1150" b="0">
                <a:solidFill>
                  <a:srgbClr val="5B6372"/>
                </a:solidFill>
                <a:latin typeface="Arial"/>
              </a:rPr>
              <a:t>Adds volume on up days, subtracts on down days.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Bollinger Bands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d_bollinger.png"/>
          <p:cNvPicPr>
            <a:picLocks noChangeAspect="1"/>
          </p:cNvPicPr>
          <p:nvPr/>
        </p:nvPicPr>
        <p:blipFill>
          <a:blip r:embed="rId2"/>
          <a:stretch>
            <a:fillRect/>
          </a:stretch>
        </p:blipFill>
        <p:spPr>
          <a:xfrm>
            <a:off x="777240" y="2237444"/>
            <a:ext cx="6172200" cy="35261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moving average with bands set a number of standard deviations above and below it, so the bands widen and narrow with volatility.</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Middle = SMA20(C).  Upper / Lower = Middle +/- 2 x StDev20(C).  %B = (C - Lower) / (Upper - Lower).</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Mean reversion: buy a close below the lower band, exit at the middle. A 'squeeze' (narrow bands) often comes before a big move.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Returns are not normal: closes fall outside the bands far more often than the 5% a normal curve implies. In a trend, 'oversold' keeps falling.</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ATR (Average True Range)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d_atr.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size of a day's price range, including overnight gaps - a volatility ruler in price units.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TR = max(H - L, |H - previous C|, |L - previous C|).  ATR = average of TR over n bars (Wilder smoothing, n = 14).</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Set stops at 2-3 x ATR and size positions as risk budget / (k x ATR), so every trade carries similar risk.</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ATR says how far, not which way. Compare instruments with ATR as a % of price, since ATR rises with the price level.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VWAP (Volume-Weighted Average Price)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d_vwap.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price paid during the session, weighted by the volume traded at each price. It resets at every session open.</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Typical price P = (H + L + C) / 3.  VWAP = sum(P x Volume) / sum(Volume), summed from the session open.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The execution benchmark: buying below VWAP is a good fill. Intraday traders read price above VWAP as buyers in control.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Institutions judge execution algorithms against VWAP. It needs intraday data - on daily bars it is only an approximation.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OBV (On-Balance Volume)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d_obv.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running total of volume that adds a day's volume when the close rises and subtracts it when the close falls.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OBV(t) = OBV(t-1) + Volume(t) if C(t) &gt; C(t-1); - Volume(t) if C(t) &lt; C(t-1); unchanged if equal.</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rising OBV confirms an up-trend; OBV making new highs before price is read as accumulation. Read the slope, not the level.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Volume shows the conviction behind a move. An OBV that falls while price rises (divergence) is a warning, not a signal on its own.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Matching the Method to the Hypothesis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'Does the signal beat the benchmark?'</a:t>
            </a:r>
          </a:p>
          <a:p>
            <a:pPr algn="l">
              <a:spcAft>
                <a:spcPts val="300"/>
              </a:spcAft>
            </a:pPr>
            <a:r>
              <a:rPr sz="1150" b="0">
                <a:solidFill>
                  <a:srgbClr val="5B6372"/>
                </a:solidFill>
                <a:latin typeface="Arial"/>
              </a:rPr>
              <a:t>Backtest + t-test or bootstrap on returns.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'Will tomorrow be up?'</a:t>
            </a:r>
          </a:p>
          <a:p>
            <a:pPr algn="l">
              <a:spcAft>
                <a:spcPts val="300"/>
              </a:spcAft>
            </a:pPr>
            <a:r>
              <a:rPr sz="1150" b="0">
                <a:solidFill>
                  <a:srgbClr val="5B6372"/>
                </a:solidFill>
                <a:latin typeface="Arial"/>
              </a:rPr>
              <a:t>Classifier: logistic regression, random forest, XGBoost.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'What state is the market in?'</a:t>
            </a:r>
          </a:p>
          <a:p>
            <a:pPr algn="l">
              <a:spcAft>
                <a:spcPts val="300"/>
              </a:spcAft>
            </a:pPr>
            <a:r>
              <a:rPr sz="1150" b="0">
                <a:solidFill>
                  <a:srgbClr val="5B6372"/>
                </a:solidFill>
                <a:latin typeface="Arial"/>
              </a:rPr>
              <a:t>Clustering: K-means on return and volatility features.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'Which parameters?'</a:t>
            </a:r>
          </a:p>
          <a:p>
            <a:pPr algn="l">
              <a:spcAft>
                <a:spcPts val="300"/>
              </a:spcAft>
            </a:pPr>
            <a:r>
              <a:rPr sz="1150" b="0">
                <a:solidFill>
                  <a:srgbClr val="5B6372"/>
                </a:solidFill>
                <a:latin typeface="Arial"/>
              </a:rPr>
              <a:t>Grid search in-sample, confirm out-of-sample.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Coding Languages for Algorithms and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Pine Script v6</a:t>
            </a:r>
          </a:p>
          <a:p>
            <a:pPr algn="l">
              <a:spcAft>
                <a:spcPts val="300"/>
              </a:spcAft>
            </a:pPr>
            <a:r>
              <a:rPr sz="1150" b="0">
                <a:solidFill>
                  <a:srgbClr val="5B6372"/>
                </a:solidFill>
                <a:latin typeface="Arial"/>
              </a:rPr>
              <a:t>//@version=6 · ta.ema · ta.crossover · strategy.entry.</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Python</a:t>
            </a:r>
          </a:p>
          <a:p>
            <a:pPr algn="l">
              <a:spcAft>
                <a:spcPts val="300"/>
              </a:spcAft>
            </a:pPr>
            <a:r>
              <a:rPr sz="1150" b="0">
                <a:solidFill>
                  <a:srgbClr val="5B6372"/>
                </a:solidFill>
                <a:latin typeface="Arial"/>
              </a:rPr>
              <a:t>Signals as pandas Series of +1 / 0 / −1 aligned to bars.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 / Java</a:t>
            </a:r>
          </a:p>
          <a:p>
            <a:pPr algn="l">
              <a:spcAft>
                <a:spcPts val="300"/>
              </a:spcAft>
            </a:pPr>
            <a:r>
              <a:rPr sz="1150" b="0">
                <a:solidFill>
                  <a:srgbClr val="5B6372"/>
                </a:solidFill>
                <a:latin typeface="Arial"/>
              </a:rPr>
              <a:t>Low-latency execution engines and exchange gateways.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 SQL, MQL</a:t>
            </a:r>
          </a:p>
          <a:p>
            <a:pPr algn="l">
              <a:spcAft>
                <a:spcPts val="300"/>
              </a:spcAft>
            </a:pPr>
            <a:r>
              <a:rPr sz="1150" b="0">
                <a:solidFill>
                  <a:srgbClr val="5B6372"/>
                </a:solidFill>
                <a:latin typeface="Arial"/>
              </a:rPr>
              <a:t>Statistics, data stores, MetaTrader expert advisors.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Order Types and Time in Force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 and limit</a:t>
            </a:r>
          </a:p>
          <a:p>
            <a:pPr algn="l">
              <a:spcAft>
                <a:spcPts val="300"/>
              </a:spcAft>
            </a:pPr>
            <a:r>
              <a:rPr sz="1150" b="0">
                <a:solidFill>
                  <a:srgbClr val="5B6372"/>
                </a:solidFill>
                <a:latin typeface="Arial"/>
              </a:rPr>
              <a:t>Certainty of fill versus control of price.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Stop, stop-limit, trailing stop</a:t>
            </a:r>
          </a:p>
          <a:p>
            <a:pPr algn="l">
              <a:spcAft>
                <a:spcPts val="300"/>
              </a:spcAft>
            </a:pPr>
            <a:r>
              <a:rPr sz="1150" b="0">
                <a:solidFill>
                  <a:srgbClr val="5B6372"/>
                </a:solidFill>
                <a:latin typeface="Arial"/>
              </a:rPr>
              <a:t>Trigger on a price; protect or enter on breaks.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Bracket / OCO / OTO</a:t>
            </a:r>
          </a:p>
          <a:p>
            <a:pPr algn="l">
              <a:spcAft>
                <a:spcPts val="300"/>
              </a:spcAft>
            </a:pPr>
            <a:r>
              <a:rPr sz="1150" b="0">
                <a:solidFill>
                  <a:srgbClr val="5B6372"/>
                </a:solidFill>
                <a:latin typeface="Arial"/>
              </a:rPr>
              <a:t>Entry with attached take-profit and stop-loss.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day · gtc · opg · cls · ioc · fok</a:t>
            </a:r>
          </a:p>
          <a:p>
            <a:pPr algn="l">
              <a:spcAft>
                <a:spcPts val="300"/>
              </a:spcAft>
            </a:pPr>
            <a:r>
              <a:rPr sz="1150" b="0">
                <a:solidFill>
                  <a:srgbClr val="5B6372"/>
                </a:solidFill>
                <a:latin typeface="Arial"/>
              </a:rPr>
              <a:t>How long an order stays working.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Performance and Risk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Return</a:t>
            </a:r>
          </a:p>
          <a:p>
            <a:pPr algn="l">
              <a:spcAft>
                <a:spcPts val="300"/>
              </a:spcAft>
            </a:pPr>
            <a:r>
              <a:rPr sz="1150" b="0">
                <a:solidFill>
                  <a:srgbClr val="5B6372"/>
                </a:solidFill>
                <a:latin typeface="Arial"/>
              </a:rPr>
              <a:t>Total return · CAGR = (end/start)^(1/years) − 1.</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a:t>
            </a:r>
          </a:p>
          <a:p>
            <a:pPr algn="l">
              <a:spcAft>
                <a:spcPts val="300"/>
              </a:spcAft>
            </a:pPr>
            <a:r>
              <a:rPr sz="1150" b="0">
                <a:solidFill>
                  <a:srgbClr val="5B6372"/>
                </a:solidFill>
                <a:latin typeface="Arial"/>
              </a:rPr>
              <a:t>Volatility = σ(daily) × √252 · maximum drawdown.</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Risk-adjusted</a:t>
            </a:r>
          </a:p>
          <a:p>
            <a:pPr algn="l">
              <a:spcAft>
                <a:spcPts val="300"/>
              </a:spcAft>
            </a:pPr>
            <a:r>
              <a:rPr sz="1150" b="0">
                <a:solidFill>
                  <a:srgbClr val="5B6372"/>
                </a:solidFill>
                <a:latin typeface="Arial"/>
              </a:rPr>
              <a:t>Sharpe · Sortino · Calmar = CAGR / |MaxDD|.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Trade quality</a:t>
            </a:r>
          </a:p>
          <a:p>
            <a:pPr algn="l">
              <a:spcAft>
                <a:spcPts val="300"/>
              </a:spcAft>
            </a:pPr>
            <a:r>
              <a:rPr sz="1150" b="0">
                <a:solidFill>
                  <a:srgbClr val="5B6372"/>
                </a:solidFill>
                <a:latin typeface="Arial"/>
              </a:rPr>
              <a:t>Win rate · profit factor · expectancy · turnover · exposure.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METRIC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Metric: Sharpe Ratio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etric_sharpe.png"/>
          <p:cNvPicPr>
            <a:picLocks noChangeAspect="1"/>
          </p:cNvPicPr>
          <p:nvPr/>
        </p:nvPicPr>
        <p:blipFill>
          <a:blip r:embed="rId2"/>
          <a:stretch>
            <a:fillRect/>
          </a:stretch>
        </p:blipFill>
        <p:spPr>
          <a:xfrm>
            <a:off x="777240" y="2245599"/>
            <a:ext cx="6172200" cy="350980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Return earned per unit of risk taken: the average excess return divided by its volatility, annualised.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Sharpe = (mean daily return - daily risk-free rate) / std of daily returns x sqrt(252).</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Below 0.5 weak, about 1 good, above 2 rare for a daily strategy - check for errors. Always compare with buy-and-hold over the same period.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Volatility counts as risk whether it is up or down, and a short or costless backtest inflates it - 2020 returned 18% but at 33% volatility, a Sharpe of only 0.67.</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METRIC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Metric: Maximum Drawdown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etric_drawdown.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largest fall of the equity curve from a previous peak to a later low - the worst loss an investor would have lived through before a new high.</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Drawdown(t) = equity(t) / running peak(t) - 1.  Max drawdown = the most negative drawdown over the period.</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-20% drawdown needs +25% to recover; -50% needs +100%. Compare with buy-and-hold and with the loss the investor can tolerate.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One path-dependent number: it does not say how long recovery took, and a short backtest may simply miss a bad period. SPY 2018-2025: -33.7% in five weeks of 2020.</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of Trading Algorithms by Purpose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Purpose</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Examples</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Execution algorithms</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Work a large order at low cost and market impact</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VWAP, TWAP, POV, implementation shortfall, iceberg, smart order routing</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Market making</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Quote bids and offers, earn the spread, manage inventory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Passive market making with resting limit orders</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Arbitrage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Capture mispricing between related products or markets</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ETF versus its basket, index futures versus stocks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Directional / alpha</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Take a view on the direction of price</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Trend following, momentum, breakout, mean reversion, news</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Statistical arbitrage and pairs</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Hedged: long one asset, short a related one; trade the spread</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Pairs trading, cointegration, market-neutral baskets</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Factor and portfolio</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Build and rebalance portfolios from return drivers and risk</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Value, momentum, size factors; mean-variance optimisation</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Hedging and risk</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Offset unwanted exposure and enforce limits</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Delta hedging, beta hedging, pairs hedge, kill switch</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SEC Classification of High-Frequency Strategies (2010)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Passive market making</a:t>
            </a:r>
          </a:p>
          <a:p>
            <a:pPr algn="l">
              <a:spcAft>
                <a:spcPts val="300"/>
              </a:spcAft>
            </a:pPr>
            <a:r>
              <a:rPr sz="1050" b="0">
                <a:solidFill>
                  <a:srgbClr val="5B6372"/>
                </a:solidFill>
                <a:latin typeface="Arial"/>
              </a:rPr>
              <a:t>Submits non-marketable resting bids and offers that provide liquidity at specified prices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Arbitrage</a:t>
            </a:r>
          </a:p>
          <a:p>
            <a:pPr algn="l">
              <a:spcAft>
                <a:spcPts val="300"/>
              </a:spcAft>
            </a:pPr>
            <a:r>
              <a:rPr sz="1050" b="0">
                <a:solidFill>
                  <a:srgbClr val="5B6372"/>
                </a:solidFill>
                <a:latin typeface="Arial"/>
              </a:rPr>
              <a:t>Captures pricing inefficiencies between related products or markets, e.g. an ETF and its basket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Structural</a:t>
            </a:r>
          </a:p>
          <a:p>
            <a:pPr algn="l">
              <a:spcAft>
                <a:spcPts val="300"/>
              </a:spcAft>
            </a:pPr>
            <a:r>
              <a:rPr sz="1050" b="0">
                <a:solidFill>
                  <a:srgbClr val="5B6372"/>
                </a:solidFill>
                <a:latin typeface="Arial"/>
              </a:rPr>
              <a:t>Exploits structural vulnerabilities in the market or its participants, e.g. stale quotes via faster data</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Directional</a:t>
            </a:r>
          </a:p>
          <a:p>
            <a:pPr algn="l">
              <a:spcAft>
                <a:spcPts val="300"/>
              </a:spcAft>
            </a:pPr>
            <a:r>
              <a:rPr sz="1050" b="0">
                <a:solidFill>
                  <a:srgbClr val="5B6372"/>
                </a:solidFill>
                <a:latin typeface="Arial"/>
              </a:rPr>
              <a:t>Takes a short-term position anticipating an intraday price move in a particular direction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by Holding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Horizon</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Typical algorithms</a:t>
            </a:r>
          </a:p>
        </p:txBody>
      </p:sp>
      <p:sp>
        <p:nvSpPr>
          <p:cNvPr id="14" name="Rectangle 13"/>
          <p:cNvSpPr/>
          <p:nvPr/>
        </p:nvSpPr>
        <p:spPr>
          <a:xfrm>
            <a:off x="777240" y="228600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High-frequency</a:t>
            </a:r>
          </a:p>
        </p:txBody>
      </p:sp>
      <p:sp>
        <p:nvSpPr>
          <p:cNvPr id="16" name="TextBox 15"/>
          <p:cNvSpPr txBox="1"/>
          <p:nvPr/>
        </p:nvSpPr>
        <p:spPr>
          <a:xfrm>
            <a:off x="3017520" y="228600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Microseconds to seconds</a:t>
            </a:r>
          </a:p>
        </p:txBody>
      </p:sp>
      <p:sp>
        <p:nvSpPr>
          <p:cNvPr id="17" name="TextBox 16"/>
          <p:cNvSpPr txBox="1"/>
          <p:nvPr/>
        </p:nvSpPr>
        <p:spPr>
          <a:xfrm>
            <a:off x="7260336" y="228600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Market making, ETF and latency arbitrage</a:t>
            </a:r>
          </a:p>
        </p:txBody>
      </p:sp>
      <p:sp>
        <p:nvSpPr>
          <p:cNvPr id="18" name="TextBox 17"/>
          <p:cNvSpPr txBox="1"/>
          <p:nvPr/>
        </p:nvSpPr>
        <p:spPr>
          <a:xfrm>
            <a:off x="886968" y="328041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Intraday</a:t>
            </a:r>
          </a:p>
        </p:txBody>
      </p:sp>
      <p:sp>
        <p:nvSpPr>
          <p:cNvPr id="19" name="TextBox 18"/>
          <p:cNvSpPr txBox="1"/>
          <p:nvPr/>
        </p:nvSpPr>
        <p:spPr>
          <a:xfrm>
            <a:off x="3017520" y="328041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Minutes to hours</a:t>
            </a:r>
          </a:p>
        </p:txBody>
      </p:sp>
      <p:sp>
        <p:nvSpPr>
          <p:cNvPr id="20" name="TextBox 19"/>
          <p:cNvSpPr txBox="1"/>
          <p:nvPr/>
        </p:nvSpPr>
        <p:spPr>
          <a:xfrm>
            <a:off x="7260336" y="328041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VWAP / TWAP execution, intraday momentum</a:t>
            </a:r>
          </a:p>
        </p:txBody>
      </p:sp>
      <p:sp>
        <p:nvSpPr>
          <p:cNvPr id="21" name="Rectangle 20"/>
          <p:cNvSpPr/>
          <p:nvPr/>
        </p:nvSpPr>
        <p:spPr>
          <a:xfrm>
            <a:off x="777240" y="427482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27482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Swing</a:t>
            </a:r>
          </a:p>
        </p:txBody>
      </p:sp>
      <p:sp>
        <p:nvSpPr>
          <p:cNvPr id="23" name="TextBox 22"/>
          <p:cNvSpPr txBox="1"/>
          <p:nvPr/>
        </p:nvSpPr>
        <p:spPr>
          <a:xfrm>
            <a:off x="3017520" y="427482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Days to weeks</a:t>
            </a:r>
          </a:p>
        </p:txBody>
      </p:sp>
      <p:sp>
        <p:nvSpPr>
          <p:cNvPr id="24" name="TextBox 23"/>
          <p:cNvSpPr txBox="1"/>
          <p:nvPr/>
        </p:nvSpPr>
        <p:spPr>
          <a:xfrm>
            <a:off x="7260336" y="427482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Mean reversion, pairs trading</a:t>
            </a:r>
          </a:p>
        </p:txBody>
      </p:sp>
      <p:sp>
        <p:nvSpPr>
          <p:cNvPr id="25" name="TextBox 24"/>
          <p:cNvSpPr txBox="1"/>
          <p:nvPr/>
        </p:nvSpPr>
        <p:spPr>
          <a:xfrm>
            <a:off x="886968" y="5269229"/>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Position</a:t>
            </a:r>
          </a:p>
        </p:txBody>
      </p:sp>
      <p:sp>
        <p:nvSpPr>
          <p:cNvPr id="26" name="TextBox 25"/>
          <p:cNvSpPr txBox="1"/>
          <p:nvPr/>
        </p:nvSpPr>
        <p:spPr>
          <a:xfrm>
            <a:off x="3017520" y="5269229"/>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Weeks to months</a:t>
            </a:r>
          </a:p>
        </p:txBody>
      </p:sp>
      <p:sp>
        <p:nvSpPr>
          <p:cNvPr id="27" name="TextBox 26"/>
          <p:cNvSpPr txBox="1"/>
          <p:nvPr/>
        </p:nvSpPr>
        <p:spPr>
          <a:xfrm>
            <a:off x="7260336" y="5269229"/>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Trend following, factor portfolios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by Model Type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Rule-based</a:t>
            </a:r>
          </a:p>
          <a:p>
            <a:pPr algn="l">
              <a:spcAft>
                <a:spcPts val="300"/>
              </a:spcAft>
            </a:pPr>
            <a:r>
              <a:rPr sz="1050" b="0">
                <a:solidFill>
                  <a:srgbClr val="5B6372"/>
                </a:solidFill>
                <a:latin typeface="Arial"/>
              </a:rPr>
              <a:t>Fixed if-then rules on indicators, e.g. a moving-average crossover</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Statistical</a:t>
            </a:r>
          </a:p>
          <a:p>
            <a:pPr algn="l">
              <a:spcAft>
                <a:spcPts val="300"/>
              </a:spcAft>
            </a:pPr>
            <a:r>
              <a:rPr sz="1050" b="0">
                <a:solidFill>
                  <a:srgbClr val="5B6372"/>
                </a:solidFill>
                <a:latin typeface="Arial"/>
              </a:rPr>
              <a:t>Econometric tests and models: cointegration, regression, t-tests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Machine learning</a:t>
            </a:r>
          </a:p>
          <a:p>
            <a:pPr algn="l">
              <a:spcAft>
                <a:spcPts val="300"/>
              </a:spcAft>
            </a:pPr>
            <a:r>
              <a:rPr sz="1050" b="0">
                <a:solidFill>
                  <a:srgbClr val="5B6372"/>
                </a:solidFill>
                <a:latin typeface="Arial"/>
              </a:rPr>
              <a:t>Models learn from labelled data: logistic regression, random forest, XGBoost</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Reinforcement learning</a:t>
            </a:r>
          </a:p>
          <a:p>
            <a:pPr algn="l">
              <a:spcAft>
                <a:spcPts val="300"/>
              </a:spcAft>
            </a:pPr>
            <a:r>
              <a:rPr sz="1050" b="0">
                <a:solidFill>
                  <a:srgbClr val="5B6372"/>
                </a:solidFill>
                <a:latin typeface="Arial"/>
              </a:rPr>
              <a:t>Learns a policy from rewards, e.g. order-execution research</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LLM and agentic</a:t>
            </a:r>
          </a:p>
          <a:p>
            <a:pPr algn="l">
              <a:spcAft>
                <a:spcPts val="300"/>
              </a:spcAft>
            </a:pPr>
            <a:r>
              <a:rPr sz="1050" b="0">
                <a:solidFill>
                  <a:srgbClr val="5B6372"/>
                </a:solidFill>
                <a:latin typeface="Arial"/>
              </a:rPr>
              <a:t>Language models read text and agents plan, code and act under limits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Long and Short Positions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Long</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Short</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What you hold</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Shares you own</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Shares you borrowed and sold - you owe them back</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Opening trade</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Sell (the borrowed shares)</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Closing trade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Sell</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Buy back ('buy to cover') and return the shares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You profit when</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The price rises</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The price falls</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Example</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 SPY at $500, sell at $550: +$50</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Sell SPY at $500, buy back at $450: +$50</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Maximum loss</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What you paid - a price cannot go below $0</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Unlimited - a price can keep rising</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Extra requirements</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Only the cash to pay for the shares</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A margin account (Alpaca: $2,000+ equity); borrow fees on hard-to-borrow stocks (Alpaca: $0 on easy-to-borrow)</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Long and Short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'Long = buy, short = sell' is shorthand</a:t>
            </a:r>
          </a:p>
          <a:p>
            <a:pPr algn="l">
              <a:spcAft>
                <a:spcPts val="300"/>
              </a:spcAft>
            </a:pPr>
            <a:r>
              <a:rPr sz="1100" b="0">
                <a:solidFill>
                  <a:srgbClr val="5B6372"/>
                </a:solidFill>
                <a:latin typeface="Arial"/>
              </a:rPr>
              <a:t>Opening a long is a buy; opening a short is a sell. Selling shares you already own only closes the long - you go flat, not short.</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Pine Script (TradingView)</a:t>
            </a:r>
          </a:p>
          <a:p>
            <a:pPr algn="l">
              <a:spcAft>
                <a:spcPts val="300"/>
              </a:spcAft>
            </a:pPr>
            <a:r>
              <a:rPr sz="1100" b="0">
                <a:solidFill>
                  <a:srgbClr val="5B6372"/>
                </a:solidFill>
                <a:latin typeface="Arial"/>
              </a:rPr>
              <a:t>strategy.entry("Long", strategy.long) opens a buy; strategy.close("Long") sells back to flat; strategy.short opens a short.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Trading Simulator</a:t>
            </a:r>
          </a:p>
          <a:p>
            <a:pPr algn="l">
              <a:spcAft>
                <a:spcPts val="300"/>
              </a:spcAft>
            </a:pPr>
            <a:r>
              <a:rPr sz="1100" b="0">
                <a:solidFill>
                  <a:srgbClr val="5B6372"/>
                </a:solidFill>
                <a:latin typeface="Arial"/>
              </a:rPr>
              <a:t>Most strategies are long-only: buy, then sell back to cash. 'RSI oversold / overbought' has an allow_short option that goes short above RSI 70.</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Pairs trading (Lab 14)</a:t>
            </a:r>
          </a:p>
          <a:p>
            <a:pPr algn="l">
              <a:spcAft>
                <a:spcPts val="300"/>
              </a:spcAft>
            </a:pPr>
            <a:r>
              <a:rPr sz="1100" b="0">
                <a:solidFill>
                  <a:srgbClr val="5B6372"/>
                </a:solidFill>
                <a:latin typeface="Arial"/>
              </a:rPr>
              <a:t>Long the cheap stock and short the rich one at the same time: the trade profits from the gap closing, whichever way the market moves.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Families at a Glance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Trend following</a:t>
            </a:r>
          </a:p>
          <a:p>
            <a:pPr algn="l">
              <a:spcAft>
                <a:spcPts val="300"/>
              </a:spcAft>
            </a:pPr>
            <a:r>
              <a:rPr sz="1000" b="0">
                <a:solidFill>
                  <a:srgbClr val="5B6372"/>
                </a:solidFill>
                <a:latin typeface="Arial"/>
              </a:rPr>
              <a:t>Rides sustained moves in the direction of the trend; cuts losers quickly  -  e.g. Buy when the 50-day moving average crosses above the 200-day</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Mean reversion</a:t>
            </a:r>
          </a:p>
          <a:p>
            <a:pPr algn="l">
              <a:spcAft>
                <a:spcPts val="300"/>
              </a:spcAft>
            </a:pPr>
            <a:r>
              <a:rPr sz="1000" b="0">
                <a:solidFill>
                  <a:srgbClr val="5B6372"/>
                </a:solidFill>
                <a:latin typeface="Arial"/>
              </a:rPr>
              <a:t>Bets that prices stretched far from their average will snap back  -  e.g. Buy when price closes below the lower Bollinger Band (20-day, 2 std dev)</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Momentum and breakout</a:t>
            </a:r>
          </a:p>
          <a:p>
            <a:pPr algn="l">
              <a:spcAft>
                <a:spcPts val="300"/>
              </a:spcAft>
            </a:pPr>
            <a:r>
              <a:rPr sz="1000" b="0">
                <a:solidFill>
                  <a:srgbClr val="5B6372"/>
                </a:solidFill>
                <a:latin typeface="Arial"/>
              </a:rPr>
              <a:t>Buys recent winners or prices breaking out of a range, expecting them to keep going  -  e.g. Buy on a close above the 20-day high (Donchian channel breakout)</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Statistical / pairs arbitrage</a:t>
            </a:r>
          </a:p>
          <a:p>
            <a:pPr algn="l">
              <a:spcAft>
                <a:spcPts val="300"/>
              </a:spcAft>
            </a:pPr>
            <a:r>
              <a:rPr sz="1000" b="0">
                <a:solidFill>
                  <a:srgbClr val="5B6372"/>
                </a:solidFill>
                <a:latin typeface="Arial"/>
              </a:rPr>
              <a:t>Trades the spread between two related assets when it drifts from its normal level  -  e.g. Short the rich leg, buy the cheap leg when the spread z-score exceeds 2</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Families at a Glance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Execution algorithms</a:t>
            </a:r>
          </a:p>
          <a:p>
            <a:pPr algn="l">
              <a:spcAft>
                <a:spcPts val="300"/>
              </a:spcAft>
            </a:pPr>
            <a:r>
              <a:rPr sz="1000" b="0">
                <a:solidFill>
                  <a:srgbClr val="5B6372"/>
                </a:solidFill>
                <a:latin typeface="Arial"/>
              </a:rPr>
              <a:t>Split a large order to minimise cost and market impact: VWAP, TWAP, POV, implementation shortfall  -  e.g. POV: trade 10% of market volume until the order is filled</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Market making</a:t>
            </a:r>
          </a:p>
          <a:p>
            <a:pPr algn="l">
              <a:spcAft>
                <a:spcPts val="300"/>
              </a:spcAft>
            </a:pPr>
            <a:r>
              <a:rPr sz="1000" b="0">
                <a:solidFill>
                  <a:srgbClr val="5B6372"/>
                </a:solidFill>
                <a:latin typeface="Arial"/>
              </a:rPr>
              <a:t>Continuously quotes buy and sell prices, earning the spread while managing inventory  -  e.g. Quote bid and ask around mid-price; skew quotes as inventory builds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Index rebalancing / event-driven</a:t>
            </a:r>
          </a:p>
          <a:p>
            <a:pPr algn="l">
              <a:spcAft>
                <a:spcPts val="300"/>
              </a:spcAft>
            </a:pPr>
            <a:r>
              <a:rPr sz="1000" b="0">
                <a:solidFill>
                  <a:srgbClr val="5B6372"/>
                </a:solidFill>
                <a:latin typeface="Arial"/>
              </a:rPr>
              <a:t>Trades predictable flows around index changes, earnings and corporate events  -  e.g. Position ahead of announced index inclusions on the rebalance date</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Sentiment / NLP</a:t>
            </a:r>
          </a:p>
          <a:p>
            <a:pPr algn="l">
              <a:spcAft>
                <a:spcPts val="300"/>
              </a:spcAft>
            </a:pPr>
            <a:r>
              <a:rPr sz="1000" b="0">
                <a:solidFill>
                  <a:srgbClr val="5B6372"/>
                </a:solidFill>
                <a:latin typeface="Arial"/>
              </a:rPr>
              <a:t>Turns news, filings and social media text into trading signals using NLP or LLMs  -  e.g. Go long when the average FinBERT headline sentiment is strongly positive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Prices that have started to move tend to keep moving. Buy when a fast average is above a slow one (or price is above its 200-day average); exit when the trend turns.</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Long, persistent moves - bull or bear markets, macro trends lasting months. A few big winners pay for many small losses.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Sideways, choppy markets: price crosses the averages again and again (whipsaws), every crossing costs money, and signals arrive late at turns.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EMA 20/50 on SPY</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Mean Reversion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Like a rubber band, short-term over-reactions snap back. Buy when price is stretched below its normal range (lower Bollinger Band, RSI(2) below 10) and sell when it returns to the average.</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Range-bound, liquid markets and stable large stocks, where extremes tend to snap back within days.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A real trend or a news shock: 'cheap' keeps getting cheaper. A high win rate hides rare large losses - as in March 2020.</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Bollinger 20 / k = 2.0 and 1.5 on KO</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Mean Reversion Rules in the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Buy when 'too low'</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Exit</a:t>
            </a:r>
          </a:p>
        </p:txBody>
      </p:sp>
      <p:sp>
        <p:nvSpPr>
          <p:cNvPr id="14" name="Rectangle 13"/>
          <p:cNvSpPr/>
          <p:nvPr/>
        </p:nvSpPr>
        <p:spPr>
          <a:xfrm>
            <a:off x="777240" y="228600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Bollinger Band mean reversion</a:t>
            </a:r>
          </a:p>
        </p:txBody>
      </p:sp>
      <p:sp>
        <p:nvSpPr>
          <p:cNvPr id="16" name="TextBox 15"/>
          <p:cNvSpPr txBox="1"/>
          <p:nvPr/>
        </p:nvSpPr>
        <p:spPr>
          <a:xfrm>
            <a:off x="3017520" y="228600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Close below the lower band (20-day mean - 2 standard deviations)</a:t>
            </a:r>
          </a:p>
        </p:txBody>
      </p:sp>
      <p:sp>
        <p:nvSpPr>
          <p:cNvPr id="17" name="TextBox 16"/>
          <p:cNvSpPr txBox="1"/>
          <p:nvPr/>
        </p:nvSpPr>
        <p:spPr>
          <a:xfrm>
            <a:off x="7260336" y="228600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Price returns to the middle band (the 20-day mean)</a:t>
            </a:r>
          </a:p>
        </p:txBody>
      </p:sp>
      <p:sp>
        <p:nvSpPr>
          <p:cNvPr id="18" name="TextBox 17"/>
          <p:cNvSpPr txBox="1"/>
          <p:nvPr/>
        </p:nvSpPr>
        <p:spPr>
          <a:xfrm>
            <a:off x="886968" y="328041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RSI oversold / overbought</a:t>
            </a:r>
          </a:p>
        </p:txBody>
      </p:sp>
      <p:sp>
        <p:nvSpPr>
          <p:cNvPr id="19" name="TextBox 18"/>
          <p:cNvSpPr txBox="1"/>
          <p:nvPr/>
        </p:nvSpPr>
        <p:spPr>
          <a:xfrm>
            <a:off x="3017520" y="328041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RSI(14) below 30 - oversold</a:t>
            </a:r>
          </a:p>
        </p:txBody>
      </p:sp>
      <p:sp>
        <p:nvSpPr>
          <p:cNvPr id="20" name="TextBox 19"/>
          <p:cNvSpPr txBox="1"/>
          <p:nvPr/>
        </p:nvSpPr>
        <p:spPr>
          <a:xfrm>
            <a:off x="7260336" y="328041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RSI(14) above 70 - overbought</a:t>
            </a:r>
          </a:p>
        </p:txBody>
      </p:sp>
      <p:sp>
        <p:nvSpPr>
          <p:cNvPr id="21" name="Rectangle 20"/>
          <p:cNvSpPr/>
          <p:nvPr/>
        </p:nvSpPr>
        <p:spPr>
          <a:xfrm>
            <a:off x="777240" y="427482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27482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RSI(2) mean reversion</a:t>
            </a:r>
          </a:p>
        </p:txBody>
      </p:sp>
      <p:sp>
        <p:nvSpPr>
          <p:cNvPr id="23" name="TextBox 22"/>
          <p:cNvSpPr txBox="1"/>
          <p:nvPr/>
        </p:nvSpPr>
        <p:spPr>
          <a:xfrm>
            <a:off x="3017520" y="427482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RSI(2) below 10 - a sharp 1-2 day drop</a:t>
            </a:r>
          </a:p>
        </p:txBody>
      </p:sp>
      <p:sp>
        <p:nvSpPr>
          <p:cNvPr id="24" name="TextBox 23"/>
          <p:cNvSpPr txBox="1"/>
          <p:nvPr/>
        </p:nvSpPr>
        <p:spPr>
          <a:xfrm>
            <a:off x="7260336" y="427482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RSI(2) above 70 - the bounce</a:t>
            </a:r>
          </a:p>
        </p:txBody>
      </p:sp>
      <p:sp>
        <p:nvSpPr>
          <p:cNvPr id="25" name="TextBox 24"/>
          <p:cNvSpPr txBox="1"/>
          <p:nvPr/>
        </p:nvSpPr>
        <p:spPr>
          <a:xfrm>
            <a:off x="886968" y="5269229"/>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Dip buy after a losing streak</a:t>
            </a:r>
          </a:p>
        </p:txBody>
      </p:sp>
      <p:sp>
        <p:nvSpPr>
          <p:cNvPr id="26" name="TextBox 25"/>
          <p:cNvSpPr txBox="1"/>
          <p:nvPr/>
        </p:nvSpPr>
        <p:spPr>
          <a:xfrm>
            <a:off x="3017520" y="5269229"/>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3 or more down closes in a row (the Lab 4 hypothesis)</a:t>
            </a:r>
          </a:p>
        </p:txBody>
      </p:sp>
      <p:sp>
        <p:nvSpPr>
          <p:cNvPr id="27" name="TextBox 26"/>
          <p:cNvSpPr txBox="1"/>
          <p:nvPr/>
        </p:nvSpPr>
        <p:spPr>
          <a:xfrm>
            <a:off x="7260336" y="5269229"/>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After the holding horizon, e.g. the next day</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Mean Reversion versus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Mean reversion</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Trend following / momentum</a:t>
            </a:r>
          </a:p>
        </p:txBody>
      </p:sp>
      <p:sp>
        <p:nvSpPr>
          <p:cNvPr id="14" name="Rectangle 13"/>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Belief</a:t>
            </a:r>
          </a:p>
        </p:txBody>
      </p:sp>
      <p:sp>
        <p:nvSpPr>
          <p:cNvPr id="16" name="TextBox 15"/>
          <p:cNvSpPr txBox="1"/>
          <p:nvPr/>
        </p:nvSpPr>
        <p:spPr>
          <a:xfrm>
            <a:off x="3017520" y="22860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Extremes snap back to the average</a:t>
            </a:r>
          </a:p>
        </p:txBody>
      </p:sp>
      <p:sp>
        <p:nvSpPr>
          <p:cNvPr id="17" name="TextBox 16"/>
          <p:cNvSpPr txBox="1"/>
          <p:nvPr/>
        </p:nvSpPr>
        <p:spPr>
          <a:xfrm>
            <a:off x="7260336" y="22860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What is moving keeps moving</a:t>
            </a:r>
          </a:p>
        </p:txBody>
      </p:sp>
      <p:sp>
        <p:nvSpPr>
          <p:cNvPr id="18" name="TextBox 17"/>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After a big drop</a:t>
            </a:r>
          </a:p>
        </p:txBody>
      </p:sp>
      <p:sp>
        <p:nvSpPr>
          <p:cNvPr id="19" name="TextBox 18"/>
          <p:cNvSpPr txBox="1"/>
          <p:nvPr/>
        </p:nvSpPr>
        <p:spPr>
          <a:xfrm>
            <a:off x="3017520" y="294894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Buy</a:t>
            </a:r>
          </a:p>
        </p:txBody>
      </p:sp>
      <p:sp>
        <p:nvSpPr>
          <p:cNvPr id="20" name="TextBox 19"/>
          <p:cNvSpPr txBox="1"/>
          <p:nvPr/>
        </p:nvSpPr>
        <p:spPr>
          <a:xfrm>
            <a:off x="7260336" y="294894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Sell or stay out</a:t>
            </a:r>
          </a:p>
        </p:txBody>
      </p:sp>
      <p:sp>
        <p:nvSpPr>
          <p:cNvPr id="21" name="Rectangle 20"/>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Works best in</a:t>
            </a:r>
          </a:p>
        </p:txBody>
      </p:sp>
      <p:sp>
        <p:nvSpPr>
          <p:cNvPr id="23" name="TextBox 22"/>
          <p:cNvSpPr txBox="1"/>
          <p:nvPr/>
        </p:nvSpPr>
        <p:spPr>
          <a:xfrm>
            <a:off x="3017520" y="361188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Range-bound, sideways markets</a:t>
            </a:r>
          </a:p>
        </p:txBody>
      </p:sp>
      <p:sp>
        <p:nvSpPr>
          <p:cNvPr id="24" name="TextBox 23"/>
          <p:cNvSpPr txBox="1"/>
          <p:nvPr/>
        </p:nvSpPr>
        <p:spPr>
          <a:xfrm>
            <a:off x="7260336" y="361188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Strongly trending markets</a:t>
            </a:r>
          </a:p>
        </p:txBody>
      </p:sp>
      <p:sp>
        <p:nvSpPr>
          <p:cNvPr id="25" name="TextBox 24"/>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Typical horizon</a:t>
            </a:r>
          </a:p>
        </p:txBody>
      </p:sp>
      <p:sp>
        <p:nvSpPr>
          <p:cNvPr id="26" name="TextBox 25"/>
          <p:cNvSpPr txBox="1"/>
          <p:nvPr/>
        </p:nvSpPr>
        <p:spPr>
          <a:xfrm>
            <a:off x="3017520" y="427482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Short: days</a:t>
            </a:r>
          </a:p>
        </p:txBody>
      </p:sp>
      <p:sp>
        <p:nvSpPr>
          <p:cNvPr id="27" name="TextBox 26"/>
          <p:cNvSpPr txBox="1"/>
          <p:nvPr/>
        </p:nvSpPr>
        <p:spPr>
          <a:xfrm>
            <a:off x="7260336" y="427482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Longer: weeks to months</a:t>
            </a:r>
          </a:p>
        </p:txBody>
      </p:sp>
      <p:sp>
        <p:nvSpPr>
          <p:cNvPr id="28" name="Rectangle 27"/>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Win rate</a:t>
            </a:r>
          </a:p>
        </p:txBody>
      </p:sp>
      <p:sp>
        <p:nvSpPr>
          <p:cNvPr id="30" name="TextBox 29"/>
          <p:cNvSpPr txBox="1"/>
          <p:nvPr/>
        </p:nvSpPr>
        <p:spPr>
          <a:xfrm>
            <a:off x="3017520" y="493776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High - many small wins</a:t>
            </a:r>
          </a:p>
        </p:txBody>
      </p:sp>
      <p:sp>
        <p:nvSpPr>
          <p:cNvPr id="31" name="TextBox 30"/>
          <p:cNvSpPr txBox="1"/>
          <p:nvPr/>
        </p:nvSpPr>
        <p:spPr>
          <a:xfrm>
            <a:off x="7260336" y="493776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Low - few but large wins</a:t>
            </a:r>
          </a:p>
        </p:txBody>
      </p:sp>
      <p:sp>
        <p:nvSpPr>
          <p:cNvPr id="32" name="TextBox 31"/>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Main danger</a:t>
            </a:r>
          </a:p>
        </p:txBody>
      </p:sp>
      <p:sp>
        <p:nvSpPr>
          <p:cNvPr id="33" name="TextBox 32"/>
          <p:cNvSpPr txBox="1"/>
          <p:nvPr/>
        </p:nvSpPr>
        <p:spPr>
          <a:xfrm>
            <a:off x="3017520" y="56007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 rare big loss when the dip becomes a crash</a:t>
            </a:r>
          </a:p>
        </p:txBody>
      </p:sp>
      <p:sp>
        <p:nvSpPr>
          <p:cNvPr id="34" name="TextBox 33"/>
          <p:cNvSpPr txBox="1"/>
          <p:nvPr/>
        </p:nvSpPr>
        <p:spPr>
          <a:xfrm>
            <a:off x="7260336" y="56007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Many small losses in choppy markets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Mean Reversion: the Main Risk and Three Safeguards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2452878"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245287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013966" cy="548640"/>
          </a:xfrm>
          <a:prstGeom prst="rect">
            <a:avLst/>
          </a:prstGeom>
          <a:noFill/>
        </p:spPr>
        <p:txBody>
          <a:bodyPr wrap="square" anchor="t">
            <a:spAutoFit/>
          </a:bodyPr>
          <a:lstStyle/>
          <a:p>
            <a:pPr algn="l">
              <a:spcAft>
                <a:spcPts val="400"/>
              </a:spcAft>
            </a:pPr>
            <a:r>
              <a:rPr sz="1600" b="1">
                <a:solidFill>
                  <a:srgbClr val="1F6FEB"/>
                </a:solidFill>
                <a:latin typeface="Arial"/>
              </a:rPr>
              <a:t>The risk</a:t>
            </a:r>
          </a:p>
        </p:txBody>
      </p:sp>
      <p:sp>
        <p:nvSpPr>
          <p:cNvPr id="10" name="TextBox 9"/>
          <p:cNvSpPr txBox="1"/>
          <p:nvPr/>
        </p:nvSpPr>
        <p:spPr>
          <a:xfrm>
            <a:off x="996696"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The rule assumes the average holds. After a real change - a crash, bad news, a broken business - price does not come back: buying the dip becomes catching a falling knife.</a:t>
            </a:r>
          </a:p>
        </p:txBody>
      </p:sp>
      <p:sp>
        <p:nvSpPr>
          <p:cNvPr id="11" name="Rectangle 10"/>
          <p:cNvSpPr/>
          <p:nvPr/>
        </p:nvSpPr>
        <p:spPr>
          <a:xfrm>
            <a:off x="3504438" y="1965960"/>
            <a:ext cx="2452878"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04438" y="1965960"/>
            <a:ext cx="245287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23894" y="2331720"/>
            <a:ext cx="2013966" cy="548640"/>
          </a:xfrm>
          <a:prstGeom prst="rect">
            <a:avLst/>
          </a:prstGeom>
          <a:noFill/>
        </p:spPr>
        <p:txBody>
          <a:bodyPr wrap="square" anchor="t">
            <a:spAutoFit/>
          </a:bodyPr>
          <a:lstStyle/>
          <a:p>
            <a:pPr algn="l">
              <a:spcAft>
                <a:spcPts val="400"/>
              </a:spcAft>
            </a:pPr>
            <a:r>
              <a:rPr sz="1600" b="1">
                <a:solidFill>
                  <a:srgbClr val="10B981"/>
                </a:solidFill>
                <a:latin typeface="Arial"/>
              </a:rPr>
              <a:t>1  Stop-loss or time limit</a:t>
            </a:r>
          </a:p>
        </p:txBody>
      </p:sp>
      <p:sp>
        <p:nvSpPr>
          <p:cNvPr id="14" name="TextBox 13"/>
          <p:cNvSpPr txBox="1"/>
          <p:nvPr/>
        </p:nvSpPr>
        <p:spPr>
          <a:xfrm>
            <a:off x="3723894"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Cap the rare big loss: exit at a fixed loss, or after n days if the bounce has not come.</a:t>
            </a:r>
          </a:p>
        </p:txBody>
      </p:sp>
      <p:sp>
        <p:nvSpPr>
          <p:cNvPr id="15" name="Rectangle 14"/>
          <p:cNvSpPr/>
          <p:nvPr/>
        </p:nvSpPr>
        <p:spPr>
          <a:xfrm>
            <a:off x="6231636" y="1965960"/>
            <a:ext cx="2452878"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965960"/>
            <a:ext cx="245287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1092" y="2331720"/>
            <a:ext cx="2013966" cy="548640"/>
          </a:xfrm>
          <a:prstGeom prst="rect">
            <a:avLst/>
          </a:prstGeom>
          <a:noFill/>
        </p:spPr>
        <p:txBody>
          <a:bodyPr wrap="square" anchor="t">
            <a:spAutoFit/>
          </a:bodyPr>
          <a:lstStyle/>
          <a:p>
            <a:pPr algn="l">
              <a:spcAft>
                <a:spcPts val="400"/>
              </a:spcAft>
            </a:pPr>
            <a:r>
              <a:rPr sz="1600" b="1">
                <a:solidFill>
                  <a:srgbClr val="7C3AED"/>
                </a:solidFill>
                <a:latin typeface="Arial"/>
              </a:rPr>
              <a:t>2  Trend filter</a:t>
            </a:r>
          </a:p>
        </p:txBody>
      </p:sp>
      <p:sp>
        <p:nvSpPr>
          <p:cNvPr id="18" name="TextBox 17"/>
          <p:cNvSpPr txBox="1"/>
          <p:nvPr/>
        </p:nvSpPr>
        <p:spPr>
          <a:xfrm>
            <a:off x="6451092"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Only buy dips while price is above its 200-day SMA, so you are not buying into a bear market.</a:t>
            </a:r>
          </a:p>
        </p:txBody>
      </p:sp>
      <p:sp>
        <p:nvSpPr>
          <p:cNvPr id="19" name="Rectangle 18"/>
          <p:cNvSpPr/>
          <p:nvPr/>
        </p:nvSpPr>
        <p:spPr>
          <a:xfrm>
            <a:off x="8958834" y="1965960"/>
            <a:ext cx="2452878" cy="356616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58834" y="1965960"/>
            <a:ext cx="2452878"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78290" y="2331720"/>
            <a:ext cx="2013966" cy="548640"/>
          </a:xfrm>
          <a:prstGeom prst="rect">
            <a:avLst/>
          </a:prstGeom>
          <a:noFill/>
        </p:spPr>
        <p:txBody>
          <a:bodyPr wrap="square" anchor="t">
            <a:spAutoFit/>
          </a:bodyPr>
          <a:lstStyle/>
          <a:p>
            <a:pPr algn="l">
              <a:spcAft>
                <a:spcPts val="400"/>
              </a:spcAft>
            </a:pPr>
            <a:r>
              <a:rPr sz="1600" b="1">
                <a:solidFill>
                  <a:srgbClr val="F59E0B"/>
                </a:solidFill>
                <a:latin typeface="Arial"/>
              </a:rPr>
              <a:t>3  Stable markets</a:t>
            </a:r>
          </a:p>
        </p:txBody>
      </p:sp>
      <p:sp>
        <p:nvSpPr>
          <p:cNvPr id="22" name="TextBox 21"/>
          <p:cNvSpPr txBox="1"/>
          <p:nvPr/>
        </p:nvSpPr>
        <p:spPr>
          <a:xfrm>
            <a:off x="9178290"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Liquid, defensive stocks such as KO, and pairs trading (Lab 14: the spread between two linked stocks) revert more reliably.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
        <p:nvSpPr>
          <p:cNvPr id="29" name="Rectangle 28"/>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Bollinger on KO - high win rate, but losses larger than wins: many small wins, rare big losses.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Momentum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Winners keep winning for months. Buy what has risen over the last 6-12 months (time-series) or what has risen most among its peers (cross-sectional).</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Persistent market or sector themes, spread across many assets and rebalanced regularly.</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Sharp reversals - 'momentum crashes' such as the 2009 rebound, when last year's losers rally hardest - and choppy markets that churn the portfolio.</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126-day time-series momentum on QQQ</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Breakout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A close above the recent range (for example the 20-day high, the Donchian channel) signals the start of a new move: buy the breakout, exit on a shorter low.</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Volatility expanding after a quiet period and a new trend starting - indices and commodities in strong regimes.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False breakouts in a range: price pokes above the high and falls back. A low win rate, so exits must be disciplined and costs kept low.</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Donchian 20 / 10 on QQQ</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TOPIC 2 · HOW THE ALGORITHMS WORK</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Concepts over code</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Every algorithm below is coded for you - by the simulator or an AI assistant. Learn what it does, when it works and what can go wrong; let AI handle the syntax.</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Algorithm: Moving-Average Crossover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ma_crossover.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Two moving averages of the close: a fast one reacts quickly, a slow one shows the trend.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Fast crosses ABOVE slow (golden cross): buy. Fast crosses BELOW (death cross): sell or go flat.</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Markets trend for months - it rides the move and cuts losers when the trend turns.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Whipsaws in sideways markets; signals lag; trade on the next bar, not the crossing bar.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Bollinger Band Mean Reversion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bollinger.png"/>
          <p:cNvPicPr>
            <a:picLocks noChangeAspect="1"/>
          </p:cNvPicPr>
          <p:nvPr/>
        </p:nvPicPr>
        <p:blipFill>
          <a:blip r:embed="rId2"/>
          <a:stretch>
            <a:fillRect/>
          </a:stretch>
        </p:blipFill>
        <p:spPr>
          <a:xfrm>
            <a:off x="777240" y="2394160"/>
            <a:ext cx="6172200" cy="321267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Bands = 20-day mean +/- 2 standard deviations. A close outside the band is 'stretched'.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Close below the lower band: buy. Exit when the price returns to the middle band (the mean).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Range-bound markets where over-reactions snap back, e.g. a defensive stock such as KO.</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Strong trends keep 'stretching' - add a stop-loss or a trend filter; many small wins, rare big losses.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RSI and MACD Momentum Oscillators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rsi_macd.png"/>
          <p:cNvPicPr>
            <a:picLocks noChangeAspect="1"/>
          </p:cNvPicPr>
          <p:nvPr/>
        </p:nvPicPr>
        <p:blipFill>
          <a:blip r:embed="rId2"/>
          <a:stretch>
            <a:fillRect/>
          </a:stretch>
        </p:blipFill>
        <p:spPr>
          <a:xfrm>
            <a:off x="777240" y="2012079"/>
            <a:ext cx="6172200" cy="397684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RSI = 100 - 100/(1+RS), RS = average gain / average loss over 14 bars. MACD = EMA12 - EMA26.</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RSI &lt; 30 oversold / &gt; 70 overbought. MACD crossing above its 9-EMA signal line = momentum buy.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As filters or confirmation for a trend or mean-reversion rule, not as stand-alone predictors.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Oscillators can stay overbought in strong trends; RSI and MACD are highly correlated with price.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Cross-Sectional Momentum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momentum.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Rank a universe by past return (e.g. 12 months, skipping the last month) each month.</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Hold the top-ranked assets, avoid or short the bottom-ranked; rebalance monthly.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Information spreads slowly and winners keep winning for several months.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Sharp 'momentum crashes' when markets reverse; turnover costs at every rebalance.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Donchian Channel Breakout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breakout.png"/>
          <p:cNvPicPr>
            <a:picLocks noChangeAspect="1"/>
          </p:cNvPicPr>
          <p:nvPr/>
        </p:nvPicPr>
        <p:blipFill>
          <a:blip r:embed="rId2"/>
          <a:stretch>
            <a:fillRect/>
          </a:stretch>
        </p:blipFill>
        <p:spPr>
          <a:xfrm>
            <a:off x="777240" y="2395728"/>
            <a:ext cx="6172200" cy="320954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Track the highest high and lowest low of the last n bars (n = 20 here).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Close above the 20-day high: buy the breakout. Exit below the 20-day low (or a trailing stop).</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New trends start with a break of a range - the rule used by the 1980s 'Turtle Traders'.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False breakouts in choppy markets; the channel must use PREVIOUS bars only (no look-ahead).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VWAP and TWAP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vwap_twap.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Split a large parent order into child orders through the day to reduce market impact.</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TWAP: equal slices per time interval. VWAP: slices proportional to the typical volume curve.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Working client or fund orders too large to trade at once; benchmarked to the day's VWAP.</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VWAP relies on a volume forecast; both are predictable to other traders - add randomisation.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Market Making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market_making.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Quote a bid below and an ask above the mid price at the same time.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Earn the spread when both sides fill; skew quotes down when long, up when short, to cut inventory.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Liquid markets with steady two-way flow - the business of quant market makers.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Adverse selection by better-informed traders; inventory risk in fast moves; needs low latency.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PLATFORMS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versus Alpaca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TradingView</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Alpaca</a:t>
            </a:r>
          </a:p>
        </p:txBody>
      </p:sp>
      <p:sp>
        <p:nvSpPr>
          <p:cNvPr id="14" name="Rectangle 13"/>
          <p:cNvSpPr/>
          <p:nvPr/>
        </p:nvSpPr>
        <p:spPr>
          <a:xfrm>
            <a:off x="777240" y="228600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What it is</a:t>
            </a:r>
          </a:p>
        </p:txBody>
      </p:sp>
      <p:sp>
        <p:nvSpPr>
          <p:cNvPr id="16" name="TextBox 15"/>
          <p:cNvSpPr txBox="1"/>
          <p:nvPr/>
        </p:nvSpPr>
        <p:spPr>
          <a:xfrm>
            <a:off x="3017520" y="228600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Charting and strategy-design platform</a:t>
            </a:r>
          </a:p>
        </p:txBody>
      </p:sp>
      <p:sp>
        <p:nvSpPr>
          <p:cNvPr id="17" name="TextBox 16"/>
          <p:cNvSpPr txBox="1"/>
          <p:nvPr/>
        </p:nvSpPr>
        <p:spPr>
          <a:xfrm>
            <a:off x="7260336" y="228600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API-first US broker for automated trading</a:t>
            </a:r>
          </a:p>
        </p:txBody>
      </p:sp>
      <p:sp>
        <p:nvSpPr>
          <p:cNvPr id="18" name="TextBox 17"/>
          <p:cNvSpPr txBox="1"/>
          <p:nvPr/>
        </p:nvSpPr>
        <p:spPr>
          <a:xfrm>
            <a:off x="886968" y="272796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Markets</a:t>
            </a:r>
          </a:p>
        </p:txBody>
      </p:sp>
      <p:sp>
        <p:nvSpPr>
          <p:cNvPr id="19" name="TextBox 18"/>
          <p:cNvSpPr txBox="1"/>
          <p:nvPr/>
        </p:nvSpPr>
        <p:spPr>
          <a:xfrm>
            <a:off x="3017520" y="272796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Global charts incl. SGX, US, FX, crypto</a:t>
            </a:r>
          </a:p>
        </p:txBody>
      </p:sp>
      <p:sp>
        <p:nvSpPr>
          <p:cNvPr id="20" name="TextBox 19"/>
          <p:cNvSpPr txBox="1"/>
          <p:nvPr/>
        </p:nvSpPr>
        <p:spPr>
          <a:xfrm>
            <a:off x="7260336" y="272796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US stocks and ETFs, options, crypto</a:t>
            </a:r>
          </a:p>
        </p:txBody>
      </p:sp>
      <p:sp>
        <p:nvSpPr>
          <p:cNvPr id="21" name="Rectangle 20"/>
          <p:cNvSpPr/>
          <p:nvPr/>
        </p:nvSpPr>
        <p:spPr>
          <a:xfrm>
            <a:off x="777240" y="316992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16992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Strategy design</a:t>
            </a:r>
          </a:p>
        </p:txBody>
      </p:sp>
      <p:sp>
        <p:nvSpPr>
          <p:cNvPr id="23" name="TextBox 22"/>
          <p:cNvSpPr txBox="1"/>
          <p:nvPr/>
        </p:nvSpPr>
        <p:spPr>
          <a:xfrm>
            <a:off x="3017520" y="316992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Pine Script v6 indicators and strategies</a:t>
            </a:r>
          </a:p>
        </p:txBody>
      </p:sp>
      <p:sp>
        <p:nvSpPr>
          <p:cNvPr id="24" name="TextBox 23"/>
          <p:cNvSpPr txBox="1"/>
          <p:nvPr/>
        </p:nvSpPr>
        <p:spPr>
          <a:xfrm>
            <a:off x="7260336" y="316992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Through the API - in this course the Trading Simulator does it for you</a:t>
            </a:r>
          </a:p>
        </p:txBody>
      </p:sp>
      <p:sp>
        <p:nvSpPr>
          <p:cNvPr id="25" name="TextBox 24"/>
          <p:cNvSpPr txBox="1"/>
          <p:nvPr/>
        </p:nvSpPr>
        <p:spPr>
          <a:xfrm>
            <a:off x="886968" y="361187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Backtesting</a:t>
            </a:r>
          </a:p>
        </p:txBody>
      </p:sp>
      <p:sp>
        <p:nvSpPr>
          <p:cNvPr id="26" name="TextBox 25"/>
          <p:cNvSpPr txBox="1"/>
          <p:nvPr/>
        </p:nvSpPr>
        <p:spPr>
          <a:xfrm>
            <a:off x="3017520" y="361187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Strategy Tester (simplified costs and fills)</a:t>
            </a:r>
          </a:p>
        </p:txBody>
      </p:sp>
      <p:sp>
        <p:nvSpPr>
          <p:cNvPr id="27" name="TextBox 26"/>
          <p:cNvSpPr txBox="1"/>
          <p:nvPr/>
        </p:nvSpPr>
        <p:spPr>
          <a:xfrm>
            <a:off x="7260336" y="361187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None built in - the Trading Simulator runs the cost-aware backtest</a:t>
            </a:r>
          </a:p>
        </p:txBody>
      </p:sp>
      <p:sp>
        <p:nvSpPr>
          <p:cNvPr id="28" name="Rectangle 27"/>
          <p:cNvSpPr/>
          <p:nvPr/>
        </p:nvSpPr>
        <p:spPr>
          <a:xfrm>
            <a:off x="777240" y="405384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05384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Paper trading</a:t>
            </a:r>
          </a:p>
        </p:txBody>
      </p:sp>
      <p:sp>
        <p:nvSpPr>
          <p:cNvPr id="30" name="TextBox 29"/>
          <p:cNvSpPr txBox="1"/>
          <p:nvPr/>
        </p:nvSpPr>
        <p:spPr>
          <a:xfrm>
            <a:off x="3017520" y="405384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Built-in Paper Trading account from the chart</a:t>
            </a:r>
          </a:p>
        </p:txBody>
      </p:sp>
      <p:sp>
        <p:nvSpPr>
          <p:cNvPr id="31" name="TextBox 30"/>
          <p:cNvSpPr txBox="1"/>
          <p:nvPr/>
        </p:nvSpPr>
        <p:spPr>
          <a:xfrm>
            <a:off x="7260336" y="405384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Paper account mirroring the live API</a:t>
            </a:r>
          </a:p>
        </p:txBody>
      </p:sp>
      <p:sp>
        <p:nvSpPr>
          <p:cNvPr id="32" name="TextBox 31"/>
          <p:cNvSpPr txBox="1"/>
          <p:nvPr/>
        </p:nvSpPr>
        <p:spPr>
          <a:xfrm>
            <a:off x="886968" y="449579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Automation</a:t>
            </a:r>
          </a:p>
        </p:txBody>
      </p:sp>
      <p:sp>
        <p:nvSpPr>
          <p:cNvPr id="33" name="TextBox 32"/>
          <p:cNvSpPr txBox="1"/>
          <p:nvPr/>
        </p:nvSpPr>
        <p:spPr>
          <a:xfrm>
            <a:off x="3017520" y="449579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Alerts; webhooks on paid plans</a:t>
            </a:r>
          </a:p>
        </p:txBody>
      </p:sp>
      <p:sp>
        <p:nvSpPr>
          <p:cNvPr id="34" name="TextBox 33"/>
          <p:cNvSpPr txBox="1"/>
          <p:nvPr/>
        </p:nvSpPr>
        <p:spPr>
          <a:xfrm>
            <a:off x="7260336" y="449579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Trading API: orders, positions, clock; 24/5 trading</a:t>
            </a:r>
          </a:p>
        </p:txBody>
      </p:sp>
      <p:sp>
        <p:nvSpPr>
          <p:cNvPr id="35" name="Rectangle 34"/>
          <p:cNvSpPr/>
          <p:nvPr/>
        </p:nvSpPr>
        <p:spPr>
          <a:xfrm>
            <a:off x="777240" y="4937759"/>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493775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Data</a:t>
            </a:r>
          </a:p>
        </p:txBody>
      </p:sp>
      <p:sp>
        <p:nvSpPr>
          <p:cNvPr id="37" name="TextBox 36"/>
          <p:cNvSpPr txBox="1"/>
          <p:nvPr/>
        </p:nvSpPr>
        <p:spPr>
          <a:xfrm>
            <a:off x="3017520" y="493775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Charts and Data Window</a:t>
            </a:r>
          </a:p>
        </p:txBody>
      </p:sp>
      <p:sp>
        <p:nvSpPr>
          <p:cNvPr id="38" name="TextBox 37"/>
          <p:cNvSpPr txBox="1"/>
          <p:nvPr/>
        </p:nvSpPr>
        <p:spPr>
          <a:xfrm>
            <a:off x="7260336" y="493775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Market Data API: bars, quotes, trades, news (IEX free)</a:t>
            </a:r>
          </a:p>
        </p:txBody>
      </p:sp>
      <p:sp>
        <p:nvSpPr>
          <p:cNvPr id="39" name="TextBox 38"/>
          <p:cNvSpPr txBox="1"/>
          <p:nvPr/>
        </p:nvSpPr>
        <p:spPr>
          <a:xfrm>
            <a:off x="886968" y="537972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Machine learning</a:t>
            </a:r>
          </a:p>
        </p:txBody>
      </p:sp>
      <p:sp>
        <p:nvSpPr>
          <p:cNvPr id="40" name="TextBox 39"/>
          <p:cNvSpPr txBox="1"/>
          <p:nvPr/>
        </p:nvSpPr>
        <p:spPr>
          <a:xfrm>
            <a:off x="3017520" y="537972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Not supported</a:t>
            </a:r>
          </a:p>
        </p:txBody>
      </p:sp>
      <p:sp>
        <p:nvSpPr>
          <p:cNvPr id="41" name="TextBox 40"/>
          <p:cNvSpPr txBox="1"/>
          <p:nvPr/>
        </p:nvSpPr>
        <p:spPr>
          <a:xfrm>
            <a:off x="7260336" y="537972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Through code - in this course the Trading Simulator has built-in logistic regression, random forest and XGBoost</a:t>
            </a:r>
          </a:p>
        </p:txBody>
      </p:sp>
      <p:sp>
        <p:nvSpPr>
          <p:cNvPr id="42" name="Rectangle 41"/>
          <p:cNvSpPr/>
          <p:nvPr/>
        </p:nvSpPr>
        <p:spPr>
          <a:xfrm>
            <a:off x="777240" y="582168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6968" y="582168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Best used for</a:t>
            </a:r>
          </a:p>
        </p:txBody>
      </p:sp>
      <p:sp>
        <p:nvSpPr>
          <p:cNvPr id="44" name="TextBox 43"/>
          <p:cNvSpPr txBox="1"/>
          <p:nvPr/>
        </p:nvSpPr>
        <p:spPr>
          <a:xfrm>
            <a:off x="3017520" y="582168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Designing, visualising and first-testing a rule</a:t>
            </a:r>
          </a:p>
        </p:txBody>
      </p:sp>
      <p:sp>
        <p:nvSpPr>
          <p:cNvPr id="45" name="TextBox 44"/>
          <p:cNvSpPr txBox="1"/>
          <p:nvPr/>
        </p:nvSpPr>
        <p:spPr>
          <a:xfrm>
            <a:off x="7260336" y="582168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Executing and forward-testing it automatically</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PAPER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Paper Trading on TradingView,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Supercharts &gt; Trade &gt; Paper Trading &gt; Connect</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Set starting capital and commission</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Order ticket: side, quantity, Market / Limit / Stop</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Add stop loss and take profit; place order</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Track Positions, Orders, Account History</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Close the position; reset when done</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Paper fills use TradingView's prices but cannot show your own market impact - compare them with the backtest's assumed costs.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PAPER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Paper Trading on Alpaca, Step by Step - Manual and Automated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Dashboard: Paper account &gt; search SPY &gt; Buy</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Watch Orders: new &gt; accepted &gt; filled</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Outside US hours: extended-hours LIMIT orders</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Simulator: Paper Trading &gt; Order ticket</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Simulator: + New bot &gt; Start</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Check dashboard; kill switch to stop</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From Singapore the US regular session is 21:30-04:00 (22:30-05:00 in northern winter); class-time orders use Alpaca's 24/5 extended-hours limit orders.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Order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program must read the status — never assume a fill.</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new</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accepted</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partially filled</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filled</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cancelled / expired / rejected</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Bracket orders protect a position even if your program stops running.</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Idea to Tested Rule on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Chart the instrument and timeframe</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Add indicators (Pine)</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Paste the exported strategy() script</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Set commission and slippage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Read the Strategy Tester</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Compare with buy-and-hold</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The Strategy Tester is a first filter; the full test with costs runs in the Trading Simulator.</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Indicator Stage: Pine Script v6 Indicators and their Python Twins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05</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Plot SMA/EMA, Bollinger Bands, RSI and MACD and export a Pine Script v6 strategy for TradingView.</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Overlay trend indicators</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Oscillators</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Export Pine Script v6</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chart with overlays and an oscillator pane, and a Pine Script pasted into TradingView whose values match.</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05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Overlay trend indicators</a:t>
            </a:r>
          </a:p>
          <a:p>
            <a:pPr algn="l">
              <a:spcAft>
                <a:spcPts val="200"/>
              </a:spcAft>
            </a:pPr>
            <a:r>
              <a:rPr sz="1000" b="1">
                <a:solidFill>
                  <a:srgbClr val="10B981"/>
                </a:solidFill>
                <a:latin typeface="Arial"/>
              </a:rPr>
              <a:t>▸ Data &gt; Chart SPY with SMA 50/200 and Bollinger</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Data &gt; Chart for SPY: toggle sma:50, sma:200, ema:20 and bollinger.</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Lines draw over the candles (TradingView Lightweight Charts).</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Oscillators</a:t>
            </a:r>
          </a:p>
          <a:p>
            <a:pPr algn="l">
              <a:spcAft>
                <a:spcPts val="200"/>
              </a:spcAft>
            </a:pPr>
            <a:r>
              <a:rPr sz="1000" b="1">
                <a:solidFill>
                  <a:srgbClr val="10B981"/>
                </a:solidFill>
                <a:latin typeface="Arial"/>
              </a:rPr>
              <a:t>▸ Data &gt; Chart SPY MACD</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Switch the lower pane between RSI(14) and MACD.</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RSI has 30/70 guide lines; the MACD histogram changes colour above and below 0.</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Export Pine Script v6</a:t>
            </a:r>
          </a:p>
          <a:p>
            <a:pPr algn="l">
              <a:spcAft>
                <a:spcPts val="200"/>
              </a:spcAft>
            </a:pPr>
            <a:r>
              <a:rPr sz="1000" b="1">
                <a:solidFill>
                  <a:srgbClr val="10B981"/>
                </a:solidFill>
                <a:latin typeface="Arial"/>
              </a:rPr>
              <a:t>▸ Strategies &gt; EMA crossover</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Strategy Library &gt; EMA crossover &gt; Pine Script v6 &gt; Copy. In TradingView open the Pine Editor, paste, 'Add to chart'.</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TradingView shows the two EMAs; their last values match the app's chart.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5_indicators_pine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61105" y="2782976"/>
            <a:ext cx="1850014" cy="314782"/>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5657" y="2664104"/>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657" y="266410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3044037" y="2616327"/>
            <a:ext cx="2304288" cy="481431"/>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888589" y="2497455"/>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88589" y="249745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6401714" y="3560673"/>
            <a:ext cx="855878" cy="592531"/>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46266" y="3441801"/>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46266" y="344180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5809183" y="2782976"/>
            <a:ext cx="625449" cy="314782"/>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653735" y="2664104"/>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53735" y="266410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6467551" y="2857042"/>
            <a:ext cx="822959" cy="240715"/>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12103" y="2738170"/>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12103" y="273817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Symbol, timeframe, from</a:t>
            </a:r>
          </a:p>
          <a:p>
            <a:pPr algn="l">
              <a:spcAft>
                <a:spcPts val="100"/>
              </a:spcAft>
            </a:pPr>
            <a:r>
              <a:rPr sz="1000" b="0">
                <a:solidFill>
                  <a:srgbClr val="161B26"/>
                </a:solidFill>
                <a:latin typeface="Arial"/>
              </a:rPr>
              <a:t>SPY, 1Day, from 01/01/2024.</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Price overlays</a:t>
            </a:r>
          </a:p>
          <a:p>
            <a:pPr algn="l">
              <a:spcAft>
                <a:spcPts val="100"/>
              </a:spcAft>
            </a:pPr>
            <a:r>
              <a:rPr sz="1000" b="0">
                <a:solidFill>
                  <a:srgbClr val="161B26"/>
                </a:solidFill>
                <a:latin typeface="Arial"/>
              </a:rPr>
              <a:t>Toggle sma:50, sma:200, ema:20 and bollinger; dark buttons are switched on.</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Line labels</a:t>
            </a:r>
          </a:p>
          <a:p>
            <a:pPr algn="l">
              <a:spcAft>
                <a:spcPts val="100"/>
              </a:spcAft>
            </a:pPr>
            <a:r>
              <a:rPr sz="1000" b="0">
                <a:solidFill>
                  <a:srgbClr val="161B26"/>
                </a:solidFill>
                <a:latin typeface="Arial"/>
              </a:rPr>
              <a:t>Each overlay's latest value; the Bollinger upper, middle and lower bands wrap the price.</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Lower pane</a:t>
            </a:r>
          </a:p>
          <a:p>
            <a:pPr algn="l">
              <a:spcAft>
                <a:spcPts val="100"/>
              </a:spcAft>
            </a:pPr>
            <a:r>
              <a:rPr sz="1000" b="0">
                <a:solidFill>
                  <a:srgbClr val="161B26"/>
                </a:solidFill>
                <a:latin typeface="Arial"/>
              </a:rPr>
              <a:t>RSI(14) with 30/70 guide lines, or MACD with its histogram above and below 0.</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Export Pine Script</a:t>
            </a:r>
          </a:p>
          <a:p>
            <a:pPr algn="l">
              <a:spcAft>
                <a:spcPts val="100"/>
              </a:spcAft>
            </a:pPr>
            <a:r>
              <a:rPr sz="1000" b="0">
                <a:solidFill>
                  <a:srgbClr val="161B26"/>
                </a:solidFill>
                <a:latin typeface="Arial"/>
              </a:rPr>
              <a:t>Copy the v6 script, paste it into TradingView's Pine Editor and press 'Add to chart'.</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The indicators agree when TradingView's last EMA and SMA values equal the app's line labels.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TRADINGVIEW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The Exported Strategy in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v_lab05_pine_strategy.png"/>
          <p:cNvPicPr>
            <a:picLocks noChangeAspect="1"/>
          </p:cNvPicPr>
          <p:nvPr/>
        </p:nvPicPr>
        <p:blipFill>
          <a:blip r:embed="rId2"/>
          <a:stretch>
            <a:fillRect/>
          </a:stretch>
        </p:blipFill>
        <p:spPr>
          <a:xfrm>
            <a:off x="1636368" y="1645920"/>
            <a:ext cx="8918958" cy="4114800"/>
          </a:xfrm>
          <a:prstGeom prst="rect">
            <a:avLst/>
          </a:prstGeom>
        </p:spPr>
      </p:pic>
      <p:sp>
        <p:nvSpPr>
          <p:cNvPr id="8" name="Rectangle 7"/>
          <p:cNvSpPr/>
          <p:nvPr/>
        </p:nvSpPr>
        <p:spPr>
          <a:xfrm>
            <a:off x="1625395" y="1634947"/>
            <a:ext cx="8940904"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The EMA crossover exported from the simulator as Pine Script v6, pasted into TradingView's Pine Editor and added to the SPY chart: the Strategy Tester reports PnL, drawdown and profitable trades to compare with the simulator's backtest.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Strategy Prototype: TradingView Strategy Tester, Paper Trading from the Chart and Pipeline Reconciliation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06</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same MA-crossover in TradingView's Strategy Tester and in the app, reconcile the results, and try TradingView Paper Trading.</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the SMA 50/200 crossover in the app</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it in TradingView</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Reconcile and paper trade on TradingView</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Trade counts and net profit that agree within the expected differences (fills, costs, data).</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06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06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Backtest the SMA 50/200 crossover in the app</a:t>
            </a:r>
          </a:p>
          <a:p>
            <a:pPr algn="l">
              <a:spcAft>
                <a:spcPts val="200"/>
              </a:spcAft>
            </a:pPr>
            <a:r>
              <a:rPr sz="1000" b="1">
                <a:solidFill>
                  <a:srgbClr val="10B981"/>
                </a:solidFill>
                <a:latin typeface="Arial"/>
              </a:rPr>
              <a:t>▸ Backtest SPY SMA 50/200, Alpaca costs</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Run the preset backtest: SMA crossover 50/200 on SPY, Alpaca-style costs, next-bar-open fills.</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About 5 round trips 2018-2025; note the net CAGR and Sharpe.</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Run it in TradingView</a:t>
            </a:r>
          </a:p>
          <a:p>
            <a:pPr algn="l">
              <a:spcAft>
                <a:spcPts val="200"/>
              </a:spcAft>
            </a:pPr>
            <a:r>
              <a:rPr sz="1000" b="1">
                <a:solidFill>
                  <a:srgbClr val="10B981"/>
                </a:solidFill>
                <a:latin typeface="Arial"/>
              </a:rPr>
              <a:t>▸ Strategies &gt; SMA crossover &gt; Pine</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Export the SMA crossover Pine Script and add it to an AMEX:SPY daily chart. Open the Strategy Tester.</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Strategy Tester list of trades has the same entry dates (TradingView also fills on the next bar's open).</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Reconcile and paper trade on TradingView</a:t>
            </a:r>
          </a:p>
          <a:p>
            <a:pPr algn="l">
              <a:spcAft>
                <a:spcPts val="200"/>
              </a:spcAft>
            </a:pPr>
            <a:r>
              <a:rPr sz="1000" b="1">
                <a:solidFill>
                  <a:srgbClr val="10B981"/>
                </a:solidFill>
                <a:latin typeface="Arial"/>
              </a:rPr>
              <a:t>▸ Backtest</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Explain any differences (adjusted vs raw data, commission per order, slippage ticks). Optionally connect TradingView Paper Trading and place one order from the chart.</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list at least two reasons the two backtests differ.</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06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6_strategy_tester_reconcile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1514246" cy="203682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68933" y="4338370"/>
            <a:ext cx="1514246" cy="1148029"/>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3485" y="4219498"/>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3485" y="421949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68767" y="2857042"/>
            <a:ext cx="4720498" cy="555498"/>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13319" y="2738170"/>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3319" y="273817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2668767" y="3468090"/>
            <a:ext cx="4720498" cy="592531"/>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13319" y="3349218"/>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3319" y="334921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68767" y="4412437"/>
            <a:ext cx="4720498" cy="1073962"/>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13319" y="4293565"/>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13319" y="429356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Strategy and parameters</a:t>
            </a:r>
          </a:p>
          <a:p>
            <a:pPr algn="l">
              <a:spcAft>
                <a:spcPts val="100"/>
              </a:spcAft>
            </a:pPr>
            <a:r>
              <a:rPr sz="1000" b="0">
                <a:solidFill>
                  <a:srgbClr val="161B26"/>
                </a:solidFill>
                <a:latin typeface="Arial"/>
              </a:rPr>
              <a:t>SMA crossover on SPY, fast 50 / slow 200 - the golden / death cross.</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Costs and execution</a:t>
            </a:r>
          </a:p>
          <a:p>
            <a:pPr algn="l">
              <a:spcAft>
                <a:spcPts val="100"/>
              </a:spcAft>
            </a:pPr>
            <a:r>
              <a:rPr sz="1000" b="0">
                <a:solidFill>
                  <a:srgbClr val="161B26"/>
                </a:solidFill>
                <a:latin typeface="Arial"/>
              </a:rPr>
              <a:t>Alpaca commission-free costs; fills at the next bar's open, as in TradingView.</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Strategy vs buy-and-hold</a:t>
            </a:r>
          </a:p>
          <a:p>
            <a:pPr algn="l">
              <a:spcAft>
                <a:spcPts val="100"/>
              </a:spcAft>
            </a:pPr>
            <a:r>
              <a:rPr sz="1000" b="0">
                <a:solidFill>
                  <a:srgbClr val="161B26"/>
                </a:solidFill>
                <a:latin typeface="Arial"/>
              </a:rPr>
              <a:t>B&amp;H sits under each tile: CAGR 7.62% vs 14.14%, Sharpe 0.55 vs 0.78.</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Trades and break-even</a:t>
            </a:r>
          </a:p>
          <a:p>
            <a:pPr algn="l">
              <a:spcAft>
                <a:spcPts val="100"/>
              </a:spcAft>
            </a:pPr>
            <a:r>
              <a:rPr sz="1000" b="0">
                <a:solidFill>
                  <a:srgbClr val="161B26"/>
                </a:solidFill>
                <a:latin typeface="Arial"/>
              </a:rPr>
              <a:t>Only 5 trades; break-even cost 500 bps - costs barely matter for a slow strategy.</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Equity curve</a:t>
            </a:r>
          </a:p>
          <a:p>
            <a:pPr algn="l">
              <a:spcAft>
                <a:spcPts val="100"/>
              </a:spcAft>
            </a:pPr>
            <a:r>
              <a:rPr sz="1000" b="0">
                <a:solidFill>
                  <a:srgbClr val="161B26"/>
                </a:solidFill>
                <a:latin typeface="Arial"/>
              </a:rPr>
              <a:t>Net, gross and SPY. Compare the entry dates with TradingView's List of Trades.</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Reconciled when the trade dates agree; explain any gap by adjusted vs raw data, commission and slippage.</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06 — The SMA 50/200 Backtest in the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6_backtest.png"/>
          <p:cNvPicPr>
            <a:picLocks noChangeAspect="1"/>
          </p:cNvPicPr>
          <p:nvPr/>
        </p:nvPicPr>
        <p:blipFill>
          <a:blip r:embed="rId2"/>
          <a:stretch>
            <a:fillRect/>
          </a:stretch>
        </p:blipFill>
        <p:spPr>
          <a:xfrm>
            <a:off x="1811038" y="1645920"/>
            <a:ext cx="8569618" cy="4114800"/>
          </a:xfrm>
          <a:prstGeom prst="rect">
            <a:avLst/>
          </a:prstGeom>
        </p:spPr>
      </p:pic>
      <p:sp>
        <p:nvSpPr>
          <p:cNvPr id="8" name="Rectangle 7"/>
          <p:cNvSpPr/>
          <p:nvPr/>
        </p:nvSpPr>
        <p:spPr>
          <a:xfrm>
            <a:off x="1800065" y="1634947"/>
            <a:ext cx="8591564"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Backtest: SMA crossover 50/200 on SPY with Alpaca commission-free costs and next-bar-open fills - return, CAGR, Sharpe, drawdown and trades beside buy-and-hold, ready to reconcile with TradingView's Strategy Tester.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15 minutes  ·  see you at 15:40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Signal Stage: a Library of Trend, Mean-Reversion, Momentum and Breakout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07</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Pick and customise one strategy from each family and compare them after costs.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Trend: EMA 20/50 on SPY</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Mean reversion: Bollinger on KO</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Momentum and breakout</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each strategy's explanation</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Four backtests with tuned parameters and an explanation of when each family works.</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07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07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649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6491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Trend: EMA 20/50 on SPY</a:t>
            </a:r>
          </a:p>
          <a:p>
            <a:pPr algn="l">
              <a:spcAft>
                <a:spcPts val="200"/>
              </a:spcAft>
            </a:pPr>
            <a:r>
              <a:rPr sz="1000" b="1">
                <a:solidFill>
                  <a:srgbClr val="10B981"/>
                </a:solidFill>
                <a:latin typeface="Arial"/>
              </a:rPr>
              <a:t>▸ Backtest SPY EMA 20/50, Alpaca costs</a:t>
            </a:r>
          </a:p>
        </p:txBody>
      </p:sp>
      <p:sp>
        <p:nvSpPr>
          <p:cNvPr id="17" name="TextBox 16"/>
          <p:cNvSpPr txBox="1"/>
          <p:nvPr/>
        </p:nvSpPr>
        <p:spPr>
          <a:xfrm>
            <a:off x="4224527" y="249631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Run the preset.</a:t>
            </a:r>
          </a:p>
        </p:txBody>
      </p:sp>
      <p:sp>
        <p:nvSpPr>
          <p:cNvPr id="18" name="TextBox 17"/>
          <p:cNvSpPr txBox="1"/>
          <p:nvPr/>
        </p:nvSpPr>
        <p:spPr>
          <a:xfrm>
            <a:off x="8065007" y="249631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Note Sharpe and max drawdown vs buy-and-hold.</a:t>
            </a:r>
          </a:p>
        </p:txBody>
      </p:sp>
      <p:sp>
        <p:nvSpPr>
          <p:cNvPr id="19" name="Rectangle 18"/>
          <p:cNvSpPr/>
          <p:nvPr/>
        </p:nvSpPr>
        <p:spPr>
          <a:xfrm>
            <a:off x="777240" y="344500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136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1360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4500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Mean reversion: Bollinger on KO</a:t>
            </a:r>
          </a:p>
          <a:p>
            <a:pPr algn="l">
              <a:spcAft>
                <a:spcPts val="200"/>
              </a:spcAft>
            </a:pPr>
            <a:r>
              <a:rPr sz="1000" b="1">
                <a:solidFill>
                  <a:srgbClr val="10B981"/>
                </a:solidFill>
                <a:latin typeface="Arial"/>
              </a:rPr>
              <a:t>▸ Backtest KO Bollinger 20/2</a:t>
            </a:r>
          </a:p>
        </p:txBody>
      </p:sp>
      <p:sp>
        <p:nvSpPr>
          <p:cNvPr id="23" name="TextBox 22"/>
          <p:cNvSpPr txBox="1"/>
          <p:nvPr/>
        </p:nvSpPr>
        <p:spPr>
          <a:xfrm>
            <a:off x="4224527" y="344500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Run Bollinger Band mean reversion on KO (window 20, k 2.0), then change k to 1.5 and run it again. Set Benchmark to KO so the buy-and-hold figures under each metric are KO's, not SPY's.</a:t>
            </a:r>
          </a:p>
        </p:txBody>
      </p:sp>
      <p:sp>
        <p:nvSpPr>
          <p:cNvPr id="24" name="TextBox 23"/>
          <p:cNvSpPr txBox="1"/>
          <p:nvPr/>
        </p:nvSpPr>
        <p:spPr>
          <a:xfrm>
            <a:off x="8065007" y="344500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Win rate is high, but losses are larger than wins - 'many small wins, rare big losses'.</a:t>
            </a:r>
          </a:p>
        </p:txBody>
      </p:sp>
      <p:sp>
        <p:nvSpPr>
          <p:cNvPr id="25" name="Rectangle 24"/>
          <p:cNvSpPr/>
          <p:nvPr/>
        </p:nvSpPr>
        <p:spPr>
          <a:xfrm>
            <a:off x="777240" y="4393692"/>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6229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6229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393692"/>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Momentum and breakout</a:t>
            </a:r>
          </a:p>
          <a:p>
            <a:pPr algn="l">
              <a:spcAft>
                <a:spcPts val="200"/>
              </a:spcAft>
            </a:pPr>
            <a:r>
              <a:rPr sz="1000" b="1">
                <a:solidFill>
                  <a:srgbClr val="10B981"/>
                </a:solidFill>
                <a:latin typeface="Arial"/>
              </a:rPr>
              <a:t>▸ Backtest QQQ Donchian 20/10</a:t>
            </a:r>
          </a:p>
        </p:txBody>
      </p:sp>
      <p:sp>
        <p:nvSpPr>
          <p:cNvPr id="29" name="TextBox 28"/>
          <p:cNvSpPr txBox="1"/>
          <p:nvPr/>
        </p:nvSpPr>
        <p:spPr>
          <a:xfrm>
            <a:off x="4224527" y="4393692"/>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On the Backtest page choose Time-series momentum, look-back 126, symbol QQQ, Benchmark QQQ, and run it. Then run the Donchian breakout on QQQ (entry 20, exit 10).</a:t>
            </a:r>
          </a:p>
        </p:txBody>
      </p:sp>
      <p:sp>
        <p:nvSpPr>
          <p:cNvPr id="30" name="TextBox 29"/>
          <p:cNvSpPr txBox="1"/>
          <p:nvPr/>
        </p:nvSpPr>
        <p:spPr>
          <a:xfrm>
            <a:off x="8065007" y="4393692"/>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Open the 'Price &amp; trades' tab: buy arrows follow 20-day highs.</a:t>
            </a:r>
          </a:p>
        </p:txBody>
      </p:sp>
      <p:sp>
        <p:nvSpPr>
          <p:cNvPr id="31" name="Rectangle 30"/>
          <p:cNvSpPr/>
          <p:nvPr/>
        </p:nvSpPr>
        <p:spPr>
          <a:xfrm>
            <a:off x="777240" y="534238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561098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61098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534238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Read each strategy's explanation</a:t>
            </a:r>
          </a:p>
          <a:p>
            <a:pPr algn="l">
              <a:spcAft>
                <a:spcPts val="200"/>
              </a:spcAft>
            </a:pPr>
            <a:r>
              <a:rPr sz="1000" b="1">
                <a:solidFill>
                  <a:srgbClr val="10B981"/>
                </a:solidFill>
                <a:latin typeface="Arial"/>
              </a:rPr>
              <a:t>▸ Strategy Library</a:t>
            </a:r>
          </a:p>
        </p:txBody>
      </p:sp>
      <p:sp>
        <p:nvSpPr>
          <p:cNvPr id="35" name="TextBox 34"/>
          <p:cNvSpPr txBox="1"/>
          <p:nvPr/>
        </p:nvSpPr>
        <p:spPr>
          <a:xfrm>
            <a:off x="4224527" y="534238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Strategy Library: open each card and read How it works / Rule / Works best when / Watch out for.</a:t>
            </a:r>
          </a:p>
        </p:txBody>
      </p:sp>
      <p:sp>
        <p:nvSpPr>
          <p:cNvPr id="36" name="TextBox 35"/>
          <p:cNvSpPr txBox="1"/>
          <p:nvPr/>
        </p:nvSpPr>
        <p:spPr>
          <a:xfrm>
            <a:off x="8065007" y="534238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say which family suits a trending market and which a range-bound one.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07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7_strategy_library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3423513" cy="777697"/>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68933" y="3264408"/>
            <a:ext cx="3423513" cy="2221991"/>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3485" y="3145536"/>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3485" y="314553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4591202" y="2690393"/>
            <a:ext cx="2830982" cy="925830"/>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35754" y="2571521"/>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5754" y="257152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4591202" y="3634739"/>
            <a:ext cx="2830982" cy="92583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435754" y="3515868"/>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5754" y="351586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4591202" y="4616119"/>
            <a:ext cx="2830982" cy="685114"/>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435754" y="4497247"/>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5754" y="449724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Search and filter</a:t>
            </a:r>
          </a:p>
          <a:p>
            <a:pPr algn="l">
              <a:spcAft>
                <a:spcPts val="100"/>
              </a:spcAft>
            </a:pPr>
            <a:r>
              <a:rPr sz="1000" b="0">
                <a:solidFill>
                  <a:srgbClr val="161B26"/>
                </a:solidFill>
                <a:latin typeface="Arial"/>
              </a:rPr>
              <a:t>Find a strategy by name or by purpose; 26 strategies in the library.</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Strategy cards</a:t>
            </a:r>
          </a:p>
          <a:p>
            <a:pPr algn="l">
              <a:spcAft>
                <a:spcPts val="100"/>
              </a:spcAft>
            </a:pPr>
            <a:r>
              <a:rPr sz="1000" b="0">
                <a:solidFill>
                  <a:srgbClr val="161B26"/>
                </a:solidFill>
                <a:latin typeface="Arial"/>
              </a:rPr>
              <a:t>Trend, mean reversion, momentum, breakout - click a card to open it.</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How it works and the rule</a:t>
            </a:r>
          </a:p>
          <a:p>
            <a:pPr algn="l">
              <a:spcAft>
                <a:spcPts val="100"/>
              </a:spcAft>
            </a:pPr>
            <a:r>
              <a:rPr sz="1000" b="0">
                <a:solidFill>
                  <a:srgbClr val="161B26"/>
                </a:solidFill>
                <a:latin typeface="Arial"/>
              </a:rPr>
              <a:t>Bollinger: buy a close below the lower band, exit back at the middle band.</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When it works / watch out</a:t>
            </a:r>
          </a:p>
          <a:p>
            <a:pPr algn="l">
              <a:spcAft>
                <a:spcPts val="100"/>
              </a:spcAft>
            </a:pPr>
            <a:r>
              <a:rPr sz="1000" b="0">
                <a:solidFill>
                  <a:srgbClr val="161B26"/>
                </a:solidFill>
                <a:latin typeface="Arial"/>
              </a:rPr>
              <a:t>Range-bound stocks such as KO; strong trends keep 'stretching' - add a stop.</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Parameters</a:t>
            </a:r>
          </a:p>
          <a:p>
            <a:pPr algn="l">
              <a:spcAft>
                <a:spcPts val="100"/>
              </a:spcAft>
            </a:pPr>
            <a:r>
              <a:rPr sz="1000" b="0">
                <a:solidFill>
                  <a:srgbClr val="161B26"/>
                </a:solidFill>
                <a:latin typeface="Arial"/>
              </a:rPr>
              <a:t>window 20 and k 2 with their ranges - the values you change in the backtest.</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Trend and breakout suit trending markets, mean reversion suits range-bound ones - compare all four after costs.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TRADINGVIEW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07 — Mean Reversion in TradingView, with Paper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v_lab07_bb_paper_trading.png"/>
          <p:cNvPicPr>
            <a:picLocks noChangeAspect="1"/>
          </p:cNvPicPr>
          <p:nvPr/>
        </p:nvPicPr>
        <p:blipFill>
          <a:blip r:embed="rId2"/>
          <a:stretch>
            <a:fillRect/>
          </a:stretch>
        </p:blipFill>
        <p:spPr>
          <a:xfrm>
            <a:off x="1939173" y="1645920"/>
            <a:ext cx="8313347" cy="4114800"/>
          </a:xfrm>
          <a:prstGeom prst="rect">
            <a:avLst/>
          </a:prstGeom>
        </p:spPr>
      </p:pic>
      <p:sp>
        <p:nvSpPr>
          <p:cNvPr id="8" name="Rectangle 7"/>
          <p:cNvSpPr/>
          <p:nvPr/>
        </p:nvSpPr>
        <p:spPr>
          <a:xfrm>
            <a:off x="1928200" y="1634947"/>
            <a:ext cx="8335293"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Bollinger Bands mean reversion (20, 2) on SPY with TradingView Paper Trading's order panel open. It lost 7.87% since 1993 though 59% of trades won: buying dips in a trending index hurts, so the lab runs it on KO.</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Execution Stage: an Order Manager that Trades the Paper Account in Any Session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08</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Place market, limit, stop and bracket paper orders, including an extended-hours limit order, and follow each order's lifecycle.</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Market order in the regular session</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Extended-hours limit order (Singapore class hours)</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Bracket order</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Queue while closed and cancel</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blotter with filled, working, queued and cancelled orders and the risk checks for each.</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08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649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6491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Market order in the regular session</a:t>
            </a:r>
          </a:p>
          <a:p>
            <a:pPr algn="l">
              <a:spcAft>
                <a:spcPts val="200"/>
              </a:spcAft>
            </a:pPr>
            <a:r>
              <a:rPr sz="1000" b="1">
                <a:solidFill>
                  <a:srgbClr val="10B981"/>
                </a:solidFill>
                <a:latin typeface="Arial"/>
              </a:rPr>
              <a:t>▸ Paper Trading &gt; Order ticket</a:t>
            </a:r>
          </a:p>
        </p:txBody>
      </p:sp>
      <p:sp>
        <p:nvSpPr>
          <p:cNvPr id="17" name="TextBox 16"/>
          <p:cNvSpPr txBox="1"/>
          <p:nvPr/>
        </p:nvSpPr>
        <p:spPr>
          <a:xfrm>
            <a:off x="4224527" y="249631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Open Paper Trading &gt; Order ticket, fill in the fields below and press Send paper order. A market order buys straight away at the current price; it is accepted in the regular session.</a:t>
            </a:r>
          </a:p>
        </p:txBody>
      </p:sp>
      <p:sp>
        <p:nvSpPr>
          <p:cNvPr id="18" name="TextBox 17"/>
          <p:cNvSpPr txBox="1"/>
          <p:nvPr/>
        </p:nvSpPr>
        <p:spPr>
          <a:xfrm>
            <a:off x="8065007" y="249631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Result panel shows ACCEPTED - all checks passed, 'BUY 10 SPY MARKET DAY -&gt; filled', and each risk check (kill_switch, duplicate, session, allow_list, long_only, daily_loss.</a:t>
            </a:r>
          </a:p>
        </p:txBody>
      </p:sp>
      <p:sp>
        <p:nvSpPr>
          <p:cNvPr id="19" name="Rectangle 18"/>
          <p:cNvSpPr/>
          <p:nvPr/>
        </p:nvSpPr>
        <p:spPr>
          <a:xfrm>
            <a:off x="777240" y="344500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136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1360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4500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Extended-hours limit order (Singapore class hours)</a:t>
            </a:r>
          </a:p>
          <a:p>
            <a:pPr algn="l">
              <a:spcAft>
                <a:spcPts val="200"/>
              </a:spcAft>
            </a:pPr>
            <a:r>
              <a:rPr sz="1000" b="1">
                <a:solidFill>
                  <a:srgbClr val="10B981"/>
                </a:solidFill>
                <a:latin typeface="Arial"/>
              </a:rPr>
              <a:t>▸ same page</a:t>
            </a:r>
          </a:p>
        </p:txBody>
      </p:sp>
      <p:sp>
        <p:nvSpPr>
          <p:cNvPr id="23" name="TextBox 22"/>
          <p:cNvSpPr txBox="1"/>
          <p:nvPr/>
        </p:nvSpPr>
        <p:spPr>
          <a:xfrm>
            <a:off x="4224527" y="344500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Keep the Step 1 ticket and change only the fields below, then press Send paper order.</a:t>
            </a:r>
          </a:p>
        </p:txBody>
      </p:sp>
      <p:sp>
        <p:nvSpPr>
          <p:cNvPr id="24" name="TextBox 23"/>
          <p:cNvSpPr txBox="1"/>
          <p:nvPr/>
        </p:nvSpPr>
        <p:spPr>
          <a:xfrm>
            <a:off x="8065007" y="344500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First send: ACCEPTED, 'BUY 10 SPY LIMIT DAY extended_hours limit &lt;price&gt; -&gt; filled'. the Orders tab shows 'limit day ext-hrs', session overnight.</a:t>
            </a:r>
          </a:p>
        </p:txBody>
      </p:sp>
      <p:sp>
        <p:nvSpPr>
          <p:cNvPr id="25" name="Rectangle 24"/>
          <p:cNvSpPr/>
          <p:nvPr/>
        </p:nvSpPr>
        <p:spPr>
          <a:xfrm>
            <a:off x="777240" y="4393692"/>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6229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6229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393692"/>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Bracket order</a:t>
            </a:r>
          </a:p>
          <a:p>
            <a:pPr algn="l">
              <a:spcAft>
                <a:spcPts val="200"/>
              </a:spcAft>
            </a:pPr>
            <a:r>
              <a:rPr sz="1000" b="1">
                <a:solidFill>
                  <a:srgbClr val="10B981"/>
                </a:solidFill>
                <a:latin typeface="Arial"/>
              </a:rPr>
              <a:t>▸ same page</a:t>
            </a:r>
          </a:p>
        </p:txBody>
      </p:sp>
      <p:sp>
        <p:nvSpPr>
          <p:cNvPr id="29" name="TextBox 28"/>
          <p:cNvSpPr txBox="1"/>
          <p:nvPr/>
        </p:nvSpPr>
        <p:spPr>
          <a:xfrm>
            <a:off x="4224527" y="4393692"/>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A bracket order is an entry plus two automatic exits: a take-profit (a sell limit above the price, to lock in a gain) and a stop-loss (a sell stop below it, to cap a loss).</a:t>
            </a:r>
          </a:p>
        </p:txBody>
      </p:sp>
      <p:sp>
        <p:nvSpPr>
          <p:cNvPr id="30" name="TextBox 29"/>
          <p:cNvSpPr txBox="1"/>
          <p:nvPr/>
        </p:nvSpPr>
        <p:spPr>
          <a:xfrm>
            <a:off x="8065007" y="4393692"/>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Orders tab: the parent 'buy 5 SPY market day bracket' is filled, and two sell legs appear with status new - 'limit gtc bracket (leg)' at the take-profit and 'stop gtc bracket (leg)' at the.</a:t>
            </a:r>
          </a:p>
        </p:txBody>
      </p:sp>
      <p:sp>
        <p:nvSpPr>
          <p:cNvPr id="31" name="Rectangle 30"/>
          <p:cNvSpPr/>
          <p:nvPr/>
        </p:nvSpPr>
        <p:spPr>
          <a:xfrm>
            <a:off x="777240" y="534238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561098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61098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534238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Queue while closed and cancel</a:t>
            </a:r>
          </a:p>
          <a:p>
            <a:pPr algn="l">
              <a:spcAft>
                <a:spcPts val="200"/>
              </a:spcAft>
            </a:pPr>
            <a:r>
              <a:rPr sz="1000" b="1">
                <a:solidFill>
                  <a:srgbClr val="10B981"/>
                </a:solidFill>
                <a:latin typeface="Arial"/>
              </a:rPr>
              <a:t>▸ same page</a:t>
            </a:r>
          </a:p>
        </p:txBody>
      </p:sp>
      <p:sp>
        <p:nvSpPr>
          <p:cNvPr id="35" name="TextBox 34"/>
          <p:cNvSpPr txBox="1"/>
          <p:nvPr/>
        </p:nvSpPr>
        <p:spPr>
          <a:xfrm>
            <a:off x="4224527" y="534238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Session (sim) = closed pretends the US market is shut (weekends and US holidays).</a:t>
            </a:r>
          </a:p>
        </p:txBody>
      </p:sp>
      <p:sp>
        <p:nvSpPr>
          <p:cNvPr id="36" name="TextBox 35"/>
          <p:cNvSpPr txBox="1"/>
          <p:nvPr/>
        </p:nvSpPr>
        <p:spPr>
          <a:xfrm>
            <a:off x="8065007" y="534238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Result: ACCEPTED, 'BUY 10 SPY LIMIT GTC limit &lt;price&gt; -&gt; accepted', and the session check reads 'market closed - GTC limit order will queue for the next session'.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8_paper_orders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6320332" cy="555498"/>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68933" y="2894076"/>
            <a:ext cx="1843430" cy="185165"/>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3485" y="2775204"/>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3485" y="277520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1161105" y="3264408"/>
            <a:ext cx="6129406" cy="370331"/>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657" y="3145536"/>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657" y="314553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4031589" y="3893972"/>
            <a:ext cx="855878" cy="1592427"/>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876141" y="3775100"/>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76141" y="377510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5381244" y="3893972"/>
            <a:ext cx="1152143" cy="1592427"/>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225796" y="3775100"/>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25796" y="377510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Session banner</a:t>
            </a:r>
          </a:p>
          <a:p>
            <a:pPr algn="l">
              <a:spcAft>
                <a:spcPts val="100"/>
              </a:spcAft>
            </a:pPr>
            <a:r>
              <a:rPr sz="1000" b="0">
                <a:solidFill>
                  <a:srgbClr val="161B26"/>
                </a:solidFill>
                <a:latin typeface="Arial"/>
              </a:rPr>
              <a:t>New York vs Singapore time and the US session - it decides which orders are accepted.</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Tabs</a:t>
            </a:r>
          </a:p>
          <a:p>
            <a:pPr algn="l">
              <a:spcAft>
                <a:spcPts val="100"/>
              </a:spcAft>
            </a:pPr>
            <a:r>
              <a:rPr sz="1000" b="0">
                <a:solidFill>
                  <a:srgbClr val="161B26"/>
                </a:solidFill>
                <a:latin typeface="Arial"/>
              </a:rPr>
              <a:t>Order ticket to send, Orders for the blotter, then Positions and Bots.</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Order lifecycle filter</a:t>
            </a:r>
          </a:p>
          <a:p>
            <a:pPr algn="l">
              <a:spcAft>
                <a:spcPts val="100"/>
              </a:spcAft>
            </a:pPr>
            <a:r>
              <a:rPr sz="1000" b="0">
                <a:solidFill>
                  <a:srgbClr val="161B26"/>
                </a:solidFill>
                <a:latin typeface="Arial"/>
              </a:rPr>
              <a:t>Show all orders, or only the filled, working, queued or cancelled ones.</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Type / TIF</a:t>
            </a:r>
          </a:p>
          <a:p>
            <a:pPr algn="l">
              <a:spcAft>
                <a:spcPts val="100"/>
              </a:spcAft>
            </a:pPr>
            <a:r>
              <a:rPr sz="1000" b="0">
                <a:solidFill>
                  <a:srgbClr val="161B26"/>
                </a:solidFill>
                <a:latin typeface="Arial"/>
              </a:rPr>
              <a:t>market day, limit day ext-hrs, limit gtc, bracket legs - what you sent.</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Status, fill and session</a:t>
            </a:r>
          </a:p>
          <a:p>
            <a:pPr algn="l">
              <a:spcAft>
                <a:spcPts val="100"/>
              </a:spcAft>
            </a:pPr>
            <a:r>
              <a:rPr sz="1000" b="0">
                <a:solidFill>
                  <a:srgbClr val="161B26"/>
                </a:solidFill>
                <a:latin typeface="Arial"/>
              </a:rPr>
              <a:t>filled, accepted or canceled; click a status badge to see the order's lifecycle.</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Every order lists the risk checks it passed. Overnight, only LIMIT orders with extended hours are accepted.</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The Paper Order Ticket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8_order_ticket.png"/>
          <p:cNvPicPr>
            <a:picLocks noChangeAspect="1"/>
          </p:cNvPicPr>
          <p:nvPr/>
        </p:nvPicPr>
        <p:blipFill>
          <a:blip r:embed="rId2"/>
          <a:stretch>
            <a:fillRect/>
          </a:stretch>
        </p:blipFill>
        <p:spPr>
          <a:xfrm>
            <a:off x="1813685" y="1645920"/>
            <a:ext cx="8564324" cy="4114800"/>
          </a:xfrm>
          <a:prstGeom prst="rect">
            <a:avLst/>
          </a:prstGeom>
        </p:spPr>
      </p:pic>
      <p:sp>
        <p:nvSpPr>
          <p:cNvPr id="8" name="Rectangle 7"/>
          <p:cNvSpPr/>
          <p:nvPr/>
        </p:nvSpPr>
        <p:spPr>
          <a:xfrm>
            <a:off x="1802712" y="1634947"/>
            <a:ext cx="8586269"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Paper Trading &gt; Order ticket: buy 10 SPY, time in force day, default paper account. For Step 1 set Type = market and Session (sim) = regular; the banner shows the live session (here REGULAR, so all order types are accepted).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Risk Checks Passed, Order Filled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8_order_accepted.png"/>
          <p:cNvPicPr>
            <a:picLocks noChangeAspect="1"/>
          </p:cNvPicPr>
          <p:nvPr/>
        </p:nvPicPr>
        <p:blipFill>
          <a:blip r:embed="rId2"/>
          <a:stretch>
            <a:fillRect/>
          </a:stretch>
        </p:blipFill>
        <p:spPr>
          <a:xfrm>
            <a:off x="1805275" y="1645920"/>
            <a:ext cx="8581144" cy="4114800"/>
          </a:xfrm>
          <a:prstGeom prst="rect">
            <a:avLst/>
          </a:prstGeom>
        </p:spPr>
      </p:pic>
      <p:sp>
        <p:nvSpPr>
          <p:cNvPr id="8" name="Rectangle 7"/>
          <p:cNvSpPr/>
          <p:nvPr/>
        </p:nvSpPr>
        <p:spPr>
          <a:xfrm>
            <a:off x="1794302" y="1634947"/>
            <a:ext cx="8603090"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After Send paper order: ACCEPTED, all checks passed - BUY 10 SPY MARKET DAY -&gt; filled. Every manual order passes the same pre-trade checks as the bots: kill switch, duplicate, session, allow list, long only, daily loss, max order quantity and value, max position.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Evaluation Stage: Performance and Risk Metrics with a Benchmark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09</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Read the full metrics table and compare a strategy with buy-and-hold.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Open the analytics</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Compare with buy-and-hold</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Glossary</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metrics table you can explain line by line.</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09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Open the analytics</a:t>
            </a:r>
          </a:p>
          <a:p>
            <a:pPr algn="l">
              <a:spcAft>
                <a:spcPts val="200"/>
              </a:spcAft>
            </a:pPr>
            <a:r>
              <a:rPr sz="1000" b="1">
                <a:solidFill>
                  <a:srgbClr val="10B981"/>
                </a:solidFill>
                <a:latin typeface="Arial"/>
              </a:rPr>
              <a:t>▸ Analytics</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Analytics: choose the EMA 10/30 seeded backtest. Hover every metric for its formula.</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define Sharpe, Sortino, Calmar, max drawdown, profit factor, expectancy, exposure and turnover.</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Compare with buy-and-hold</a:t>
            </a:r>
          </a:p>
          <a:p>
            <a:pPr algn="l">
              <a:spcAft>
                <a:spcPts val="200"/>
              </a:spcAft>
            </a:pPr>
            <a:r>
              <a:rPr sz="1000" b="1">
                <a:solidFill>
                  <a:srgbClr val="10B981"/>
                </a:solidFill>
                <a:latin typeface="Arial"/>
              </a:rPr>
              <a:t>▸ same page</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Tick the EMA backtest and 'Buy and hold SPY' and press Compare.</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Buy-and-hold has higher CAGR but a deeper drawdown; the strategy has lower exposure.</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Glossary</a:t>
            </a:r>
          </a:p>
          <a:p>
            <a:pPr algn="l">
              <a:spcAft>
                <a:spcPts val="200"/>
              </a:spcAft>
            </a:pPr>
            <a:r>
              <a:rPr sz="1000" b="1">
                <a:solidFill>
                  <a:srgbClr val="10B981"/>
                </a:solidFill>
                <a:latin typeface="Arial"/>
              </a:rPr>
              <a:t>▸ Help &amp; Glossary</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Open Help &amp; Glossary &gt; Metric glossary.</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Each formula matches the course slides.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9_analytics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4970678" cy="481431"/>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68933" y="2820009"/>
            <a:ext cx="2040940" cy="2666390"/>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3485" y="2701137"/>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3485" y="270113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3208629" y="2820009"/>
            <a:ext cx="4180636" cy="1647977"/>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53181" y="2701137"/>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53181" y="270113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3208629" y="4560570"/>
            <a:ext cx="2054108" cy="92583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53181" y="4441698"/>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53181" y="444169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5335158" y="4560570"/>
            <a:ext cx="2054108" cy="925830"/>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179710" y="4441698"/>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79710" y="444169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Pick a backtest</a:t>
            </a:r>
          </a:p>
          <a:p>
            <a:pPr algn="l">
              <a:spcAft>
                <a:spcPts val="100"/>
              </a:spcAft>
            </a:pPr>
            <a:r>
              <a:rPr sz="1000" b="0">
                <a:solidFill>
                  <a:srgbClr val="161B26"/>
                </a:solidFill>
                <a:latin typeface="Arial"/>
              </a:rPr>
              <a:t>EMA 10/30 on SPY; export a PDF tearsheet or CSV from here.</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All metrics</a:t>
            </a:r>
          </a:p>
          <a:p>
            <a:pPr algn="l">
              <a:spcAft>
                <a:spcPts val="100"/>
              </a:spcAft>
            </a:pPr>
            <a:r>
              <a:rPr sz="1000" b="0">
                <a:solidFill>
                  <a:srgbClr val="161B26"/>
                </a:solidFill>
                <a:latin typeface="Arial"/>
              </a:rPr>
              <a:t>Strategy vs benchmark; hover a metric for its formula. Sharpe 0.81 vs 0.78.</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Equity vs buy-and-hold</a:t>
            </a:r>
          </a:p>
          <a:p>
            <a:pPr algn="l">
              <a:spcAft>
                <a:spcPts val="100"/>
              </a:spcAft>
            </a:pPr>
            <a:r>
              <a:rPr sz="1000" b="0">
                <a:solidFill>
                  <a:srgbClr val="161B26"/>
                </a:solidFill>
                <a:latin typeface="Arial"/>
              </a:rPr>
              <a:t>SPY ends higher (CAGR 14.14% vs 9.02%) but swings much more.</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Drawdown</a:t>
            </a:r>
          </a:p>
          <a:p>
            <a:pPr algn="l">
              <a:spcAft>
                <a:spcPts val="100"/>
              </a:spcAft>
            </a:pPr>
            <a:r>
              <a:rPr sz="1000" b="0">
                <a:solidFill>
                  <a:srgbClr val="161B26"/>
                </a:solidFill>
                <a:latin typeface="Arial"/>
              </a:rPr>
              <a:t>Max drawdown -14.19% vs SPY's -33.72%: the strategy steps aside in sell-offs.</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Rolling Sharpe</a:t>
            </a:r>
          </a:p>
          <a:p>
            <a:pPr algn="l">
              <a:spcAft>
                <a:spcPts val="100"/>
              </a:spcAft>
            </a:pPr>
            <a:r>
              <a:rPr sz="1000" b="0">
                <a:solidFill>
                  <a:srgbClr val="161B26"/>
                </a:solidFill>
                <a:latin typeface="Arial"/>
              </a:rPr>
              <a:t>Risk-adjusted return over time; long negative spells flag a fading edge.</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Lower return but far lower risk: judge a strategy on Sharpe, drawdown and exposure, not CAGR alone.</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Strategy versus Benchmark in Analytics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9_analytics.png"/>
          <p:cNvPicPr>
            <a:picLocks noChangeAspect="1"/>
          </p:cNvPicPr>
          <p:nvPr/>
        </p:nvPicPr>
        <p:blipFill>
          <a:blip r:embed="rId2"/>
          <a:stretch>
            <a:fillRect/>
          </a:stretch>
        </p:blipFill>
        <p:spPr>
          <a:xfrm>
            <a:off x="1898523" y="1645920"/>
            <a:ext cx="8394647" cy="4114800"/>
          </a:xfrm>
          <a:prstGeom prst="rect">
            <a:avLst/>
          </a:prstGeom>
        </p:spPr>
      </p:pic>
      <p:sp>
        <p:nvSpPr>
          <p:cNvPr id="8" name="Rectangle 7"/>
          <p:cNvSpPr/>
          <p:nvPr/>
        </p:nvSpPr>
        <p:spPr>
          <a:xfrm>
            <a:off x="1887551" y="1634947"/>
            <a:ext cx="8416592"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Analytics for Lab 6's SMA 50/200 backtest against SPY buy-and-hold: 79.71% versus 187.26% total return, Sharpe 0.55 versus 0.78. In Lab 9 choose the EMA 10/30 backtest; hover any metric for its definition.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2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Identify appropriate statistical algorithms and data models to test hypotheses and/or theories</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Use appropriate analytics platforms, analytical tools, statistical methods and analytical approaches given specific analytics and reporting requirements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Range and application of various statistical methods and algorithms</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Usage of analytics platforms and tools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Coding languages for programming of algorithms and signals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End of Day 1</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See you at 09:30 tomorrow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7C3AED"/>
                </a:solidFill>
                <a:latin typeface="Arial"/>
              </a:rPr>
              <a:t>TOPIC 3</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ML Models and A/B Testing</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7C3AED"/>
                </a:solidFill>
                <a:latin typeface="Arial"/>
              </a:rPr>
              <a:t>LEARNING OUTCOME</a:t>
            </a:r>
          </a:p>
          <a:p>
            <a:pPr algn="l">
              <a:spcAft>
                <a:spcPts val="400"/>
              </a:spcAft>
            </a:pPr>
            <a:r>
              <a:rPr sz="1350" b="0">
                <a:solidFill>
                  <a:srgbClr val="161B26"/>
                </a:solidFill>
                <a:latin typeface="Arial"/>
              </a:rPr>
              <a:t>Conduct statistical modelling of market data with machine learning models to derive patterns and solutions, and perform A/B testing of trading strategies based on different hypotheses.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Day 2   ·   Labs 10–14</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Types of Statistical Analyses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Descriptive</a:t>
            </a:r>
          </a:p>
          <a:p>
            <a:pPr algn="l">
              <a:spcAft>
                <a:spcPts val="300"/>
              </a:spcAft>
            </a:pPr>
            <a:r>
              <a:rPr sz="1150" b="0">
                <a:solidFill>
                  <a:srgbClr val="5B6372"/>
                </a:solidFill>
                <a:latin typeface="Arial"/>
              </a:rPr>
              <a:t>What happened — mean return, volatility, skew, correlation.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Inferential</a:t>
            </a:r>
          </a:p>
          <a:p>
            <a:pPr algn="l">
              <a:spcAft>
                <a:spcPts val="300"/>
              </a:spcAft>
            </a:pPr>
            <a:r>
              <a:rPr sz="1150" b="0">
                <a:solidFill>
                  <a:srgbClr val="5B6372"/>
                </a:solidFill>
                <a:latin typeface="Arial"/>
              </a:rPr>
              <a:t>Is it real? — t-test, bootstrap, confidence intervals.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Predictive</a:t>
            </a:r>
          </a:p>
          <a:p>
            <a:pPr algn="l">
              <a:spcAft>
                <a:spcPts val="300"/>
              </a:spcAft>
            </a:pPr>
            <a:r>
              <a:rPr sz="1150" b="0">
                <a:solidFill>
                  <a:srgbClr val="5B6372"/>
                </a:solidFill>
                <a:latin typeface="Arial"/>
              </a:rPr>
              <a:t>What next? — regression, classification.</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Prescriptive</a:t>
            </a:r>
          </a:p>
          <a:p>
            <a:pPr algn="l">
              <a:spcAft>
                <a:spcPts val="300"/>
              </a:spcAft>
            </a:pPr>
            <a:r>
              <a:rPr sz="1150" b="0">
                <a:solidFill>
                  <a:srgbClr val="5B6372"/>
                </a:solidFill>
                <a:latin typeface="Arial"/>
              </a:rPr>
              <a:t>What to do? — optimisation, position sizing.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Families of Learning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Supervised</a:t>
            </a:r>
          </a:p>
          <a:p>
            <a:pPr algn="l">
              <a:spcAft>
                <a:spcPts val="300"/>
              </a:spcAft>
            </a:pPr>
            <a:r>
              <a:rPr sz="1150" b="0">
                <a:solidFill>
                  <a:srgbClr val="5B6372"/>
                </a:solidFill>
                <a:latin typeface="Arial"/>
              </a:rPr>
              <a:t>Features → known target: up/down, next return.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Unsupervised</a:t>
            </a:r>
          </a:p>
          <a:p>
            <a:pPr algn="l">
              <a:spcAft>
                <a:spcPts val="300"/>
              </a:spcAft>
            </a:pPr>
            <a:r>
              <a:rPr sz="1150" b="0">
                <a:solidFill>
                  <a:srgbClr val="5B6372"/>
                </a:solidFill>
                <a:latin typeface="Arial"/>
              </a:rPr>
              <a:t>Structure without a target: regimes, PCA factors.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Reinforcement</a:t>
            </a:r>
          </a:p>
          <a:p>
            <a:pPr algn="l">
              <a:spcAft>
                <a:spcPts val="300"/>
              </a:spcAft>
            </a:pPr>
            <a:r>
              <a:rPr sz="1150" b="0">
                <a:solidFill>
                  <a:srgbClr val="5B6372"/>
                </a:solidFill>
                <a:latin typeface="Arial"/>
              </a:rPr>
              <a:t>Learn a policy from rewards — execution research.</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Search &amp; simulation</a:t>
            </a:r>
          </a:p>
          <a:p>
            <a:pPr algn="l">
              <a:spcAft>
                <a:spcPts val="300"/>
              </a:spcAft>
            </a:pPr>
            <a:r>
              <a:rPr sz="1150" b="0">
                <a:solidFill>
                  <a:srgbClr val="5B6372"/>
                </a:solidFill>
                <a:latin typeface="Arial"/>
              </a:rPr>
              <a:t>Grid search, Monte Carlo, bootstrap, walk-forward.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Supervised Learning: Learning from Labelled Examples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oncept_supervised.png"/>
          <p:cNvPicPr>
            <a:picLocks noChangeAspect="1"/>
          </p:cNvPicPr>
          <p:nvPr/>
        </p:nvPicPr>
        <p:blipFill>
          <a:blip r:embed="rId2"/>
          <a:stretch>
            <a:fillRect/>
          </a:stretch>
        </p:blipFill>
        <p:spPr>
          <a:xfrm>
            <a:off x="777240" y="2508173"/>
            <a:ext cx="6172200" cy="298465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model learns a mapping from inputs (features) to a known answer (the label), using history in which the answer is already known.</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IN TRADING</a:t>
            </a:r>
          </a:p>
          <a:p>
            <a:pPr algn="l">
              <a:spcAft>
                <a:spcPts val="200"/>
              </a:spcAft>
            </a:pPr>
            <a:r>
              <a:rPr sz="1150" b="0">
                <a:solidFill>
                  <a:srgbClr val="161B26"/>
                </a:solidFill>
                <a:latin typeface="Arial"/>
              </a:rPr>
              <a:t>Features known at today's close - 5-day return, RSI, volatility. Label: did the price rise the NEXT day (classification) or by how much (regression)?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WHAT IT GIVES YOU</a:t>
            </a:r>
          </a:p>
          <a:p>
            <a:pPr algn="l">
              <a:spcAft>
                <a:spcPts val="200"/>
              </a:spcAft>
            </a:pPr>
            <a:r>
              <a:rPr sz="1150" b="0">
                <a:solidFill>
                  <a:srgbClr val="161B26"/>
                </a:solidFill>
                <a:latin typeface="Arial"/>
              </a:rPr>
              <a:t>A prediction for a new day - P(up) = 0.55 or an expected return. A rule such as 'long if P(up) &gt; 0.55' turns it into a position.</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Features must use only data known at decision time. Accuracy near 50% is normal for daily direction - judge the strategy net of costs.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Unsupervised Learning: Finding Structure Without Labels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oncept_unsupervised.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There is no answer key. The algorithm groups or compresses the data by similarity, and you decide what the groups mean.</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IN TRADING</a:t>
            </a:r>
          </a:p>
          <a:p>
            <a:pPr algn="l">
              <a:spcAft>
                <a:spcPts val="200"/>
              </a:spcAft>
            </a:pPr>
            <a:r>
              <a:rPr sz="1150" b="0">
                <a:solidFill>
                  <a:srgbClr val="161B26"/>
                </a:solidFill>
                <a:latin typeface="Arial"/>
              </a:rPr>
              <a:t>Cluster days by return and volatility into regimes; PCA reduces many correlated assets to a few factors; cluster stocks for diversification.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WHAT IT GIVES YOU</a:t>
            </a:r>
          </a:p>
          <a:p>
            <a:pPr algn="l">
              <a:spcAft>
                <a:spcPts val="200"/>
              </a:spcAft>
            </a:pPr>
            <a:r>
              <a:rPr sz="1150" b="0">
                <a:solidFill>
                  <a:srgbClr val="161B26"/>
                </a:solidFill>
                <a:latin typeface="Arial"/>
              </a:rPr>
              <a:t>A group per day or asset (calm / normal / stressed) or a few factors - inputs to a decision, such as cutting position size when stressed, not trades by themselves.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Clusters have no built-in meaning and k is your choice. Fit on past data only and re-check as the market changes.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Reinforcement Learning: Learning by Action and Reward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oncept_reinforcement.png"/>
          <p:cNvPicPr>
            <a:picLocks noChangeAspect="1"/>
          </p:cNvPicPr>
          <p:nvPr/>
        </p:nvPicPr>
        <p:blipFill>
          <a:blip r:embed="rId2"/>
          <a:stretch>
            <a:fillRect/>
          </a:stretch>
        </p:blipFill>
        <p:spPr>
          <a:xfrm>
            <a:off x="777240" y="2508173"/>
            <a:ext cx="6172200" cy="298465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An agent observes a state, takes an action and receives a reward; by trial and error it learns a policy that maximises total reward over time.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IN TRADING</a:t>
            </a:r>
          </a:p>
          <a:p>
            <a:pPr algn="l">
              <a:spcAft>
                <a:spcPts val="200"/>
              </a:spcAft>
            </a:pPr>
            <a:r>
              <a:rPr sz="1150" b="0">
                <a:solidFill>
                  <a:srgbClr val="161B26"/>
                </a:solidFill>
                <a:latin typeface="Arial"/>
              </a:rPr>
              <a:t>State: prices, position, time left. Action: buy, hold, sell or how many shares. Reward: P&amp;L net of costs, minus a penalty for risk.</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WHAT IT GIVES YOU</a:t>
            </a:r>
          </a:p>
          <a:p>
            <a:pPr algn="l">
              <a:spcAft>
                <a:spcPts val="200"/>
              </a:spcAft>
            </a:pPr>
            <a:r>
              <a:rPr sz="1150" b="0">
                <a:solidFill>
                  <a:srgbClr val="161B26"/>
                </a:solidFill>
                <a:latin typeface="Arial"/>
              </a:rPr>
              <a:t>A policy - the best action for each state. Used for optimal execution of large orders, market making and dynamic hedging, mostly at banks and research labs.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Needs a realistic simulator and huge amounts of experience; it learns to exploit any flaw in the simulator. Unstable and hard to explain - rarely the first tool.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Supervised vs Unsupervised vs Reinforcement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2791968"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2791968" cy="420624"/>
          </a:xfrm>
          <a:prstGeom prst="rect">
            <a:avLst/>
          </a:prstGeom>
          <a:noFill/>
        </p:spPr>
        <p:txBody>
          <a:bodyPr wrap="square" anchor="ctr">
            <a:spAutoFit/>
          </a:bodyPr>
          <a:lstStyle/>
          <a:p>
            <a:pPr algn="ctr">
              <a:spcAft>
                <a:spcPts val="400"/>
              </a:spcAft>
            </a:pPr>
            <a:r>
              <a:rPr sz="1400" b="1">
                <a:solidFill>
                  <a:srgbClr val="FFFFFF"/>
                </a:solidFill>
                <a:latin typeface="Arial"/>
              </a:rPr>
              <a:t>Supervised</a:t>
            </a:r>
          </a:p>
        </p:txBody>
      </p:sp>
      <p:sp>
        <p:nvSpPr>
          <p:cNvPr id="12" name="Rectangle 11"/>
          <p:cNvSpPr/>
          <p:nvPr/>
        </p:nvSpPr>
        <p:spPr>
          <a:xfrm>
            <a:off x="5754624" y="1810512"/>
            <a:ext cx="2791968"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54624" y="1810512"/>
            <a:ext cx="2791968" cy="420624"/>
          </a:xfrm>
          <a:prstGeom prst="rect">
            <a:avLst/>
          </a:prstGeom>
          <a:noFill/>
        </p:spPr>
        <p:txBody>
          <a:bodyPr wrap="square" anchor="ctr">
            <a:spAutoFit/>
          </a:bodyPr>
          <a:lstStyle/>
          <a:p>
            <a:pPr algn="ctr">
              <a:spcAft>
                <a:spcPts val="400"/>
              </a:spcAft>
            </a:pPr>
            <a:r>
              <a:rPr sz="1400" b="1">
                <a:solidFill>
                  <a:srgbClr val="FFFFFF"/>
                </a:solidFill>
                <a:latin typeface="Arial"/>
              </a:rPr>
              <a:t>Unsupervised</a:t>
            </a:r>
          </a:p>
        </p:txBody>
      </p:sp>
      <p:sp>
        <p:nvSpPr>
          <p:cNvPr id="14" name="Rectangle 13"/>
          <p:cNvSpPr/>
          <p:nvPr/>
        </p:nvSpPr>
        <p:spPr>
          <a:xfrm>
            <a:off x="8583168" y="1810512"/>
            <a:ext cx="2828544"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83168" y="1810512"/>
            <a:ext cx="2828544" cy="420624"/>
          </a:xfrm>
          <a:prstGeom prst="rect">
            <a:avLst/>
          </a:prstGeom>
          <a:noFill/>
        </p:spPr>
        <p:txBody>
          <a:bodyPr wrap="square" anchor="ctr">
            <a:spAutoFit/>
          </a:bodyPr>
          <a:lstStyle/>
          <a:p>
            <a:pPr algn="ctr">
              <a:spcAft>
                <a:spcPts val="400"/>
              </a:spcAft>
            </a:pPr>
            <a:r>
              <a:rPr sz="1400" b="1">
                <a:solidFill>
                  <a:srgbClr val="FFFFFF"/>
                </a:solidFill>
                <a:latin typeface="Arial"/>
              </a:rPr>
              <a:t>Reinforcement</a:t>
            </a:r>
          </a:p>
        </p:txBody>
      </p:sp>
      <p:sp>
        <p:nvSpPr>
          <p:cNvPr id="16" name="Rectangle 15"/>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Learns from</a:t>
            </a:r>
          </a:p>
        </p:txBody>
      </p:sp>
      <p:sp>
        <p:nvSpPr>
          <p:cNvPr id="18" name="TextBox 17"/>
          <p:cNvSpPr txBox="1"/>
          <p:nvPr/>
        </p:nvSpPr>
        <p:spPr>
          <a:xfrm>
            <a:off x="3017520" y="228600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Labelled history: features + the known answer</a:t>
            </a:r>
          </a:p>
        </p:txBody>
      </p:sp>
      <p:sp>
        <p:nvSpPr>
          <p:cNvPr id="19" name="TextBox 18"/>
          <p:cNvSpPr txBox="1"/>
          <p:nvPr/>
        </p:nvSpPr>
        <p:spPr>
          <a:xfrm>
            <a:off x="5846064" y="228600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Unlabelled data: features only</a:t>
            </a:r>
          </a:p>
        </p:txBody>
      </p:sp>
      <p:sp>
        <p:nvSpPr>
          <p:cNvPr id="20" name="TextBox 19"/>
          <p:cNvSpPr txBox="1"/>
          <p:nvPr/>
        </p:nvSpPr>
        <p:spPr>
          <a:xfrm>
            <a:off x="8674608" y="228600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Its own experience: states, actions, rewards</a:t>
            </a:r>
          </a:p>
        </p:txBody>
      </p:sp>
      <p:sp>
        <p:nvSpPr>
          <p:cNvPr id="21" name="TextBox 20"/>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Question it answers</a:t>
            </a:r>
          </a:p>
        </p:txBody>
      </p:sp>
      <p:sp>
        <p:nvSpPr>
          <p:cNvPr id="22" name="TextBox 21"/>
          <p:cNvSpPr txBox="1"/>
          <p:nvPr/>
        </p:nvSpPr>
        <p:spPr>
          <a:xfrm>
            <a:off x="3017520" y="294894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What will happen? - predict a target</a:t>
            </a:r>
          </a:p>
        </p:txBody>
      </p:sp>
      <p:sp>
        <p:nvSpPr>
          <p:cNvPr id="23" name="TextBox 22"/>
          <p:cNvSpPr txBox="1"/>
          <p:nvPr/>
        </p:nvSpPr>
        <p:spPr>
          <a:xfrm>
            <a:off x="5846064" y="294894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What patterns exist? - group or compress</a:t>
            </a:r>
          </a:p>
        </p:txBody>
      </p:sp>
      <p:sp>
        <p:nvSpPr>
          <p:cNvPr id="24" name="TextBox 23"/>
          <p:cNvSpPr txBox="1"/>
          <p:nvPr/>
        </p:nvSpPr>
        <p:spPr>
          <a:xfrm>
            <a:off x="8674608" y="294894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What should I do? - choose the next action</a:t>
            </a:r>
          </a:p>
        </p:txBody>
      </p:sp>
      <p:sp>
        <p:nvSpPr>
          <p:cNvPr id="25" name="Rectangle 24"/>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Feedback</a:t>
            </a:r>
          </a:p>
        </p:txBody>
      </p:sp>
      <p:sp>
        <p:nvSpPr>
          <p:cNvPr id="27" name="TextBox 26"/>
          <p:cNvSpPr txBox="1"/>
          <p:nvPr/>
        </p:nvSpPr>
        <p:spPr>
          <a:xfrm>
            <a:off x="3017520" y="361188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Error against the correct answer</a:t>
            </a:r>
          </a:p>
        </p:txBody>
      </p:sp>
      <p:sp>
        <p:nvSpPr>
          <p:cNvPr id="28" name="TextBox 27"/>
          <p:cNvSpPr txBox="1"/>
          <p:nvPr/>
        </p:nvSpPr>
        <p:spPr>
          <a:xfrm>
            <a:off x="5846064" y="361188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None - judged by how useful the groups are</a:t>
            </a:r>
          </a:p>
        </p:txBody>
      </p:sp>
      <p:sp>
        <p:nvSpPr>
          <p:cNvPr id="29" name="TextBox 28"/>
          <p:cNvSpPr txBox="1"/>
          <p:nvPr/>
        </p:nvSpPr>
        <p:spPr>
          <a:xfrm>
            <a:off x="8674608" y="361188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A reward, often delayed (profit, cost)</a:t>
            </a:r>
          </a:p>
        </p:txBody>
      </p:sp>
      <p:sp>
        <p:nvSpPr>
          <p:cNvPr id="30" name="TextBox 29"/>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Typical algorithms</a:t>
            </a:r>
          </a:p>
        </p:txBody>
      </p:sp>
      <p:sp>
        <p:nvSpPr>
          <p:cNvPr id="31" name="TextBox 30"/>
          <p:cNvSpPr txBox="1"/>
          <p:nvPr/>
        </p:nvSpPr>
        <p:spPr>
          <a:xfrm>
            <a:off x="3017520" y="427482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Logistic regression, random forest, XGBoost, LSTM</a:t>
            </a:r>
          </a:p>
        </p:txBody>
      </p:sp>
      <p:sp>
        <p:nvSpPr>
          <p:cNvPr id="32" name="TextBox 31"/>
          <p:cNvSpPr txBox="1"/>
          <p:nvPr/>
        </p:nvSpPr>
        <p:spPr>
          <a:xfrm>
            <a:off x="5846064" y="427482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K-means, hierarchical clustering, PCA</a:t>
            </a:r>
          </a:p>
        </p:txBody>
      </p:sp>
      <p:sp>
        <p:nvSpPr>
          <p:cNvPr id="33" name="TextBox 32"/>
          <p:cNvSpPr txBox="1"/>
          <p:nvPr/>
        </p:nvSpPr>
        <p:spPr>
          <a:xfrm>
            <a:off x="8674608" y="427482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Q-learning, policy gradients (PPO)</a:t>
            </a:r>
          </a:p>
        </p:txBody>
      </p:sp>
      <p:sp>
        <p:nvSpPr>
          <p:cNvPr id="34" name="Rectangle 33"/>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Trading example</a:t>
            </a:r>
          </a:p>
        </p:txBody>
      </p:sp>
      <p:sp>
        <p:nvSpPr>
          <p:cNvPr id="36" name="TextBox 35"/>
          <p:cNvSpPr txBox="1"/>
          <p:nvPr/>
        </p:nvSpPr>
        <p:spPr>
          <a:xfrm>
            <a:off x="3017520" y="493776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P(SPY up tomorrow) from RSI and recent returns</a:t>
            </a:r>
          </a:p>
        </p:txBody>
      </p:sp>
      <p:sp>
        <p:nvSpPr>
          <p:cNvPr id="37" name="TextBox 36"/>
          <p:cNvSpPr txBox="1"/>
          <p:nvPr/>
        </p:nvSpPr>
        <p:spPr>
          <a:xfrm>
            <a:off x="5846064" y="493776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Calm / normal / stressed market regimes</a:t>
            </a:r>
          </a:p>
        </p:txBody>
      </p:sp>
      <p:sp>
        <p:nvSpPr>
          <p:cNvPr id="38" name="TextBox 37"/>
          <p:cNvSpPr txBox="1"/>
          <p:nvPr/>
        </p:nvSpPr>
        <p:spPr>
          <a:xfrm>
            <a:off x="8674608" y="493776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An agent slicing a 100,000-share order to cut cost</a:t>
            </a:r>
          </a:p>
        </p:txBody>
      </p:sp>
      <p:sp>
        <p:nvSpPr>
          <p:cNvPr id="39" name="TextBox 38"/>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Main risk</a:t>
            </a:r>
          </a:p>
        </p:txBody>
      </p:sp>
      <p:sp>
        <p:nvSpPr>
          <p:cNvPr id="40" name="TextBox 39"/>
          <p:cNvSpPr txBox="1"/>
          <p:nvPr/>
        </p:nvSpPr>
        <p:spPr>
          <a:xfrm>
            <a:off x="3017520" y="560070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Overfitting noise; look-ahead leakage</a:t>
            </a:r>
          </a:p>
        </p:txBody>
      </p:sp>
      <p:sp>
        <p:nvSpPr>
          <p:cNvPr id="41" name="TextBox 40"/>
          <p:cNvSpPr txBox="1"/>
          <p:nvPr/>
        </p:nvSpPr>
        <p:spPr>
          <a:xfrm>
            <a:off x="5846064" y="560070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Meaningless or unstable clusters</a:t>
            </a:r>
          </a:p>
        </p:txBody>
      </p:sp>
      <p:sp>
        <p:nvSpPr>
          <p:cNvPr id="42" name="TextBox 41"/>
          <p:cNvSpPr txBox="1"/>
          <p:nvPr/>
        </p:nvSpPr>
        <p:spPr>
          <a:xfrm>
            <a:off x="8674608" y="560070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Exploiting simulator flaws; unstable training</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Supervised Models for Trading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Linear / logistic regression</a:t>
            </a:r>
          </a:p>
          <a:p>
            <a:pPr algn="l">
              <a:spcAft>
                <a:spcPts val="300"/>
              </a:spcAft>
            </a:pPr>
            <a:r>
              <a:rPr sz="1150" b="0">
                <a:solidFill>
                  <a:srgbClr val="5B6372"/>
                </a:solidFill>
                <a:latin typeface="Arial"/>
              </a:rPr>
              <a:t>Interpretable baselines; P(up) from a weighted sum.</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Decision tree &amp; random forest</a:t>
            </a:r>
          </a:p>
          <a:p>
            <a:pPr algn="l">
              <a:spcAft>
                <a:spcPts val="300"/>
              </a:spcAft>
            </a:pPr>
            <a:r>
              <a:rPr sz="1150" b="0">
                <a:solidFill>
                  <a:srgbClr val="5B6372"/>
                </a:solidFill>
                <a:latin typeface="Arial"/>
              </a:rPr>
              <a:t>Threshold splits; averaged trees reduce variance.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XGBoost</a:t>
            </a:r>
          </a:p>
          <a:p>
            <a:pPr algn="l">
              <a:spcAft>
                <a:spcPts val="300"/>
              </a:spcAft>
            </a:pPr>
            <a:r>
              <a:rPr sz="1150" b="0">
                <a:solidFill>
                  <a:srgbClr val="5B6372"/>
                </a:solidFill>
                <a:latin typeface="Arial"/>
              </a:rPr>
              <a:t>Sequential boosted trees — strongest on tabular features.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Neural networks</a:t>
            </a:r>
          </a:p>
          <a:p>
            <a:pPr algn="l">
              <a:spcAft>
                <a:spcPts val="300"/>
              </a:spcAft>
            </a:pPr>
            <a:r>
              <a:rPr sz="1150" b="0">
                <a:solidFill>
                  <a:srgbClr val="5B6372"/>
                </a:solidFill>
                <a:latin typeface="Arial"/>
              </a:rPr>
              <a:t>MLP, LSTM, Transformer — data-hungry, easy to overfit.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Unsupervised Models for Regimes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K-means</a:t>
            </a:r>
          </a:p>
          <a:p>
            <a:pPr algn="l">
              <a:spcAft>
                <a:spcPts val="300"/>
              </a:spcAft>
            </a:pPr>
            <a:r>
              <a:rPr sz="1150" b="0">
                <a:solidFill>
                  <a:srgbClr val="5B6372"/>
                </a:solidFill>
                <a:latin typeface="Arial"/>
              </a:rPr>
              <a:t>Minimise within-cluster variance; choose k by elbow or silhouette.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Hierarchical clustering</a:t>
            </a:r>
          </a:p>
          <a:p>
            <a:pPr algn="l">
              <a:spcAft>
                <a:spcPts val="300"/>
              </a:spcAft>
            </a:pPr>
            <a:r>
              <a:rPr sz="1150" b="0">
                <a:solidFill>
                  <a:srgbClr val="5B6372"/>
                </a:solidFill>
                <a:latin typeface="Arial"/>
              </a:rPr>
              <a:t>Dendrogram of similar assets for diversification.</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PCA</a:t>
            </a:r>
          </a:p>
          <a:p>
            <a:pPr algn="l">
              <a:spcAft>
                <a:spcPts val="300"/>
              </a:spcAft>
            </a:pPr>
            <a:r>
              <a:rPr sz="1150" b="0">
                <a:solidFill>
                  <a:srgbClr val="5B6372"/>
                </a:solidFill>
                <a:latin typeface="Arial"/>
              </a:rPr>
              <a:t>First component ≈ the market; yield curve = level, slope, curvature.</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Fit on the past only</a:t>
            </a:r>
          </a:p>
          <a:p>
            <a:pPr algn="l">
              <a:spcAft>
                <a:spcPts val="300"/>
              </a:spcAft>
            </a:pPr>
            <a:r>
              <a:rPr sz="1150" b="0">
                <a:solidFill>
                  <a:srgbClr val="5B6372"/>
                </a:solidFill>
                <a:latin typeface="Arial"/>
              </a:rPr>
              <a:t>Assign new days to regimes as they arrive.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Statistical Modelling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Returns, not prices</a:t>
            </a:r>
          </a:p>
          <a:p>
            <a:pPr algn="l">
              <a:spcAft>
                <a:spcPts val="300"/>
              </a:spcAft>
            </a:pPr>
            <a:r>
              <a:rPr sz="1150" b="0">
                <a:solidFill>
                  <a:srgbClr val="5B6372"/>
                </a:solidFill>
                <a:latin typeface="Arial"/>
              </a:rPr>
              <a:t>Closer to stationary; avoids spurious regression.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Time-ordered validation</a:t>
            </a:r>
          </a:p>
          <a:p>
            <a:pPr algn="l">
              <a:spcAft>
                <a:spcPts val="300"/>
              </a:spcAft>
            </a:pPr>
            <a:r>
              <a:rPr sz="1150" b="0">
                <a:solidFill>
                  <a:srgbClr val="5B6372"/>
                </a:solidFill>
                <a:latin typeface="Arial"/>
              </a:rPr>
              <a:t>TimeSeriesSplit and walk-forward — never shuffle.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Leak-free features</a:t>
            </a:r>
          </a:p>
          <a:p>
            <a:pPr algn="l">
              <a:spcAft>
                <a:spcPts val="300"/>
              </a:spcAft>
            </a:pPr>
            <a:r>
              <a:rPr sz="1150" b="0">
                <a:solidFill>
                  <a:srgbClr val="5B6372"/>
                </a:solidFill>
                <a:latin typeface="Arial"/>
              </a:rPr>
              <a:t>Lags and rolling windows known at decision time.</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Regularise</a:t>
            </a:r>
          </a:p>
          <a:p>
            <a:pPr algn="l">
              <a:spcAft>
                <a:spcPts val="300"/>
              </a:spcAft>
            </a:pPr>
            <a:r>
              <a:rPr sz="1150" b="0">
                <a:solidFill>
                  <a:srgbClr val="5B6372"/>
                </a:solidFill>
                <a:latin typeface="Arial"/>
              </a:rPr>
              <a:t>L1/L2, depth limits, early stopping, fewer features.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 Testing Two Strategy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State H0 and H1 first</a:t>
            </a:r>
          </a:p>
          <a:p>
            <a:pPr algn="l">
              <a:spcAft>
                <a:spcPts val="300"/>
              </a:spcAft>
            </a:pPr>
            <a:r>
              <a:rPr sz="1150" b="0">
                <a:solidFill>
                  <a:srgbClr val="5B6372"/>
                </a:solidFill>
                <a:latin typeface="Arial"/>
              </a:rPr>
              <a:t>H0: equal mean returns; H1: B is higher. α = 5%.</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Welch's t-test</a:t>
            </a:r>
          </a:p>
          <a:p>
            <a:pPr algn="l">
              <a:spcAft>
                <a:spcPts val="300"/>
              </a:spcAft>
            </a:pPr>
            <a:r>
              <a:rPr sz="1150" b="0">
                <a:solidFill>
                  <a:srgbClr val="5B6372"/>
                </a:solidFill>
                <a:latin typeface="Arial"/>
              </a:rPr>
              <a:t>Compare mean daily returns with unequal variances.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Bootstrap the Sharpe difference</a:t>
            </a:r>
          </a:p>
          <a:p>
            <a:pPr algn="l">
              <a:spcAft>
                <a:spcPts val="300"/>
              </a:spcAft>
            </a:pPr>
            <a:r>
              <a:rPr sz="1150" b="0">
                <a:solidFill>
                  <a:srgbClr val="5B6372"/>
                </a:solidFill>
                <a:latin typeface="Arial"/>
              </a:rPr>
              <a:t>Resample returns; 95% CI excluding 0?</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Mind multiple testing</a:t>
            </a:r>
          </a:p>
          <a:p>
            <a:pPr algn="l">
              <a:spcAft>
                <a:spcPts val="300"/>
              </a:spcAft>
            </a:pPr>
            <a:r>
              <a:rPr sz="1150" b="0">
                <a:solidFill>
                  <a:srgbClr val="5B6372"/>
                </a:solidFill>
                <a:latin typeface="Arial"/>
              </a:rPr>
              <a:t>100 variants → ~5 false 'winners' by chance.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Logistic Regression for Direction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logistic.png"/>
          <p:cNvPicPr>
            <a:picLocks noChangeAspect="1"/>
          </p:cNvPicPr>
          <p:nvPr/>
        </p:nvPicPr>
        <p:blipFill>
          <a:blip r:embed="rId2"/>
          <a:stretch>
            <a:fillRect/>
          </a:stretch>
        </p:blipFill>
        <p:spPr>
          <a:xfrm>
            <a:off x="777240" y="2529219"/>
            <a:ext cx="6172200" cy="294256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Fits P(up tomorrow) = 1 / (1 + e^-(b0 + b1 x1 + ...)) from features known today.</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Go long when P(up) exceeds a threshold such as 0.55; otherwise stay flat.</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A transparent baseline: each coefficient shows how a feature moves the probability.</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Only linear effects unless you engineer features; daily direction is close to a coin toss.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Decision Tree and Random Forest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tree.png"/>
          <p:cNvPicPr>
            <a:picLocks noChangeAspect="1"/>
          </p:cNvPicPr>
          <p:nvPr/>
        </p:nvPicPr>
        <p:blipFill>
          <a:blip r:embed="rId2"/>
          <a:stretch>
            <a:fillRect/>
          </a:stretch>
        </p:blipFill>
        <p:spPr>
          <a:xfrm>
            <a:off x="777240" y="2508173"/>
            <a:ext cx="6172200" cy="298465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A tree splits the data on feature thresholds (e.g. RSI &lt; 30) into leaves with an up/down share.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A random forest averages hundreds of trees, each grown on a random sample of rows and features.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Non-linear, interacting signals - e.g. oversold AND low volatility.</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Deep trees memorise noise; limit depth and leaf size and validate walk-forward.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Gradient Boosting (XGBoost)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boosting.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Builds trees one after another; each new tree corrects the errors of the ensemble so far.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Prediction = sum of many small trees x learning rate; stop early when test loss stops falling.</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Tabular features such as returns, indicators and volatility - usually the strongest model.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Training loss keeps falling while test loss rises: classic overfitting (see the chart).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K-Means Clustering for Market Regimes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kmeans.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Groups days into k clusters by minimising the distance of each day to its cluster centre.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Features: rolling return and volatility (standardised). Name clusters by their averages.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Switching or sizing strategies by regime: trend in calm markets, cut risk when stressed.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Fit on past data only; choose k with the elbow or silhouette method; regimes shift.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Principal Component Analysis (PCA)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pca.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Finds uncorrelated combinations of assets that explain the most variance of returns.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PC1 of a stock universe is 'the market'; later PCs are sector or style factors.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Reducing many correlated features; building factor-neutral and pairs portfolios.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Standardise first; components change over time; PCs are statistical, not economic, factors.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Method: Walk-Forward Validation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walk_forward.png"/>
          <p:cNvPicPr>
            <a:picLocks noChangeAspect="1"/>
          </p:cNvPicPr>
          <p:nvPr/>
        </p:nvPicPr>
        <p:blipFill>
          <a:blip r:embed="rId2"/>
          <a:stretch>
            <a:fillRect/>
          </a:stretch>
        </p:blipFill>
        <p:spPr>
          <a:xfrm>
            <a:off x="777240" y="2633240"/>
            <a:ext cx="6172200" cy="273451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Train on a past window, test on the next unseen block, then roll forward and repeat.</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Never shuffle time series; each test block is genuinely out of sample.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Estimating how a model or parameter set would really have performed live.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Overlapping targets leak information - leave a gap between train and test.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Method: A/B Testing Two Strategy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ab_test.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Compare variant A and B on the same days: H0 'no difference' vs H1 'B is better'.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Welch / paired t-test on daily returns; bootstrap a 95% CI of the Sharpe difference.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Deciding which parameter set or filter to promote to paper trading.</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If the CI contains 0, do not reject H0; testing 100 variants gives ~5 false winners.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Probability to 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Build leak-free features</a:t>
            </a:r>
          </a:p>
        </p:txBody>
      </p:sp>
      <p:sp>
        <p:nvSpPr>
          <p:cNvPr id="15" name="TextBox 14"/>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6" name="Rectangle 15"/>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Train on past window</a:t>
            </a:r>
          </a:p>
        </p:txBody>
      </p:sp>
      <p:sp>
        <p:nvSpPr>
          <p:cNvPr id="21" name="TextBox 20"/>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2" name="Rectangle 21"/>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Predict P(up) for tomorrow</a:t>
            </a:r>
          </a:p>
        </p:txBody>
      </p:sp>
      <p:sp>
        <p:nvSpPr>
          <p:cNvPr id="27" name="TextBox 26"/>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Long if P(up) &gt; 0.55, else flat</a:t>
            </a:r>
          </a:p>
        </p:txBody>
      </p:sp>
      <p:sp>
        <p:nvSpPr>
          <p:cNvPr id="33" name="TextBox 32"/>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4" name="Rectangle 33"/>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Backtest net of costs</a:t>
            </a:r>
          </a:p>
        </p:txBody>
      </p:sp>
      <p:sp>
        <p:nvSpPr>
          <p:cNvPr id="39" name="Rectangle 38"/>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Judge the model by the net-of-cost strategy, not by accuracy alone.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PAIRS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Pairs Trading: a Hedging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Why it is a hedge</a:t>
            </a:r>
          </a:p>
          <a:p>
            <a:pPr algn="l">
              <a:spcAft>
                <a:spcPts val="300"/>
              </a:spcAft>
            </a:pPr>
            <a:r>
              <a:rPr sz="1000" b="0">
                <a:solidFill>
                  <a:srgbClr val="5B6372"/>
                </a:solidFill>
                <a:latin typeface="Arial"/>
              </a:rPr>
              <a:t>Long the cheap stock, short the rich one in hedge-ratio proportion: market moves largely cancel</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Choose the pair</a:t>
            </a:r>
          </a:p>
          <a:p>
            <a:pPr algn="l">
              <a:spcAft>
                <a:spcPts val="300"/>
              </a:spcAft>
            </a:pPr>
            <a:r>
              <a:rPr sz="1000" b="0">
                <a:solidFill>
                  <a:srgbClr val="5B6372"/>
                </a:solidFill>
                <a:latin typeface="Arial"/>
              </a:rPr>
              <a:t>Economically linked stocks (e.g. KO and PEP) that are cointegrated, not merely correlated</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Hedge ratio and spread</a:t>
            </a:r>
          </a:p>
          <a:p>
            <a:pPr algn="l">
              <a:spcAft>
                <a:spcPts val="300"/>
              </a:spcAft>
            </a:pPr>
            <a:r>
              <a:rPr sz="1000" b="0">
                <a:solidFill>
                  <a:srgbClr val="5B6372"/>
                </a:solidFill>
                <a:latin typeface="Arial"/>
              </a:rPr>
              <a:t>Regress log price A on log price B: slope = hedge ratio, residual = the spread (Engle-Granger)</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Test the spread</a:t>
            </a:r>
          </a:p>
          <a:p>
            <a:pPr algn="l">
              <a:spcAft>
                <a:spcPts val="300"/>
              </a:spcAft>
            </a:pPr>
            <a:r>
              <a:rPr sz="1000" b="0">
                <a:solidFill>
                  <a:srgbClr val="5B6372"/>
                </a:solidFill>
                <a:latin typeface="Arial"/>
              </a:rPr>
              <a:t>ADF test on the residual: a stationary spread tends to revert to its mean</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Trade the z-score</a:t>
            </a:r>
          </a:p>
          <a:p>
            <a:pPr algn="l">
              <a:spcAft>
                <a:spcPts val="300"/>
              </a:spcAft>
            </a:pPr>
            <a:r>
              <a:rPr sz="1000" b="0">
                <a:solidFill>
                  <a:srgbClr val="5B6372"/>
                </a:solidFill>
                <a:latin typeface="Arial"/>
              </a:rPr>
              <a:t>Enter when |z| &gt; 2, exit as z returns towards 0; trade both legs on the next bar</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Risks</a:t>
            </a:r>
          </a:p>
          <a:p>
            <a:pPr algn="l">
              <a:spcAft>
                <a:spcPts val="300"/>
              </a:spcAft>
            </a:pPr>
            <a:r>
              <a:rPr sz="1000" b="0">
                <a:solidFill>
                  <a:srgbClr val="5B6372"/>
                </a:solidFill>
                <a:latin typeface="Arial"/>
              </a:rPr>
              <a:t>Cointegration breaks, hedge ratio drifts, double costs, short-borrow, multiple testing</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PAIRS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Pairs-Trading Algorithm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Select an economically linked pair</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Estimate the hedge ratio (OLS)</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Test cointegration (ADF on residual)</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Compute the spread z-score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Enter / exit both legs</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Monitor and re-test</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Gatev, Goetzmann and Rouwenhorst (2006): a simple pairs rule on US stocks earned average annualised excess returns of up to 11% (1962-2002); later studies find smaller and less consistent profits.</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Algorithm: Pairs Trading (Hedged Statistical Arbitrage)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pairs.png"/>
          <p:cNvPicPr>
            <a:picLocks noChangeAspect="1"/>
          </p:cNvPicPr>
          <p:nvPr/>
        </p:nvPicPr>
        <p:blipFill>
          <a:blip r:embed="rId2"/>
          <a:stretch>
            <a:fillRect/>
          </a:stretch>
        </p:blipFill>
        <p:spPr>
          <a:xfrm>
            <a:off x="777240" y="2083742"/>
            <a:ext cx="6172200" cy="383351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Long one stock, short a cointegrated partner in hedge-ratio proportion: market moves cancel.</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Spread z &gt; +2: short A / long B. z &lt; -2: long A / short B. Exit as z returns to 0.</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Economically linked stocks (KO/PEP) whose spread has a stable mean.</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Cointegration can break; costs on both legs; short-borrow; screening many pairs.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Strategy-Search Stage: Grid Search, Out-of-Sample Ranking and Decay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10</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Grid-search SMA crossover parameters in-sample and measure how the ranking decays out of sample.</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grid</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the decay</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Walk-forward</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IS and OOS Sharpe heatmaps, a rank correlation and a robust parameter region.</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10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Run the grid</a:t>
            </a:r>
          </a:p>
          <a:p>
            <a:pPr algn="l">
              <a:spcAft>
                <a:spcPts val="200"/>
              </a:spcAft>
            </a:pPr>
            <a:r>
              <a:rPr sz="1000" b="1">
                <a:solidFill>
                  <a:srgbClr val="10B981"/>
                </a:solidFill>
                <a:latin typeface="Arial"/>
              </a:rPr>
              <a:t>▸ Research &gt; Grid SPY SMA cross</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Strategy search: SMA crossover on SPY, in-sample to 2021-12-31, Alpaca costs. Press Search.</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About 24 parameter sets; two heatmaps appear.</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Read the decay</a:t>
            </a:r>
          </a:p>
          <a:p>
            <a:pPr algn="l">
              <a:spcAft>
                <a:spcPts val="200"/>
              </a:spcAft>
            </a:pPr>
            <a:r>
              <a:rPr sz="1000" b="1">
                <a:solidFill>
                  <a:srgbClr val="10B981"/>
                </a:solidFill>
                <a:latin typeface="Arial"/>
              </a:rPr>
              <a:t>▸ Research &gt; Strategy search</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Compare the in-sample and out-of-sample heatmaps and the IS-&gt;OOS rank correlation.</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explain why the single best in-sample cell is usually not the best out of sample, and why a robust region is preferred.</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Walk-forward</a:t>
            </a:r>
          </a:p>
          <a:p>
            <a:pPr algn="l">
              <a:spcAft>
                <a:spcPts val="200"/>
              </a:spcAft>
            </a:pPr>
            <a:r>
              <a:rPr sz="1000" b="1">
                <a:solidFill>
                  <a:srgbClr val="10B981"/>
                </a:solidFill>
                <a:latin typeface="Arial"/>
              </a:rPr>
              <a:t>▸ Research &gt; Walk-forward SPY</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Walk-forward: SMA crossover on SPY (3-year train, 1-year test).</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stitched out-of-sample equity curve and the parameters chosen in each window.</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lab10_strategy_search_16x9.png"/>
          <p:cNvPicPr>
            <a:picLocks noChangeAspect="1"/>
          </p:cNvPicPr>
          <p:nvPr/>
        </p:nvPicPr>
        <p:blipFill>
          <a:blip r:embed="rId2"/>
          <a:stretch>
            <a:fillRect/>
          </a:stretch>
        </p:blipFill>
        <p:spPr>
          <a:xfrm>
            <a:off x="777240" y="1807866"/>
            <a:ext cx="6903720" cy="3653747"/>
          </a:xfrm>
          <a:prstGeom prst="rect">
            <a:avLst/>
          </a:prstGeom>
        </p:spPr>
      </p:pic>
      <p:sp>
        <p:nvSpPr>
          <p:cNvPr id="11" name="Rectangle 10"/>
          <p:cNvSpPr/>
          <p:nvPr/>
        </p:nvSpPr>
        <p:spPr>
          <a:xfrm>
            <a:off x="766267" y="1796893"/>
            <a:ext cx="6925665" cy="3675693"/>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5314" y="2608036"/>
            <a:ext cx="1629277" cy="2407819"/>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59866" y="2489164"/>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 y="248916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641244" y="2608036"/>
            <a:ext cx="5025908" cy="354413"/>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485796" y="2489164"/>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85796" y="248916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724089" y="3316863"/>
            <a:ext cx="1505010" cy="975550"/>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68641" y="3197991"/>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68641" y="31979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5216331" y="3316863"/>
            <a:ext cx="1511914" cy="97555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060883" y="3197991"/>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60883" y="31979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724089" y="4325298"/>
            <a:ext cx="4197461" cy="241147"/>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68641" y="420642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68641" y="420642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The grid</a:t>
            </a:r>
          </a:p>
          <a:p>
            <a:pPr algn="l">
              <a:spcAft>
                <a:spcPts val="100"/>
              </a:spcAft>
            </a:pPr>
            <a:r>
              <a:rPr sz="1000" b="0">
                <a:solidFill>
                  <a:srgbClr val="161B26"/>
                </a:solidFill>
                <a:latin typeface="Arial"/>
              </a:rPr>
              <a:t>SMA crossover on SPY: fast 5-50 x slow 50-250, in-sample to 31/12/2021.</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Decay summary</a:t>
            </a:r>
          </a:p>
          <a:p>
            <a:pPr algn="l">
              <a:spcAft>
                <a:spcPts val="100"/>
              </a:spcAft>
            </a:pPr>
            <a:r>
              <a:rPr sz="1000" b="0">
                <a:solidFill>
                  <a:srgbClr val="161B26"/>
                </a:solidFill>
                <a:latin typeface="Arial"/>
              </a:rPr>
              <a:t>24 sets; IS -&gt; OOS rank correlation -0.36: the in-sample ranking does not hold.</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In-sample heatmap</a:t>
            </a:r>
          </a:p>
          <a:p>
            <a:pPr algn="l">
              <a:spcAft>
                <a:spcPts val="100"/>
              </a:spcAft>
            </a:pPr>
            <a:r>
              <a:rPr sz="1000" b="0">
                <a:solidFill>
                  <a:srgbClr val="161B26"/>
                </a:solidFill>
                <a:latin typeface="Arial"/>
              </a:rPr>
              <a:t>Greener = higher Sharpe to 2021. The best cell, 10/100, scores 1.23.</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Out-of-sample heatmap</a:t>
            </a:r>
          </a:p>
          <a:p>
            <a:pPr algn="l">
              <a:spcAft>
                <a:spcPts val="100"/>
              </a:spcAft>
            </a:pPr>
            <a:r>
              <a:rPr sz="1000" b="0">
                <a:solidFill>
                  <a:srgbClr val="161B26"/>
                </a:solidFill>
                <a:latin typeface="Arial"/>
              </a:rPr>
              <a:t>The same cells after 2021: 10/100 drops to 0.70 and the winners move.</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Robust region</a:t>
            </a:r>
          </a:p>
          <a:p>
            <a:pPr algn="l">
              <a:spcAft>
                <a:spcPts val="100"/>
              </a:spcAft>
            </a:pPr>
            <a:r>
              <a:rPr sz="1000" b="0">
                <a:solidFill>
                  <a:srgbClr val="161B26"/>
                </a:solidFill>
                <a:latin typeface="Arial"/>
              </a:rPr>
              <a:t>Prefer the cell whose neighbours are also good, not the single best cell.</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The best in-sample setting is rarely the best out of sample: choose a robust region, then walk-forward.</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Walk-Forward: Re-Tune, Then Test Unseen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10_walkforward.png"/>
          <p:cNvPicPr>
            <a:picLocks noChangeAspect="1"/>
          </p:cNvPicPr>
          <p:nvPr/>
        </p:nvPicPr>
        <p:blipFill>
          <a:blip r:embed="rId2"/>
          <a:stretch>
            <a:fillRect/>
          </a:stretch>
        </p:blipFill>
        <p:spPr>
          <a:xfrm>
            <a:off x="1538854" y="1645920"/>
            <a:ext cx="9113985" cy="4114800"/>
          </a:xfrm>
          <a:prstGeom prst="rect">
            <a:avLst/>
          </a:prstGeom>
        </p:spPr>
      </p:pic>
      <p:sp>
        <p:nvSpPr>
          <p:cNvPr id="8" name="Rectangle 7"/>
          <p:cNvSpPr/>
          <p:nvPr/>
        </p:nvSpPr>
        <p:spPr>
          <a:xfrm>
            <a:off x="1527881" y="1634947"/>
            <a:ext cx="9135931"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Research &gt; Walk-forward: SMA crossover on SPY, 3-year train, 1-year test. Stitched out of sample: CAGR 8.40% (buy-and-hold 14.40%), Sharpe 0.72 (0.87), max drawdown -20.26% (-24.50%).</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ML-Signal Stage: a Walk-Forward Classifier from Probability to 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11</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Train logistic regression, random forest and XGBoost walk-forward and trade P(up) &gt; threshold.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Train the classifiers</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an ML strategy</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Check for leakage</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Accuracy / AUC table, feature importance and a net-of-cost backtest of the ML signal.</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11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11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Train the classifiers</a:t>
            </a:r>
          </a:p>
          <a:p>
            <a:pPr algn="l">
              <a:spcAft>
                <a:spcPts val="200"/>
              </a:spcAft>
            </a:pPr>
            <a:r>
              <a:rPr sz="1000" b="1">
                <a:solidFill>
                  <a:srgbClr val="10B981"/>
                </a:solidFill>
                <a:latin typeface="Arial"/>
              </a:rPr>
              <a:t>▸ Research &gt; ML SPY</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ML models on SPY, threshold 0.55.</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AUC close to 0.5 - daily direction is close to a coin toss; read the verdict.</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Backtest an ML strategy</a:t>
            </a:r>
          </a:p>
          <a:p>
            <a:pPr algn="l">
              <a:spcAft>
                <a:spcPts val="200"/>
              </a:spcAft>
            </a:pPr>
            <a:r>
              <a:rPr sz="1000" b="1">
                <a:solidFill>
                  <a:srgbClr val="10B981"/>
                </a:solidFill>
                <a:latin typeface="Arial"/>
              </a:rPr>
              <a:t>▸ Backtest SPY XGBoost</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Backtest 'ML: XGBoost (walk-forward)' on SPY.</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Judge the model by the net-of-cost strategy, not by accuracy.</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Check for leakage</a:t>
            </a:r>
          </a:p>
          <a:p>
            <a:pPr algn="l">
              <a:spcAft>
                <a:spcPts val="200"/>
              </a:spcAft>
            </a:pPr>
            <a:r>
              <a:rPr sz="1000" b="1">
                <a:solidFill>
                  <a:srgbClr val="10B981"/>
                </a:solidFill>
                <a:latin typeface="Arial"/>
              </a:rPr>
              <a:t>▸ Research &gt; Diagnostics</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Diagnostics on 'ML: logistic regression'.</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Look-ahead check PASS: refits use only past bars.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11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lab11_ml_models_16x9.png"/>
          <p:cNvPicPr>
            <a:picLocks noChangeAspect="1"/>
          </p:cNvPicPr>
          <p:nvPr/>
        </p:nvPicPr>
        <p:blipFill>
          <a:blip r:embed="rId2"/>
          <a:stretch>
            <a:fillRect/>
          </a:stretch>
        </p:blipFill>
        <p:spPr>
          <a:xfrm>
            <a:off x="777240" y="1901095"/>
            <a:ext cx="6903720" cy="3467288"/>
          </a:xfrm>
          <a:prstGeom prst="rect">
            <a:avLst/>
          </a:prstGeom>
        </p:spPr>
      </p:pic>
      <p:sp>
        <p:nvSpPr>
          <p:cNvPr id="11" name="Rectangle 10"/>
          <p:cNvSpPr/>
          <p:nvPr/>
        </p:nvSpPr>
        <p:spPr>
          <a:xfrm>
            <a:off x="766267" y="1890122"/>
            <a:ext cx="6925665" cy="3489234"/>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5314" y="2733244"/>
            <a:ext cx="1622374" cy="1629625"/>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59866" y="2614372"/>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 y="2614372"/>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3469690" y="2837263"/>
            <a:ext cx="1656892" cy="988177"/>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314242" y="2718391"/>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14242" y="27183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5140391" y="2837263"/>
            <a:ext cx="987231" cy="1265560"/>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984943" y="2718391"/>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84943" y="27183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6127623" y="2837263"/>
            <a:ext cx="1484299" cy="988177"/>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72175" y="2718391"/>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72175" y="27183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41244" y="4449552"/>
            <a:ext cx="5005197" cy="918831"/>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485796" y="4330680"/>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85796" y="433068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Train walk-forward</a:t>
            </a:r>
          </a:p>
          <a:p>
            <a:pPr algn="l">
              <a:spcAft>
                <a:spcPts val="100"/>
              </a:spcAft>
            </a:pPr>
            <a:r>
              <a:rPr sz="1000" b="0">
                <a:solidFill>
                  <a:srgbClr val="161B26"/>
                </a:solidFill>
                <a:latin typeface="Arial"/>
              </a:rPr>
              <a:t>SPY, long when P(up) &gt; 0.55; every model refits every 126 bars on past data only.</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Accuracy, AUC, base rate</a:t>
            </a:r>
          </a:p>
          <a:p>
            <a:pPr algn="l">
              <a:spcAft>
                <a:spcPts val="100"/>
              </a:spcAft>
            </a:pPr>
            <a:r>
              <a:rPr sz="1000" b="0">
                <a:solidFill>
                  <a:srgbClr val="161B26"/>
                </a:solidFill>
                <a:latin typeface="Arial"/>
              </a:rPr>
              <a:t>53-54% accuracy is below the 55.2% base rate; AUC about 0.5 = a coin toss.</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Net-of-cost result</a:t>
            </a:r>
          </a:p>
          <a:p>
            <a:pPr algn="l">
              <a:spcAft>
                <a:spcPts val="100"/>
              </a:spcAft>
            </a:pPr>
            <a:r>
              <a:rPr sz="1000" b="0">
                <a:solidFill>
                  <a:srgbClr val="161B26"/>
                </a:solidFill>
                <a:latin typeface="Arial"/>
              </a:rPr>
              <a:t>OOS Sharpe 0.36-0.61 vs buy-and-hold 0.78: none beats simply holding SPY.</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Verdict</a:t>
            </a:r>
          </a:p>
          <a:p>
            <a:pPr algn="l">
              <a:spcAft>
                <a:spcPts val="100"/>
              </a:spcAft>
            </a:pPr>
            <a:r>
              <a:rPr sz="1000" b="0">
                <a:solidFill>
                  <a:srgbClr val="161B26"/>
                </a:solidFill>
                <a:latin typeface="Arial"/>
              </a:rPr>
              <a:t>NO EDGE for all three models: keep the ML signal out of the live strategy.</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Feature importance</a:t>
            </a:r>
          </a:p>
          <a:p>
            <a:pPr algn="l">
              <a:spcAft>
                <a:spcPts val="100"/>
              </a:spcAft>
            </a:pPr>
            <a:r>
              <a:rPr sz="1000" b="0">
                <a:solidFill>
                  <a:srgbClr val="161B26"/>
                </a:solidFill>
                <a:latin typeface="Arial"/>
              </a:rPr>
              <a:t>The inputs the random forest leaned on: volume, lagged return, distance to SMA 50.</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A model that cannot beat the base rate, with AUC near 0.5, has no edge - however clever it looks.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Regime-Filter Stage: PCA and K-Means as a Gate on the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12</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Find market regimes with walk-forward K-means and gate a signal in the high-volatility regime.</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Analyse regimes</a:t>
            </a:r>
          </a:p>
        </p:txBody>
      </p:sp>
      <p:sp>
        <p:nvSpPr>
          <p:cNvPr id="19" name="TextBox 18"/>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6213348"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3348"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6323076"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the regime-filtered strategy</a:t>
            </a:r>
          </a:p>
        </p:txBody>
      </p:sp>
      <p:sp>
        <p:nvSpPr>
          <p:cNvPr id="25" name="Rectangle 24"/>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8" name="TextBox 27"/>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PCA explained variance, a regime timeline and gated vs ungated performance.</a:t>
            </a:r>
          </a:p>
        </p:txBody>
      </p:sp>
      <p:sp>
        <p:nvSpPr>
          <p:cNvPr id="29" name="TextBox 28"/>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12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12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Analyse regimes</a:t>
            </a:r>
          </a:p>
          <a:p>
            <a:pPr algn="l">
              <a:spcAft>
                <a:spcPts val="200"/>
              </a:spcAft>
            </a:pPr>
            <a:r>
              <a:rPr sz="1000" b="1">
                <a:solidFill>
                  <a:srgbClr val="10B981"/>
                </a:solidFill>
                <a:latin typeface="Arial"/>
              </a:rPr>
              <a:t>▸ Research &gt; Regimes SPY</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Regimes: SPY, 3 clusters, gate the EMA crossover.</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PC1 explains the largest share of variance (the market factor); the 2020 crash is in the stress regime.</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Backtest the regime-filtered strategy</a:t>
            </a:r>
          </a:p>
          <a:p>
            <a:pPr algn="l">
              <a:spcAft>
                <a:spcPts val="200"/>
              </a:spcAft>
            </a:pPr>
            <a:r>
              <a:rPr sz="1000" b="1">
                <a:solidFill>
                  <a:srgbClr val="10B981"/>
                </a:solidFill>
                <a:latin typeface="Arial"/>
              </a:rPr>
              <a:t>▸ Backtest SPY regime filter</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Backtest 'Regime-filtered strategy (K-means gate)'.</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Compare max drawdown with the ungated EMA crossover.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12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lab12_regimes_16x9.png"/>
          <p:cNvPicPr>
            <a:picLocks noChangeAspect="1"/>
          </p:cNvPicPr>
          <p:nvPr/>
        </p:nvPicPr>
        <p:blipFill>
          <a:blip r:embed="rId2"/>
          <a:stretch>
            <a:fillRect/>
          </a:stretch>
        </p:blipFill>
        <p:spPr>
          <a:xfrm>
            <a:off x="777240" y="2132785"/>
            <a:ext cx="6903720" cy="3003908"/>
          </a:xfrm>
          <a:prstGeom prst="rect">
            <a:avLst/>
          </a:prstGeom>
        </p:spPr>
      </p:pic>
      <p:sp>
        <p:nvSpPr>
          <p:cNvPr id="11" name="Rectangle 10"/>
          <p:cNvSpPr/>
          <p:nvPr/>
        </p:nvSpPr>
        <p:spPr>
          <a:xfrm>
            <a:off x="766267" y="2121812"/>
            <a:ext cx="6925665" cy="3025854"/>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5314" y="2937833"/>
            <a:ext cx="1601663" cy="1637130"/>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59866" y="281896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 y="281896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606725" y="2937833"/>
            <a:ext cx="5005197" cy="360469"/>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451277" y="2818961"/>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51277" y="281896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75763" y="3808966"/>
            <a:ext cx="2105634" cy="582758"/>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20315" y="3690094"/>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20315" y="369009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4781397" y="3808966"/>
            <a:ext cx="2726969" cy="582758"/>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625949" y="3690094"/>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5949" y="369009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96474" y="4650061"/>
            <a:ext cx="4825700" cy="417543"/>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41026" y="4531189"/>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41026" y="4531189"/>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Settings</a:t>
            </a:r>
          </a:p>
          <a:p>
            <a:pPr algn="l">
              <a:spcAft>
                <a:spcPts val="100"/>
              </a:spcAft>
            </a:pPr>
            <a:r>
              <a:rPr sz="1000" b="0">
                <a:solidFill>
                  <a:srgbClr val="161B26"/>
                </a:solidFill>
                <a:latin typeface="Arial"/>
              </a:rPr>
              <a:t>SPY, 3 clusters (k), gating the EMA crossover signal.</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Today's regime and gate</a:t>
            </a:r>
          </a:p>
          <a:p>
            <a:pPr algn="l">
              <a:spcAft>
                <a:spcPts val="100"/>
              </a:spcAft>
            </a:pPr>
            <a:r>
              <a:rPr sz="1000" b="0">
                <a:solidFill>
                  <a:srgbClr val="161B26"/>
                </a:solidFill>
                <a:latin typeface="Arial"/>
              </a:rPr>
              <a:t>Low vol, gate OPEN: signals pass. Regimes are refitted walk-forward on past data only.</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How common each regime is</a:t>
            </a:r>
          </a:p>
          <a:p>
            <a:pPr algn="l">
              <a:spcAft>
                <a:spcPts val="100"/>
              </a:spcAft>
            </a:pPr>
            <a:r>
              <a:rPr sz="1000" b="0">
                <a:solidFill>
                  <a:srgbClr val="161B26"/>
                </a:solidFill>
                <a:latin typeface="Arial"/>
              </a:rPr>
              <a:t>Low vol 72% of days, moderate vol 27%, high-vol stress 1% (22 days).</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How each regime behaves</a:t>
            </a:r>
          </a:p>
          <a:p>
            <a:pPr algn="l">
              <a:spcAft>
                <a:spcPts val="100"/>
              </a:spcAft>
            </a:pPr>
            <a:r>
              <a:rPr sz="1000" b="0">
                <a:solidFill>
                  <a:srgbClr val="161B26"/>
                </a:solidFill>
                <a:latin typeface="Arial"/>
              </a:rPr>
              <a:t>Stress: 82.5% vol and -18.7% over 21 days; low vol has the best next-day Sharpe (1.17).</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Regime timeline</a:t>
            </a:r>
          </a:p>
          <a:p>
            <a:pPr algn="l">
              <a:spcAft>
                <a:spcPts val="100"/>
              </a:spcAft>
            </a:pPr>
            <a:r>
              <a:rPr sz="1000" b="0">
                <a:solidFill>
                  <a:srgbClr val="161B26"/>
                </a:solidFill>
                <a:latin typeface="Arial"/>
              </a:rPr>
              <a:t>The walk-forward regime day by day, 2019-2025: red = stress (the 2020 crash), orange = moderate.</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Trade the signal only while the gate is open - and A/B test the gate before it goes live.</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A/B-Test Stage: a Statistical Decision before Capital Moves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13</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Decide statistically between two variants before moving capital.</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A/B test</a:t>
            </a:r>
          </a:p>
        </p:txBody>
      </p:sp>
      <p:sp>
        <p:nvSpPr>
          <p:cNvPr id="19" name="TextBox 18"/>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6213348"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3348"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6323076"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Your own variants</a:t>
            </a:r>
          </a:p>
        </p:txBody>
      </p:sp>
      <p:sp>
        <p:nvSpPr>
          <p:cNvPr id="25" name="Rectangle 24"/>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8" name="TextBox 27"/>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Welch and paired t-tests, a bootstrap Sharpe CI and a decision with a multiple-testing caution.</a:t>
            </a:r>
          </a:p>
        </p:txBody>
      </p:sp>
      <p:sp>
        <p:nvSpPr>
          <p:cNvPr id="29" name="TextBox 28"/>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13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13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Run the A/B test</a:t>
            </a:r>
          </a:p>
          <a:p>
            <a:pPr algn="l">
              <a:spcAft>
                <a:spcPts val="200"/>
              </a:spcAft>
            </a:pPr>
            <a:r>
              <a:rPr sz="1000" b="1">
                <a:solidFill>
                  <a:srgbClr val="10B981"/>
                </a:solidFill>
                <a:latin typeface="Arial"/>
              </a:rPr>
              <a:t>▸ Research &gt; A/B trend_filter vs dip_buy</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A/B test: A = Trend filter, B = Dip buy, SPY, alpha 0.05, 20 variants tried.</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Read the decision; if the CI contains 0, do not reject H0.</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Your own variants</a:t>
            </a:r>
          </a:p>
          <a:p>
            <a:pPr algn="l">
              <a:spcAft>
                <a:spcPts val="200"/>
              </a:spcAft>
            </a:pPr>
            <a:r>
              <a:rPr sz="1000" b="1">
                <a:solidFill>
                  <a:srgbClr val="10B981"/>
                </a:solidFill>
                <a:latin typeface="Arial"/>
              </a:rPr>
              <a:t>▸ Research &gt; A/B test</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A = EMA crossover {"fast": 10, "slow": 30}, B = EMA crossover {"fast": 20, "slow": 50}.</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explain the Bonferroni-adjusted alpha.</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13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lab13_ab_test_16x9.png"/>
          <p:cNvPicPr>
            <a:picLocks noChangeAspect="1"/>
          </p:cNvPicPr>
          <p:nvPr/>
        </p:nvPicPr>
        <p:blipFill>
          <a:blip r:embed="rId2"/>
          <a:stretch>
            <a:fillRect/>
          </a:stretch>
        </p:blipFill>
        <p:spPr>
          <a:xfrm>
            <a:off x="777240" y="1919236"/>
            <a:ext cx="6903720" cy="3431007"/>
          </a:xfrm>
          <a:prstGeom prst="rect">
            <a:avLst/>
          </a:prstGeom>
        </p:spPr>
      </p:pic>
      <p:sp>
        <p:nvSpPr>
          <p:cNvPr id="11" name="Rectangle 10"/>
          <p:cNvSpPr/>
          <p:nvPr/>
        </p:nvSpPr>
        <p:spPr>
          <a:xfrm>
            <a:off x="766267" y="1908263"/>
            <a:ext cx="6925665" cy="34529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5314" y="2718661"/>
            <a:ext cx="1601663" cy="223701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59866" y="2599789"/>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 y="2599789"/>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606725" y="2718661"/>
            <a:ext cx="5019004" cy="572978"/>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451277" y="2599789"/>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51277" y="2599789"/>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06725" y="3377414"/>
            <a:ext cx="2492242" cy="446030"/>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51277" y="3258542"/>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51277" y="3258542"/>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5140391" y="3377414"/>
            <a:ext cx="2485339" cy="44603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84943" y="3258542"/>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84943" y="3258542"/>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06725" y="3902358"/>
            <a:ext cx="2471531" cy="1423867"/>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451277" y="378348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51277" y="378348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5154198" y="3902358"/>
            <a:ext cx="2471531" cy="1423867"/>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98750" y="3783486"/>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98750" y="378348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6</a:t>
            </a:r>
          </a:p>
        </p:txBody>
      </p:sp>
      <p:sp>
        <p:nvSpPr>
          <p:cNvPr id="30" name="Rectangle 29"/>
          <p:cNvSpPr/>
          <p:nvPr/>
        </p:nvSpPr>
        <p:spPr>
          <a:xfrm>
            <a:off x="7909560" y="1783080"/>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909560" y="1783080"/>
            <a:ext cx="64008" cy="556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65008" y="1914906"/>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65008" y="191490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4" name="TextBox 33"/>
          <p:cNvSpPr txBox="1"/>
          <p:nvPr/>
        </p:nvSpPr>
        <p:spPr>
          <a:xfrm>
            <a:off x="8458200" y="1783080"/>
            <a:ext cx="2880360" cy="556260"/>
          </a:xfrm>
          <a:prstGeom prst="rect">
            <a:avLst/>
          </a:prstGeom>
          <a:noFill/>
        </p:spPr>
        <p:txBody>
          <a:bodyPr wrap="square" anchor="ctr">
            <a:spAutoFit/>
          </a:bodyPr>
          <a:lstStyle/>
          <a:p>
            <a:pPr algn="l">
              <a:spcAft>
                <a:spcPts val="100"/>
              </a:spcAft>
            </a:pPr>
            <a:r>
              <a:rPr sz="1100" b="1">
                <a:solidFill>
                  <a:srgbClr val="1F6FEB"/>
                </a:solidFill>
                <a:latin typeface="Arial"/>
              </a:rPr>
              <a:t>Set up the test</a:t>
            </a:r>
          </a:p>
          <a:p>
            <a:pPr algn="l">
              <a:spcAft>
                <a:spcPts val="100"/>
              </a:spcAft>
            </a:pPr>
            <a:r>
              <a:rPr sz="950" b="0">
                <a:solidFill>
                  <a:srgbClr val="161B26"/>
                </a:solidFill>
                <a:latin typeface="Arial"/>
              </a:rPr>
              <a:t>A = Trend filter, B = Dip buy, SPY, alpha 0.05, 20 variants tried. H0: no difference.</a:t>
            </a:r>
          </a:p>
        </p:txBody>
      </p:sp>
      <p:sp>
        <p:nvSpPr>
          <p:cNvPr id="35" name="Rectangle 34"/>
          <p:cNvSpPr/>
          <p:nvPr/>
        </p:nvSpPr>
        <p:spPr>
          <a:xfrm>
            <a:off x="7909560" y="2412492"/>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09560" y="2412492"/>
            <a:ext cx="64008" cy="556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065008" y="254431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65008" y="2544318"/>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9" name="TextBox 38"/>
          <p:cNvSpPr txBox="1"/>
          <p:nvPr/>
        </p:nvSpPr>
        <p:spPr>
          <a:xfrm>
            <a:off x="8458200" y="2412492"/>
            <a:ext cx="2880360" cy="556260"/>
          </a:xfrm>
          <a:prstGeom prst="rect">
            <a:avLst/>
          </a:prstGeom>
          <a:noFill/>
        </p:spPr>
        <p:txBody>
          <a:bodyPr wrap="square" anchor="ctr">
            <a:spAutoFit/>
          </a:bodyPr>
          <a:lstStyle/>
          <a:p>
            <a:pPr algn="l">
              <a:spcAft>
                <a:spcPts val="100"/>
              </a:spcAft>
            </a:pPr>
            <a:r>
              <a:rPr sz="1100" b="1">
                <a:solidFill>
                  <a:srgbClr val="10B981"/>
                </a:solidFill>
                <a:latin typeface="Arial"/>
              </a:rPr>
              <a:t>The decision</a:t>
            </a:r>
          </a:p>
          <a:p>
            <a:pPr algn="l">
              <a:spcAft>
                <a:spcPts val="100"/>
              </a:spcAft>
            </a:pPr>
            <a:r>
              <a:rPr sz="950" b="0">
                <a:solidFill>
                  <a:srgbClr val="161B26"/>
                </a:solidFill>
                <a:latin typeface="Arial"/>
              </a:rPr>
              <a:t>DO NOT REJECT H0. 20 tries at 5% expect 1 lucky winner; Bonferroni needs p &lt; 0.0025.</a:t>
            </a:r>
          </a:p>
        </p:txBody>
      </p:sp>
      <p:sp>
        <p:nvSpPr>
          <p:cNvPr id="40" name="Rectangle 39"/>
          <p:cNvSpPr/>
          <p:nvPr/>
        </p:nvSpPr>
        <p:spPr>
          <a:xfrm>
            <a:off x="7909560" y="3041903"/>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09560" y="3041903"/>
            <a:ext cx="64008" cy="556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065008" y="3173729"/>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65008" y="3173729"/>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4" name="TextBox 43"/>
          <p:cNvSpPr txBox="1"/>
          <p:nvPr/>
        </p:nvSpPr>
        <p:spPr>
          <a:xfrm>
            <a:off x="8458200" y="3041903"/>
            <a:ext cx="2880360" cy="556260"/>
          </a:xfrm>
          <a:prstGeom prst="rect">
            <a:avLst/>
          </a:prstGeom>
          <a:noFill/>
        </p:spPr>
        <p:txBody>
          <a:bodyPr wrap="square" anchor="ctr">
            <a:spAutoFit/>
          </a:bodyPr>
          <a:lstStyle/>
          <a:p>
            <a:pPr algn="l">
              <a:spcAft>
                <a:spcPts val="100"/>
              </a:spcAft>
            </a:pPr>
            <a:r>
              <a:rPr sz="1100" b="1">
                <a:solidFill>
                  <a:srgbClr val="7C3AED"/>
                </a:solidFill>
                <a:latin typeface="Arial"/>
              </a:rPr>
              <a:t>Welch and paired t-tests</a:t>
            </a:r>
          </a:p>
          <a:p>
            <a:pPr algn="l">
              <a:spcAft>
                <a:spcPts val="100"/>
              </a:spcAft>
            </a:pPr>
            <a:r>
              <a:rPr sz="950" b="0">
                <a:solidFill>
                  <a:srgbClr val="161B26"/>
                </a:solidFill>
                <a:latin typeface="Arial"/>
              </a:rPr>
              <a:t>p 0.432 and 0.367, far above 0.05. Paired is the better test: same days, same market.</a:t>
            </a:r>
          </a:p>
        </p:txBody>
      </p:sp>
      <p:sp>
        <p:nvSpPr>
          <p:cNvPr id="45" name="Rectangle 44"/>
          <p:cNvSpPr/>
          <p:nvPr/>
        </p:nvSpPr>
        <p:spPr>
          <a:xfrm>
            <a:off x="7909560" y="3671315"/>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909560" y="3671315"/>
            <a:ext cx="64008" cy="556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065008" y="3803142"/>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65008" y="3803142"/>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9" name="TextBox 48"/>
          <p:cNvSpPr txBox="1"/>
          <p:nvPr/>
        </p:nvSpPr>
        <p:spPr>
          <a:xfrm>
            <a:off x="8458200" y="3671315"/>
            <a:ext cx="2880360" cy="556260"/>
          </a:xfrm>
          <a:prstGeom prst="rect">
            <a:avLst/>
          </a:prstGeom>
          <a:noFill/>
        </p:spPr>
        <p:txBody>
          <a:bodyPr wrap="square" anchor="ctr">
            <a:spAutoFit/>
          </a:bodyPr>
          <a:lstStyle/>
          <a:p>
            <a:pPr algn="l">
              <a:spcAft>
                <a:spcPts val="100"/>
              </a:spcAft>
            </a:pPr>
            <a:r>
              <a:rPr sz="1100" b="1">
                <a:solidFill>
                  <a:srgbClr val="F59E0B"/>
                </a:solidFill>
                <a:latin typeface="Arial"/>
              </a:rPr>
              <a:t>Sharpe gap and bootstrap</a:t>
            </a:r>
          </a:p>
          <a:p>
            <a:pPr algn="l">
              <a:spcAft>
                <a:spcPts val="100"/>
              </a:spcAft>
            </a:pPr>
            <a:r>
              <a:rPr sz="950" b="0">
                <a:solidFill>
                  <a:srgbClr val="161B26"/>
                </a:solidFill>
                <a:latin typeface="Arial"/>
              </a:rPr>
              <a:t>A - B = 0.34, but the 95% CI -0.36 to 1.04 contains 0. A wins 83% of resamples - not enough.</a:t>
            </a:r>
          </a:p>
        </p:txBody>
      </p:sp>
      <p:sp>
        <p:nvSpPr>
          <p:cNvPr id="50" name="Rectangle 49"/>
          <p:cNvSpPr/>
          <p:nvPr/>
        </p:nvSpPr>
        <p:spPr>
          <a:xfrm>
            <a:off x="7909560" y="4300728"/>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909560" y="4300728"/>
            <a:ext cx="64008" cy="556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065008" y="443255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65008" y="443255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4" name="TextBox 53"/>
          <p:cNvSpPr txBox="1"/>
          <p:nvPr/>
        </p:nvSpPr>
        <p:spPr>
          <a:xfrm>
            <a:off x="8458200" y="4300728"/>
            <a:ext cx="2880360" cy="556260"/>
          </a:xfrm>
          <a:prstGeom prst="rect">
            <a:avLst/>
          </a:prstGeom>
          <a:noFill/>
        </p:spPr>
        <p:txBody>
          <a:bodyPr wrap="square" anchor="ctr">
            <a:spAutoFit/>
          </a:bodyPr>
          <a:lstStyle/>
          <a:p>
            <a:pPr algn="l">
              <a:spcAft>
                <a:spcPts val="100"/>
              </a:spcAft>
            </a:pPr>
            <a:r>
              <a:rPr sz="1100" b="1">
                <a:solidFill>
                  <a:srgbClr val="1F6FEB"/>
                </a:solidFill>
                <a:latin typeface="Arial"/>
              </a:rPr>
              <a:t>Equity curves</a:t>
            </a:r>
          </a:p>
          <a:p>
            <a:pPr algn="l">
              <a:spcAft>
                <a:spcPts val="100"/>
              </a:spcAft>
            </a:pPr>
            <a:r>
              <a:rPr sz="950" b="0">
                <a:solidFill>
                  <a:srgbClr val="161B26"/>
                </a:solidFill>
                <a:latin typeface="Arial"/>
              </a:rPr>
              <a:t>A ends near $195k, B near $138k. Tempting - but a nicer curve is not proof.</a:t>
            </a:r>
          </a:p>
        </p:txBody>
      </p:sp>
      <p:sp>
        <p:nvSpPr>
          <p:cNvPr id="55" name="Rectangle 54"/>
          <p:cNvSpPr/>
          <p:nvPr/>
        </p:nvSpPr>
        <p:spPr>
          <a:xfrm>
            <a:off x="7909560" y="4930140"/>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909560" y="4930140"/>
            <a:ext cx="64008" cy="556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065008" y="506196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065008" y="506196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6</a:t>
            </a:r>
          </a:p>
        </p:txBody>
      </p:sp>
      <p:sp>
        <p:nvSpPr>
          <p:cNvPr id="59" name="TextBox 58"/>
          <p:cNvSpPr txBox="1"/>
          <p:nvPr/>
        </p:nvSpPr>
        <p:spPr>
          <a:xfrm>
            <a:off x="8458200" y="4930140"/>
            <a:ext cx="2880360" cy="556260"/>
          </a:xfrm>
          <a:prstGeom prst="rect">
            <a:avLst/>
          </a:prstGeom>
          <a:noFill/>
        </p:spPr>
        <p:txBody>
          <a:bodyPr wrap="square" anchor="ctr">
            <a:spAutoFit/>
          </a:bodyPr>
          <a:lstStyle/>
          <a:p>
            <a:pPr algn="l">
              <a:spcAft>
                <a:spcPts val="100"/>
              </a:spcAft>
            </a:pPr>
            <a:r>
              <a:rPr sz="1100" b="1">
                <a:solidFill>
                  <a:srgbClr val="10B981"/>
                </a:solidFill>
                <a:latin typeface="Arial"/>
              </a:rPr>
              <a:t>Bootstrap distribution</a:t>
            </a:r>
          </a:p>
          <a:p>
            <a:pPr algn="l">
              <a:spcAft>
                <a:spcPts val="100"/>
              </a:spcAft>
            </a:pPr>
            <a:r>
              <a:rPr sz="950" b="0">
                <a:solidFill>
                  <a:srgbClr val="161B26"/>
                </a:solidFill>
                <a:latin typeface="Arial"/>
              </a:rPr>
              <a:t>Resampled Sharpe gaps; dark bars are the 95% CI, and 0 falls inside them.</a:t>
            </a:r>
          </a:p>
        </p:txBody>
      </p:sp>
      <p:sp>
        <p:nvSpPr>
          <p:cNvPr id="60" name="Rectangle 59"/>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Keep both variants on paper: move capital only when p beats the Bonferroni alpha and the CI excludes 0.</a:t>
            </a:r>
          </a:p>
        </p:txBody>
      </p:sp>
      <p:sp>
        <p:nvSpPr>
          <p:cNvPr id="63" name="TextBox 6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64" name="TextBox 6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65" name="TextBox 6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THE DECISION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13 — How to Reach the A/B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Read the screen in this order. H0: A and B have the same expected daily return and Sharpe.</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Don't trust the chart. A's curve looks better, but 7 years of noisy daily returns can fool you.</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Paired t-test on A − B (same days, same market): p = 0.367, above alpha 0.05.</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Bootstrap Sharpe CI −0.36 … 1.04 contains 0, so 'no difference' is still plausible.</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20 variants × 0.05 = 1 lucky 'winner' expected. Bonferroni: 0.05 ÷ 20 = 0.0025.</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Decision: DO NOT REJECT H0. Keep both on paper and record the result.</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Step 2 (EMA 10/30 vs EMA 20/50): read the same three numbers - paired p, the CI vs 0 and Bonferroni 0.0025 - and record them for the PP.</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Pairs Stage: a Hedged, Market-Neutral Statistical-Arbitrage Sleeve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14</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Screen pairs for cointegration and backtest a market-neutral KO/PEP spread.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Screen the pairs</a:t>
            </a:r>
          </a:p>
        </p:txBody>
      </p:sp>
      <p:sp>
        <p:nvSpPr>
          <p:cNvPr id="19" name="TextBox 18"/>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6213348"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3348"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6323076"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KO/PEP</a:t>
            </a:r>
          </a:p>
        </p:txBody>
      </p:sp>
      <p:sp>
        <p:nvSpPr>
          <p:cNvPr id="25" name="Rectangle 24"/>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8" name="TextBox 27"/>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Engle-Granger screen and a pairs backtest with beta near zero.</a:t>
            </a:r>
          </a:p>
        </p:txBody>
      </p:sp>
      <p:sp>
        <p:nvSpPr>
          <p:cNvPr id="29" name="TextBox 28"/>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14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14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Screen the pairs</a:t>
            </a:r>
          </a:p>
          <a:p>
            <a:pPr algn="l">
              <a:spcAft>
                <a:spcPts val="200"/>
              </a:spcAft>
            </a:pPr>
            <a:r>
              <a:rPr sz="1000" b="1">
                <a:solidFill>
                  <a:srgbClr val="10B981"/>
                </a:solidFill>
                <a:latin typeface="Arial"/>
              </a:rPr>
              <a:t>▸ Research &gt; Pairs screen</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Pairs screen (formation to 2022-12-31).</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High correlation does not imply cointegration - compare the corr and ADF columns.</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Backtest KO/PEP</a:t>
            </a:r>
          </a:p>
          <a:p>
            <a:pPr algn="l">
              <a:spcAft>
                <a:spcPts val="200"/>
              </a:spcAft>
            </a:pPr>
            <a:r>
              <a:rPr sz="1000" b="1">
                <a:solidFill>
                  <a:srgbClr val="10B981"/>
                </a:solidFill>
                <a:latin typeface="Arial"/>
              </a:rPr>
              <a:t>▸ Backtest KO/PEP pairs</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Backtest the pairs strategy on KO, PEP (both legs, short leg allowed, borrow cost charged).</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Beta to SPY near 0 in 'All metrics'; the trade list has long and short legs.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14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lab14_pairs_16x9.png"/>
          <p:cNvPicPr>
            <a:picLocks noChangeAspect="1"/>
          </p:cNvPicPr>
          <p:nvPr/>
        </p:nvPicPr>
        <p:blipFill>
          <a:blip r:embed="rId2"/>
          <a:stretch>
            <a:fillRect/>
          </a:stretch>
        </p:blipFill>
        <p:spPr>
          <a:xfrm>
            <a:off x="777240" y="2287333"/>
            <a:ext cx="6903719" cy="2694812"/>
          </a:xfrm>
          <a:prstGeom prst="rect">
            <a:avLst/>
          </a:prstGeom>
        </p:spPr>
      </p:pic>
      <p:sp>
        <p:nvSpPr>
          <p:cNvPr id="11" name="Rectangle 10"/>
          <p:cNvSpPr/>
          <p:nvPr/>
        </p:nvSpPr>
        <p:spPr>
          <a:xfrm>
            <a:off x="766267" y="2276361"/>
            <a:ext cx="6925665" cy="2716757"/>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5314" y="3101167"/>
            <a:ext cx="1601663" cy="1603413"/>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59866" y="2982295"/>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 y="298229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696474" y="3545811"/>
            <a:ext cx="4832603" cy="212890"/>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541026" y="3426939"/>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41026" y="3426939"/>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96474" y="3758701"/>
            <a:ext cx="4832603" cy="215584"/>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41026" y="3639829"/>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41026" y="3639829"/>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2675763" y="4645294"/>
            <a:ext cx="4936159" cy="20211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20315" y="4526422"/>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20315" y="4526422"/>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7909560" y="1783080"/>
            <a:ext cx="35021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909560" y="1783080"/>
            <a:ext cx="64008"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65008" y="2072259"/>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65008" y="2072259"/>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28" name="TextBox 27"/>
          <p:cNvSpPr txBox="1"/>
          <p:nvPr/>
        </p:nvSpPr>
        <p:spPr>
          <a:xfrm>
            <a:off x="8458200" y="1783080"/>
            <a:ext cx="2880360" cy="870965"/>
          </a:xfrm>
          <a:prstGeom prst="rect">
            <a:avLst/>
          </a:prstGeom>
          <a:noFill/>
        </p:spPr>
        <p:txBody>
          <a:bodyPr wrap="square" anchor="ctr">
            <a:spAutoFit/>
          </a:bodyPr>
          <a:lstStyle/>
          <a:p>
            <a:pPr algn="l">
              <a:spcAft>
                <a:spcPts val="100"/>
              </a:spcAft>
            </a:pPr>
            <a:r>
              <a:rPr sz="1100" b="1">
                <a:solidFill>
                  <a:srgbClr val="1F6FEB"/>
                </a:solidFill>
                <a:latin typeface="Arial"/>
              </a:rPr>
              <a:t>Pairs and formation period</a:t>
            </a:r>
          </a:p>
          <a:p>
            <a:pPr algn="l">
              <a:spcAft>
                <a:spcPts val="100"/>
              </a:spcAft>
            </a:pPr>
            <a:r>
              <a:rPr sz="1000" b="0">
                <a:solidFill>
                  <a:srgbClr val="161B26"/>
                </a:solidFill>
                <a:latin typeface="Arial"/>
              </a:rPr>
              <a:t>Five candidate pairs, tested on data to 31/12/2022 only.</a:t>
            </a:r>
          </a:p>
        </p:txBody>
      </p:sp>
      <p:sp>
        <p:nvSpPr>
          <p:cNvPr id="29" name="Rectangle 28"/>
          <p:cNvSpPr/>
          <p:nvPr/>
        </p:nvSpPr>
        <p:spPr>
          <a:xfrm>
            <a:off x="7909560" y="2727198"/>
            <a:ext cx="35021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09560" y="2727198"/>
            <a:ext cx="64008"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065008" y="3016377"/>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65008" y="301637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3" name="TextBox 32"/>
          <p:cNvSpPr txBox="1"/>
          <p:nvPr/>
        </p:nvSpPr>
        <p:spPr>
          <a:xfrm>
            <a:off x="8458200" y="2727198"/>
            <a:ext cx="2880360" cy="870965"/>
          </a:xfrm>
          <a:prstGeom prst="rect">
            <a:avLst/>
          </a:prstGeom>
          <a:noFill/>
        </p:spPr>
        <p:txBody>
          <a:bodyPr wrap="square" anchor="ctr">
            <a:spAutoFit/>
          </a:bodyPr>
          <a:lstStyle/>
          <a:p>
            <a:pPr algn="l">
              <a:spcAft>
                <a:spcPts val="100"/>
              </a:spcAft>
            </a:pPr>
            <a:r>
              <a:rPr sz="1100" b="1">
                <a:solidFill>
                  <a:srgbClr val="10B981"/>
                </a:solidFill>
                <a:latin typeface="Arial"/>
              </a:rPr>
              <a:t>KO/PEP: cointegrated</a:t>
            </a:r>
          </a:p>
          <a:p>
            <a:pPr algn="l">
              <a:spcAft>
                <a:spcPts val="100"/>
              </a:spcAft>
            </a:pPr>
            <a:r>
              <a:rPr sz="1000" b="0">
                <a:solidFill>
                  <a:srgbClr val="161B26"/>
                </a:solidFill>
                <a:latin typeface="Arial"/>
              </a:rPr>
              <a:t>ADF t -3.36 beats the 5% critical value -3.34; the spread's half-life is 39 days.</a:t>
            </a:r>
          </a:p>
        </p:txBody>
      </p:sp>
      <p:sp>
        <p:nvSpPr>
          <p:cNvPr id="34" name="Rectangle 33"/>
          <p:cNvSpPr/>
          <p:nvPr/>
        </p:nvSpPr>
        <p:spPr>
          <a:xfrm>
            <a:off x="7909560" y="3671315"/>
            <a:ext cx="35021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909560" y="3671315"/>
            <a:ext cx="64008"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65008" y="3960495"/>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65008" y="3960495"/>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38" name="TextBox 37"/>
          <p:cNvSpPr txBox="1"/>
          <p:nvPr/>
        </p:nvSpPr>
        <p:spPr>
          <a:xfrm>
            <a:off x="8458200" y="3671315"/>
            <a:ext cx="2880360" cy="870965"/>
          </a:xfrm>
          <a:prstGeom prst="rect">
            <a:avLst/>
          </a:prstGeom>
          <a:noFill/>
        </p:spPr>
        <p:txBody>
          <a:bodyPr wrap="square" anchor="ctr">
            <a:spAutoFit/>
          </a:bodyPr>
          <a:lstStyle/>
          <a:p>
            <a:pPr algn="l">
              <a:spcAft>
                <a:spcPts val="100"/>
              </a:spcAft>
            </a:pPr>
            <a:r>
              <a:rPr sz="1100" b="1">
                <a:solidFill>
                  <a:srgbClr val="7C3AED"/>
                </a:solidFill>
                <a:latin typeface="Arial"/>
              </a:rPr>
              <a:t>JPM/BAC: correlated, not cointegrated</a:t>
            </a:r>
          </a:p>
          <a:p>
            <a:pPr algn="l">
              <a:spcAft>
                <a:spcPts val="100"/>
              </a:spcAft>
            </a:pPr>
            <a:r>
              <a:rPr sz="1000" b="0">
                <a:solidFill>
                  <a:srgbClr val="161B26"/>
                </a:solidFill>
                <a:latin typeface="Arial"/>
              </a:rPr>
              <a:t>0.93 correlation but ADF t -2.08: the spread can drift away for good.</a:t>
            </a:r>
          </a:p>
        </p:txBody>
      </p:sp>
      <p:sp>
        <p:nvSpPr>
          <p:cNvPr id="39" name="Rectangle 38"/>
          <p:cNvSpPr/>
          <p:nvPr/>
        </p:nvSpPr>
        <p:spPr>
          <a:xfrm>
            <a:off x="7909560" y="4615434"/>
            <a:ext cx="35021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09560" y="4615434"/>
            <a:ext cx="64008"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065008" y="4904613"/>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65008" y="4904613"/>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3" name="TextBox 42"/>
          <p:cNvSpPr txBox="1"/>
          <p:nvPr/>
        </p:nvSpPr>
        <p:spPr>
          <a:xfrm>
            <a:off x="8458200" y="4615434"/>
            <a:ext cx="2880360" cy="870965"/>
          </a:xfrm>
          <a:prstGeom prst="rect">
            <a:avLst/>
          </a:prstGeom>
          <a:noFill/>
        </p:spPr>
        <p:txBody>
          <a:bodyPr wrap="square" anchor="ctr">
            <a:spAutoFit/>
          </a:bodyPr>
          <a:lstStyle/>
          <a:p>
            <a:pPr algn="l">
              <a:spcAft>
                <a:spcPts val="100"/>
              </a:spcAft>
            </a:pPr>
            <a:r>
              <a:rPr sz="1100" b="1">
                <a:solidFill>
                  <a:srgbClr val="F59E0B"/>
                </a:solidFill>
                <a:latin typeface="Arial"/>
              </a:rPr>
              <a:t>Critical values</a:t>
            </a:r>
          </a:p>
          <a:p>
            <a:pPr algn="l">
              <a:spcAft>
                <a:spcPts val="100"/>
              </a:spcAft>
            </a:pPr>
            <a:r>
              <a:rPr sz="1000" b="0">
                <a:solidFill>
                  <a:srgbClr val="161B26"/>
                </a:solidFill>
                <a:latin typeface="Arial"/>
              </a:rPr>
              <a:t>1% -3.90, 5% -3.34, 10% -3.04. Screening many pairs inflates false positives.</a:t>
            </a:r>
          </a:p>
        </p:txBody>
      </p:sp>
      <p:sp>
        <p:nvSpPr>
          <p:cNvPr id="44" name="Rectangle 43"/>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Trade a spread only for a cointegrated pair (KO/PEP), then check its beta to SPY is near 0.</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3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Conduct statistical modelling of data to derive patterns and solutions</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Perform A/B testing based on different hypotheses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Types of statistical analyses, data models, algorithms and advanced computational methods</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Range and application of various types of data models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Statistical modelling techniques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F59E0B"/>
                </a:solidFill>
                <a:latin typeface="Arial"/>
              </a:rPr>
              <a:t>TOPIC 4</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End-to-End Trading Pipeline</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F59E0B"/>
                </a:solidFill>
                <a:latin typeface="Arial"/>
              </a:rPr>
              <a:t>LEARNING OUTCOME</a:t>
            </a:r>
          </a:p>
          <a:p>
            <a:pPr algn="l">
              <a:spcAft>
                <a:spcPts val="400"/>
              </a:spcAft>
            </a:pPr>
            <a:r>
              <a:rPr sz="1350" b="0">
                <a:solidFill>
                  <a:srgbClr val="161B26"/>
                </a:solidFill>
                <a:latin typeface="Arial"/>
              </a:rPr>
              <a:t>Perform coding and configuration of an automated trading program based on selected models or algorithms, conduct tests on its actions and outcomes, diagnose unintended outcomes, and draw insights from the results to support decisions and report accordingly.</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Day 2   ·   Labs 15–20</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04</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Pre-Trade Risk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Position and order limits</a:t>
            </a:r>
          </a:p>
          <a:p>
            <a:pPr algn="l">
              <a:spcAft>
                <a:spcPts val="300"/>
              </a:spcAft>
            </a:pPr>
            <a:r>
              <a:rPr sz="1150" b="0">
                <a:solidFill>
                  <a:srgbClr val="5B6372"/>
                </a:solidFill>
                <a:latin typeface="Arial"/>
              </a:rPr>
              <a:t>Maximum shares, maximum order value per symbol.</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Maximum daily loss</a:t>
            </a:r>
          </a:p>
          <a:p>
            <a:pPr algn="l">
              <a:spcAft>
                <a:spcPts val="300"/>
              </a:spcAft>
            </a:pPr>
            <a:r>
              <a:rPr sz="1150" b="0">
                <a:solidFill>
                  <a:srgbClr val="5B6372"/>
                </a:solidFill>
                <a:latin typeface="Arial"/>
              </a:rPr>
              <a:t>Stop trading for the day when breached.</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Market-hours and duplicate checks</a:t>
            </a:r>
          </a:p>
          <a:p>
            <a:pPr algn="l">
              <a:spcAft>
                <a:spcPts val="300"/>
              </a:spcAft>
            </a:pPr>
            <a:r>
              <a:rPr sz="1150" b="0">
                <a:solidFill>
                  <a:srgbClr val="5B6372"/>
                </a:solidFill>
                <a:latin typeface="Arial"/>
              </a:rPr>
              <a:t>Alpaca clock; never resend an open order.</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Kill switch</a:t>
            </a:r>
          </a:p>
          <a:p>
            <a:pPr algn="l">
              <a:spcAft>
                <a:spcPts val="300"/>
              </a:spcAft>
            </a:pPr>
            <a:r>
              <a:rPr sz="1150" b="0">
                <a:solidFill>
                  <a:srgbClr val="5B6372"/>
                </a:solidFill>
                <a:latin typeface="Arial"/>
              </a:rPr>
              <a:t>One file or flag halts all trading immediately.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 Costs You Must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Commission</a:t>
            </a:r>
          </a:p>
          <a:p>
            <a:pPr algn="l">
              <a:spcAft>
                <a:spcPts val="300"/>
              </a:spcAft>
            </a:pPr>
            <a:r>
              <a:rPr sz="1150" b="0">
                <a:solidFill>
                  <a:srgbClr val="5B6372"/>
                </a:solidFill>
                <a:latin typeface="Arial"/>
              </a:rPr>
              <a:t>Zero on Alpaca US equities — not on most brokers.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Spread and slippage</a:t>
            </a:r>
          </a:p>
          <a:p>
            <a:pPr algn="l">
              <a:spcAft>
                <a:spcPts val="300"/>
              </a:spcAft>
            </a:pPr>
            <a:r>
              <a:rPr sz="1150" b="0">
                <a:solidFill>
                  <a:srgbClr val="5B6372"/>
                </a:solidFill>
                <a:latin typeface="Arial"/>
              </a:rPr>
              <a:t>Half-spread + slippage on every fill, in bps.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Regulatory fees on sells</a:t>
            </a:r>
          </a:p>
          <a:p>
            <a:pPr algn="l">
              <a:spcAft>
                <a:spcPts val="300"/>
              </a:spcAft>
            </a:pPr>
            <a:r>
              <a:rPr sz="1150" b="0">
                <a:solidFill>
                  <a:srgbClr val="5B6372"/>
                </a:solidFill>
                <a:latin typeface="Arial"/>
              </a:rPr>
              <a:t>SEC Section 31 fee and FINRA TAF.</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Borrow and impact</a:t>
            </a:r>
          </a:p>
          <a:p>
            <a:pPr algn="l">
              <a:spcAft>
                <a:spcPts val="300"/>
              </a:spcAft>
            </a:pPr>
            <a:r>
              <a:rPr sz="1150" b="0">
                <a:solidFill>
                  <a:srgbClr val="5B6372"/>
                </a:solidFill>
                <a:latin typeface="Arial"/>
              </a:rPr>
              <a:t>Short-borrow costs; your own market impact.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Historical Data: Backtest, Tune, Then Forward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oncept_data_split.png"/>
          <p:cNvPicPr>
            <a:picLocks noChangeAspect="1"/>
          </p:cNvPicPr>
          <p:nvPr/>
        </p:nvPicPr>
        <p:blipFill>
          <a:blip r:embed="rId2"/>
          <a:stretch>
            <a:fillRect/>
          </a:stretch>
        </p:blipFill>
        <p:spPr>
          <a:xfrm>
            <a:off x="777240" y="2299188"/>
            <a:ext cx="6172200" cy="340262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BACKTEST ON HISTORY</a:t>
            </a:r>
          </a:p>
          <a:p>
            <a:pPr algn="l">
              <a:spcAft>
                <a:spcPts val="200"/>
              </a:spcAft>
            </a:pPr>
            <a:r>
              <a:rPr sz="1150" b="0">
                <a:solidFill>
                  <a:srgbClr val="161B26"/>
                </a:solidFill>
                <a:latin typeface="Arial"/>
              </a:rPr>
              <a:t>Replay the strategy's rules over past prices - next-bar fills, trading costs - to see how it would have performed.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TUNE HYPERPARAMETERS (IN-SAMPLE)</a:t>
            </a:r>
          </a:p>
          <a:p>
            <a:pPr algn="l">
              <a:spcAft>
                <a:spcPts val="200"/>
              </a:spcAft>
            </a:pPr>
            <a:r>
              <a:rPr sz="1150" b="0">
                <a:solidFill>
                  <a:srgbClr val="161B26"/>
                </a:solidFill>
                <a:latin typeface="Arial"/>
              </a:rPr>
              <a:t>Search the settings (MA lengths, RSI levels, model parameters) on the OLDER history only, by grid search or walk-forward.</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CONFIRM OUT-OF-SAMPLE</a:t>
            </a:r>
          </a:p>
          <a:p>
            <a:pPr algn="l">
              <a:spcAft>
                <a:spcPts val="200"/>
              </a:spcAft>
            </a:pPr>
            <a:r>
              <a:rPr sz="1150" b="0">
                <a:solidFill>
                  <a:srgbClr val="161B26"/>
                </a:solidFill>
                <a:latin typeface="Arial"/>
              </a:rPr>
              <a:t>Backtest the tuned settings ONCE on later history the search never saw. A big drop from in-sample = overfitting.</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FORWARD TEST (PAPER)</a:t>
            </a:r>
          </a:p>
          <a:p>
            <a:pPr algn="l">
              <a:spcAft>
                <a:spcPts val="200"/>
              </a:spcAft>
            </a:pPr>
            <a:r>
              <a:rPr sz="1150" b="0">
                <a:solidFill>
                  <a:srgbClr val="161B26"/>
                </a:solidFill>
                <a:latin typeface="Arial"/>
              </a:rPr>
              <a:t>Run the tuned strategy on NEW data as it arrives - paper orders, real fills and risk checks - before any capital.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From Historical Data to a Forward-Tested Strategy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same rule moves through four tests; each uses data the previous step never touched.</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Historical data (2018-2025)</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Tune in-sample (2018-2021)</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Backtest once out-of-sample (2022-2024)</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Forward test on paper (2025 onward)</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Go-live decision</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Tuning on the test period, or re-tuning after seeing out-of-sample results, turns the test into more tuning - the result will look better than reality (Labs 10, 15, 16).</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Potential Reasons for Unintended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Overfitting and data snooping</a:t>
            </a:r>
          </a:p>
          <a:p>
            <a:pPr algn="l">
              <a:spcAft>
                <a:spcPts val="300"/>
              </a:spcAft>
            </a:pPr>
            <a:r>
              <a:rPr sz="1150" b="0">
                <a:solidFill>
                  <a:srgbClr val="5B6372"/>
                </a:solidFill>
                <a:latin typeface="Arial"/>
              </a:rPr>
              <a:t>Great in-sample, collapses out of sample.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Look-ahead and survivorship bias</a:t>
            </a:r>
          </a:p>
          <a:p>
            <a:pPr algn="l">
              <a:spcAft>
                <a:spcPts val="300"/>
              </a:spcAft>
            </a:pPr>
            <a:r>
              <a:rPr sz="1150" b="0">
                <a:solidFill>
                  <a:srgbClr val="5B6372"/>
                </a:solidFill>
                <a:latin typeface="Arial"/>
              </a:rPr>
              <a:t>Same-bar fills; only today's survivors.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Cost and execution drag</a:t>
            </a:r>
          </a:p>
          <a:p>
            <a:pPr algn="l">
              <a:spcAft>
                <a:spcPts val="300"/>
              </a:spcAft>
            </a:pPr>
            <a:r>
              <a:rPr sz="1150" b="0">
                <a:solidFill>
                  <a:srgbClr val="5B6372"/>
                </a:solidFill>
                <a:latin typeface="Arial"/>
              </a:rPr>
              <a:t>Live returns trail the backtest by turnover × cost.</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Regime change, data and code errors</a:t>
            </a:r>
          </a:p>
          <a:p>
            <a:pPr algn="l">
              <a:spcAft>
                <a:spcPts val="300"/>
              </a:spcAft>
            </a:pPr>
            <a:r>
              <a:rPr sz="1150" b="0">
                <a:solidFill>
                  <a:srgbClr val="5B6372"/>
                </a:solidFill>
                <a:latin typeface="Arial"/>
              </a:rPr>
              <a:t>Drift, bad splits, time zones, duplicate orders.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Goes on a Tearsheet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Equity versus benchmark</a:t>
            </a:r>
          </a:p>
          <a:p>
            <a:pPr algn="l">
              <a:spcAft>
                <a:spcPts val="300"/>
              </a:spcAft>
            </a:pPr>
            <a:r>
              <a:rPr sz="1150" b="0">
                <a:solidFill>
                  <a:srgbClr val="5B6372"/>
                </a:solidFill>
                <a:latin typeface="Arial"/>
              </a:rPr>
              <a:t>Growth of USD 100,000, strategy and buy-and-hold.</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Drawdown and rolling Sharpe</a:t>
            </a:r>
          </a:p>
          <a:p>
            <a:pPr algn="l">
              <a:spcAft>
                <a:spcPts val="300"/>
              </a:spcAft>
            </a:pPr>
            <a:r>
              <a:rPr sz="1150" b="0">
                <a:solidFill>
                  <a:srgbClr val="5B6372"/>
                </a:solidFill>
                <a:latin typeface="Arial"/>
              </a:rPr>
              <a:t>Depth, length and stability of the edge.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Monthly returns heatmap</a:t>
            </a:r>
          </a:p>
          <a:p>
            <a:pPr algn="l">
              <a:spcAft>
                <a:spcPts val="300"/>
              </a:spcAft>
            </a:pPr>
            <a:r>
              <a:rPr sz="1150" b="0">
                <a:solidFill>
                  <a:srgbClr val="5B6372"/>
                </a:solidFill>
                <a:latin typeface="Arial"/>
              </a:rPr>
              <a:t>When did it make — and lose — money?</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Metrics and cost table</a:t>
            </a:r>
          </a:p>
          <a:p>
            <a:pPr algn="l">
              <a:spcAft>
                <a:spcPts val="300"/>
              </a:spcAft>
            </a:pPr>
            <a:r>
              <a:rPr sz="1150" b="0">
                <a:solidFill>
                  <a:srgbClr val="5B6372"/>
                </a:solidFill>
                <a:latin typeface="Arial"/>
              </a:rPr>
              <a:t>Gross versus net; backtest versus forward.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End-to-End Algorithmic Trading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526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52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Strategy search</a:t>
            </a:r>
          </a:p>
        </p:txBody>
      </p:sp>
      <p:sp>
        <p:nvSpPr>
          <p:cNvPr id="15" name="TextBox 14"/>
          <p:cNvSpPr txBox="1"/>
          <p:nvPr/>
        </p:nvSpPr>
        <p:spPr>
          <a:xfrm>
            <a:off x="1848231"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6" name="Rectangle 15"/>
          <p:cNvSpPr/>
          <p:nvPr/>
        </p:nvSpPr>
        <p:spPr>
          <a:xfrm>
            <a:off x="2140839"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40839"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328862"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288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268855"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Data ingestion</a:t>
            </a:r>
          </a:p>
        </p:txBody>
      </p:sp>
      <p:sp>
        <p:nvSpPr>
          <p:cNvPr id="21" name="TextBox 20"/>
          <p:cNvSpPr txBox="1"/>
          <p:nvPr/>
        </p:nvSpPr>
        <p:spPr>
          <a:xfrm>
            <a:off x="321183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2" name="Rectangle 21"/>
          <p:cNvSpPr/>
          <p:nvPr/>
        </p:nvSpPr>
        <p:spPr>
          <a:xfrm>
            <a:off x="3504438"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504438"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69246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924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3632454"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Signal</a:t>
            </a:r>
          </a:p>
        </p:txBody>
      </p:sp>
      <p:sp>
        <p:nvSpPr>
          <p:cNvPr id="27" name="TextBox 26"/>
          <p:cNvSpPr txBox="1"/>
          <p:nvPr/>
        </p:nvSpPr>
        <p:spPr>
          <a:xfrm>
            <a:off x="4575429"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8" name="Rectangle 27"/>
          <p:cNvSpPr/>
          <p:nvPr/>
        </p:nvSpPr>
        <p:spPr>
          <a:xfrm>
            <a:off x="4868037"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868037"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05606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5606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4996053"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Backtest with costs</a:t>
            </a:r>
          </a:p>
        </p:txBody>
      </p:sp>
      <p:sp>
        <p:nvSpPr>
          <p:cNvPr id="33" name="TextBox 32"/>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4" name="Rectangle 33"/>
          <p:cNvSpPr/>
          <p:nvPr/>
        </p:nvSpPr>
        <p:spPr>
          <a:xfrm>
            <a:off x="6231636"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31636"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4196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6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6359652"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Risk checks</a:t>
            </a:r>
          </a:p>
        </p:txBody>
      </p:sp>
      <p:sp>
        <p:nvSpPr>
          <p:cNvPr id="39" name="TextBox 38"/>
          <p:cNvSpPr txBox="1"/>
          <p:nvPr/>
        </p:nvSpPr>
        <p:spPr>
          <a:xfrm>
            <a:off x="7302627"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0" name="Rectangle 39"/>
          <p:cNvSpPr/>
          <p:nvPr/>
        </p:nvSpPr>
        <p:spPr>
          <a:xfrm>
            <a:off x="7595235"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95235"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783258"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832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7723251"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Order execution</a:t>
            </a:r>
          </a:p>
        </p:txBody>
      </p:sp>
      <p:sp>
        <p:nvSpPr>
          <p:cNvPr id="45" name="TextBox 44"/>
          <p:cNvSpPr txBox="1"/>
          <p:nvPr/>
        </p:nvSpPr>
        <p:spPr>
          <a:xfrm>
            <a:off x="866622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6" name="Rectangle 45"/>
          <p:cNvSpPr/>
          <p:nvPr/>
        </p:nvSpPr>
        <p:spPr>
          <a:xfrm>
            <a:off x="8958834"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958834"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14685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6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0" name="TextBox 49"/>
          <p:cNvSpPr txBox="1"/>
          <p:nvPr/>
        </p:nvSpPr>
        <p:spPr>
          <a:xfrm>
            <a:off x="9086850"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Forward test</a:t>
            </a:r>
          </a:p>
        </p:txBody>
      </p:sp>
      <p:sp>
        <p:nvSpPr>
          <p:cNvPr id="51" name="TextBox 50"/>
          <p:cNvSpPr txBox="1"/>
          <p:nvPr/>
        </p:nvSpPr>
        <p:spPr>
          <a:xfrm>
            <a:off x="10029825"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52" name="Rectangle 51"/>
          <p:cNvSpPr/>
          <p:nvPr/>
        </p:nvSpPr>
        <p:spPr>
          <a:xfrm>
            <a:off x="10322433"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322433"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510456"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51045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8</a:t>
            </a:r>
          </a:p>
        </p:txBody>
      </p:sp>
      <p:sp>
        <p:nvSpPr>
          <p:cNvPr id="56" name="TextBox 55"/>
          <p:cNvSpPr txBox="1"/>
          <p:nvPr/>
        </p:nvSpPr>
        <p:spPr>
          <a:xfrm>
            <a:off x="10450449"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Monitor and report</a:t>
            </a:r>
          </a:p>
        </p:txBody>
      </p:sp>
      <p:sp>
        <p:nvSpPr>
          <p:cNvPr id="57" name="Rectangle 5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Configuration — symbols, parameters, limits, keys — lives outside the code.</a:t>
            </a:r>
          </a:p>
        </p:txBody>
      </p:sp>
      <p:sp>
        <p:nvSpPr>
          <p:cNvPr id="60" name="TextBox 5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61" name="TextBox 6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62" name="TextBox 6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Automated Paper-Trading Bot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One cycle per closed bar.</a:t>
            </a:r>
          </a:p>
        </p:txBody>
      </p:sp>
      <p:sp>
        <p:nvSpPr>
          <p:cNvPr id="11" name="Rectangle 10"/>
          <p:cNvSpPr/>
          <p:nvPr/>
        </p:nvSpPr>
        <p:spPr>
          <a:xfrm>
            <a:off x="77724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6266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26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Bar closes</a:t>
            </a:r>
          </a:p>
        </p:txBody>
      </p:sp>
      <p:sp>
        <p:nvSpPr>
          <p:cNvPr id="16" name="TextBox 15"/>
          <p:cNvSpPr txBox="1"/>
          <p:nvPr/>
        </p:nvSpPr>
        <p:spPr>
          <a:xfrm>
            <a:off x="204303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33563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35638"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62106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210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46365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Fetch latest bars</a:t>
            </a:r>
          </a:p>
        </p:txBody>
      </p:sp>
      <p:sp>
        <p:nvSpPr>
          <p:cNvPr id="22" name="TextBox 21"/>
          <p:cNvSpPr txBox="1"/>
          <p:nvPr/>
        </p:nvSpPr>
        <p:spPr>
          <a:xfrm>
            <a:off x="36014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3894036"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94036"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1794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79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022052"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Compute signal</a:t>
            </a:r>
          </a:p>
        </p:txBody>
      </p:sp>
      <p:sp>
        <p:nvSpPr>
          <p:cNvPr id="28" name="TextBox 27"/>
          <p:cNvSpPr txBox="1"/>
          <p:nvPr/>
        </p:nvSpPr>
        <p:spPr>
          <a:xfrm>
            <a:off x="515982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5452434"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52434"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73785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37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5580450"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Run risk checks</a:t>
            </a:r>
          </a:p>
        </p:txBody>
      </p:sp>
      <p:sp>
        <p:nvSpPr>
          <p:cNvPr id="34" name="TextBox 33"/>
          <p:cNvSpPr txBox="1"/>
          <p:nvPr/>
        </p:nvSpPr>
        <p:spPr>
          <a:xfrm>
            <a:off x="671822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7010832"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10832"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29625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9625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7138848"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Target vs actual position</a:t>
            </a:r>
          </a:p>
        </p:txBody>
      </p:sp>
      <p:sp>
        <p:nvSpPr>
          <p:cNvPr id="40" name="TextBox 39"/>
          <p:cNvSpPr txBox="1"/>
          <p:nvPr/>
        </p:nvSpPr>
        <p:spPr>
          <a:xfrm>
            <a:off x="8276622"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1" name="Rectangle 40"/>
          <p:cNvSpPr/>
          <p:nvPr/>
        </p:nvSpPr>
        <p:spPr>
          <a:xfrm>
            <a:off x="856923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569230"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85465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5465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869724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Submit order; read status</a:t>
            </a:r>
          </a:p>
        </p:txBody>
      </p:sp>
      <p:sp>
        <p:nvSpPr>
          <p:cNvPr id="46" name="TextBox 45"/>
          <p:cNvSpPr txBox="1"/>
          <p:nvPr/>
        </p:nvSpPr>
        <p:spPr>
          <a:xfrm>
            <a:off x="983502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7" name="Rectangle 46"/>
          <p:cNvSpPr/>
          <p:nvPr/>
        </p:nvSpPr>
        <p:spPr>
          <a:xfrm>
            <a:off x="1012762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127628"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41305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1305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1" name="TextBox 50"/>
          <p:cNvSpPr txBox="1"/>
          <p:nvPr/>
        </p:nvSpPr>
        <p:spPr>
          <a:xfrm>
            <a:off x="1025564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Log and sleep</a:t>
            </a:r>
          </a:p>
        </p:txBody>
      </p:sp>
      <p:sp>
        <p:nvSpPr>
          <p:cNvPr id="52" name="Rectangle 51"/>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Every cycle writes to the trade log — the evidence for performance and audit.</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Alert to Alpaca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Webhook-driven execution.</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Pine strategy fires alert</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TradingView POSTs JSON</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Your server checks secret</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Risk checks</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alpaca-py submits paper order</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Log and respond 200</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Webhook alerts need a paid TradingView plan and a public URL (e.g. a tunnel).</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Diagnosing an Unintended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7434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Reproduce the result</a:t>
            </a:r>
          </a:p>
        </p:txBody>
      </p:sp>
      <p:sp>
        <p:nvSpPr>
          <p:cNvPr id="15" name="TextBox 14"/>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6" name="Rectangle 15"/>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8998"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5610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Isolate the first divergent step</a:t>
            </a:r>
          </a:p>
        </p:txBody>
      </p:sp>
      <p:sp>
        <p:nvSpPr>
          <p:cNvPr id="21" name="TextBox 20"/>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2" name="Rectangle 21"/>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0756"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378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Data · signal · order · fill?</a:t>
            </a:r>
          </a:p>
        </p:txBody>
      </p:sp>
      <p:sp>
        <p:nvSpPr>
          <p:cNvPr id="27" name="TextBox 26"/>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1961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Compare with a known-good run</a:t>
            </a:r>
          </a:p>
        </p:txBody>
      </p:sp>
      <p:sp>
        <p:nvSpPr>
          <p:cNvPr id="33" name="TextBox 32"/>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4" name="Rectangle 33"/>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137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Fix and re-test</a:t>
            </a:r>
          </a:p>
        </p:txBody>
      </p:sp>
      <p:sp>
        <p:nvSpPr>
          <p:cNvPr id="39" name="Rectangle 38"/>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Read the first failure, not the last — everything after it is a consequence.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 hour  ·  see you at 13:30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Backtest-Engine Stage: Cost Models, Execution Timing and Break-Even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15</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same strategy under four cost models and find its break-even cost.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Zero vs Alpaca vs high-cost</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Break-even and execution timing</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Stops and sizing</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Gross vs net CAGR, a cost breakdown and the break-even bps.</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15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15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Zero vs Alpaca vs high-cost</a:t>
            </a:r>
          </a:p>
          <a:p>
            <a:pPr algn="l">
              <a:spcAft>
                <a:spcPts val="200"/>
              </a:spcAft>
            </a:pPr>
            <a:r>
              <a:rPr sz="1000" b="1">
                <a:solidFill>
                  <a:srgbClr val="10B981"/>
                </a:solidFill>
                <a:latin typeface="Arial"/>
              </a:rPr>
              <a:t>▸ Backtest SPY dip-buy, zero cost first</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Run the same strategy three times, changing ONLY the Cost model, to see how much of its profit trading costs eat.</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About 102 trades (203 fills) in every run.</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Break-even and execution timing</a:t>
            </a:r>
          </a:p>
          <a:p>
            <a:pPr algn="l">
              <a:spcAft>
                <a:spcPts val="200"/>
              </a:spcAft>
            </a:pPr>
            <a:r>
              <a:rPr sz="1000" b="1">
                <a:solidFill>
                  <a:srgbClr val="10B981"/>
                </a:solidFill>
                <a:latin typeface="Arial"/>
              </a:rPr>
              <a:t>▸ Backtest</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Break-even cost is the one-way cost per trade at which the strategy's net CAGR falls to zero: above it the strategy loses money.</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Break-even is 19.5 bps. Alpaca's ~1.5 bps leaves plenty of room, but the high-cost route's ~17.5 bps (plus fees) uses almost all of it - that is why its net CAGR was only 0.48%.</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Stops and sizing</a:t>
            </a:r>
          </a:p>
          <a:p>
            <a:pPr algn="l">
              <a:spcAft>
                <a:spcPts val="200"/>
              </a:spcAft>
            </a:pPr>
            <a:r>
              <a:rPr sz="1000" b="1">
                <a:solidFill>
                  <a:srgbClr val="10B981"/>
                </a:solidFill>
                <a:latin typeface="Arial"/>
              </a:rPr>
              <a:t>▸ same page</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Now add risk controls to a different strategy, EMA crossover 20/50 on SPY. The link fills in the settings below.</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16 trades: 4 exit with stop_loss, the rest with signal.</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15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15_costs_break_even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1514246" cy="203682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68933" y="4338370"/>
            <a:ext cx="1514246" cy="1148029"/>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3485" y="4219498"/>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3485" y="421949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68767" y="2986659"/>
            <a:ext cx="4720498" cy="555497"/>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13319" y="2867787"/>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3319" y="286778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4709708" y="3597706"/>
            <a:ext cx="2679557" cy="592531"/>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54260" y="3478834"/>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4260" y="347883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68767" y="4542053"/>
            <a:ext cx="4720498" cy="94434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13319" y="442318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13319" y="442318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Strategy</a:t>
            </a:r>
          </a:p>
          <a:p>
            <a:pPr algn="l">
              <a:spcAft>
                <a:spcPts val="100"/>
              </a:spcAft>
            </a:pPr>
            <a:r>
              <a:rPr sz="1000" b="0">
                <a:solidFill>
                  <a:srgbClr val="161B26"/>
                </a:solidFill>
                <a:latin typeface="Arial"/>
              </a:rPr>
              <a:t>Dip buy after a losing streak (the Lab 04 idea): n down 3, hold 3.</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Cost model and execution</a:t>
            </a:r>
          </a:p>
          <a:p>
            <a:pPr algn="l">
              <a:spcAft>
                <a:spcPts val="100"/>
              </a:spcAft>
            </a:pPr>
            <a:r>
              <a:rPr sz="1000" b="0">
                <a:solidFill>
                  <a:srgbClr val="161B26"/>
                </a:solidFill>
                <a:latin typeface="Arial"/>
              </a:rPr>
              <a:t>Run it with zero, alpaca_retail and high_cost; then try next-bar close.</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Net result (high-cost route)</a:t>
            </a:r>
          </a:p>
          <a:p>
            <a:pPr algn="l">
              <a:spcAft>
                <a:spcPts val="100"/>
              </a:spcAft>
            </a:pPr>
            <a:r>
              <a:rPr sz="1000" b="0">
                <a:solidFill>
                  <a:srgbClr val="161B26"/>
                </a:solidFill>
                <a:latin typeface="Arial"/>
              </a:rPr>
              <a:t>CAGR 0.48% and Sharpe 0.10 vs SPY's 14.13% and 0.78: costs ate the edge.</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Trades and break-even</a:t>
            </a:r>
          </a:p>
          <a:p>
            <a:pPr algn="l">
              <a:spcAft>
                <a:spcPts val="100"/>
              </a:spcAft>
            </a:pPr>
            <a:r>
              <a:rPr sz="1000" b="0">
                <a:solidFill>
                  <a:srgbClr val="161B26"/>
                </a:solidFill>
                <a:latin typeface="Arial"/>
              </a:rPr>
              <a:t>102 trades, turnover 25.5; break-even only 19.5 bps one way - fragile.</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Costs: gross vs net</a:t>
            </a:r>
          </a:p>
          <a:p>
            <a:pPr algn="l">
              <a:spcAft>
                <a:spcPts val="100"/>
              </a:spcAft>
            </a:pPr>
            <a:r>
              <a:rPr sz="1000" b="0">
                <a:solidFill>
                  <a:srgbClr val="161B26"/>
                </a:solidFill>
                <a:latin typeface="Arial"/>
              </a:rPr>
              <a:t>The dollar drag by type: commission, spread, slippage and fees.</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A frequent trader lives or dies by costs: compare the break-even bps with your broker's real cost.</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Automation Stage: a Scheduled, Risk-Checked Forward Test and Live Paper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16</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Create a bot, run it on a schedule, watch orders, positions and P&amp;L live, and halt it with the kill switch.</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Create the bot</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Start it and watch</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Kill switch</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vs forward</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bot equity curve, a blotter of its orders, a backtest-vs-forward comparison and a tested kill switch.</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16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16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649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6491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Create the bot</a:t>
            </a:r>
          </a:p>
          <a:p>
            <a:pPr algn="l">
              <a:spcAft>
                <a:spcPts val="200"/>
              </a:spcAft>
            </a:pPr>
            <a:r>
              <a:rPr sz="1000" b="1">
                <a:solidFill>
                  <a:srgbClr val="10B981"/>
                </a:solidFill>
                <a:latin typeface="Arial"/>
              </a:rPr>
              <a:t>▸ Paper Trading &gt; New bot (EMA cross)</a:t>
            </a:r>
          </a:p>
        </p:txBody>
      </p:sp>
      <p:sp>
        <p:nvSpPr>
          <p:cNvPr id="17" name="TextBox 16"/>
          <p:cNvSpPr txBox="1"/>
          <p:nvPr/>
        </p:nvSpPr>
        <p:spPr>
          <a:xfrm>
            <a:off x="4224527" y="249631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Paper Trading &gt; + New bot: EMA crossover 10/30 on SPY, schedule 'every 10s', simulator broker, replay from 2025-01-02.</a:t>
            </a:r>
          </a:p>
        </p:txBody>
      </p:sp>
      <p:sp>
        <p:nvSpPr>
          <p:cNvPr id="18" name="TextBox 17"/>
          <p:cNvSpPr txBox="1"/>
          <p:nvPr/>
        </p:nvSpPr>
        <p:spPr>
          <a:xfrm>
            <a:off x="8065007" y="249631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bot appears with status stopped.</a:t>
            </a:r>
          </a:p>
        </p:txBody>
      </p:sp>
      <p:sp>
        <p:nvSpPr>
          <p:cNvPr id="19" name="Rectangle 18"/>
          <p:cNvSpPr/>
          <p:nvPr/>
        </p:nvSpPr>
        <p:spPr>
          <a:xfrm>
            <a:off x="777240" y="344500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136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1360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4500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Start it and watch</a:t>
            </a:r>
          </a:p>
          <a:p>
            <a:pPr algn="l">
              <a:spcAft>
                <a:spcPts val="200"/>
              </a:spcAft>
            </a:pPr>
            <a:r>
              <a:rPr sz="1000" b="1">
                <a:solidFill>
                  <a:srgbClr val="10B981"/>
                </a:solidFill>
                <a:latin typeface="Arial"/>
              </a:rPr>
              <a:t>▸ Paper Trading &gt; Bots</a:t>
            </a:r>
          </a:p>
        </p:txBody>
      </p:sp>
      <p:sp>
        <p:nvSpPr>
          <p:cNvPr id="23" name="TextBox 22"/>
          <p:cNvSpPr txBox="1"/>
          <p:nvPr/>
        </p:nvSpPr>
        <p:spPr>
          <a:xfrm>
            <a:off x="4224527" y="344500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Press Start. Every cycle replays one trading day: it sees bars to yesterday's close and its orders fill at today's open. Or press 'Run one cycle now' repeatedly.</a:t>
            </a:r>
          </a:p>
        </p:txBody>
      </p:sp>
      <p:sp>
        <p:nvSpPr>
          <p:cNvPr id="24" name="TextBox 23"/>
          <p:cNvSpPr txBox="1"/>
          <p:nvPr/>
        </p:nvSpPr>
        <p:spPr>
          <a:xfrm>
            <a:off x="8065007" y="344500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Equity curve grows cycle by cycle; the Pipeline Map path lights up during each cycle.</a:t>
            </a:r>
          </a:p>
        </p:txBody>
      </p:sp>
      <p:sp>
        <p:nvSpPr>
          <p:cNvPr id="25" name="Rectangle 24"/>
          <p:cNvSpPr/>
          <p:nvPr/>
        </p:nvSpPr>
        <p:spPr>
          <a:xfrm>
            <a:off x="777240" y="4393692"/>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6229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6229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393692"/>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Kill switch</a:t>
            </a:r>
          </a:p>
          <a:p>
            <a:pPr algn="l">
              <a:spcAft>
                <a:spcPts val="200"/>
              </a:spcAft>
            </a:pPr>
            <a:r>
              <a:rPr sz="1000" b="1">
                <a:solidFill>
                  <a:srgbClr val="10B981"/>
                </a:solidFill>
                <a:latin typeface="Arial"/>
              </a:rPr>
              <a:t>▸ same page</a:t>
            </a:r>
          </a:p>
        </p:txBody>
      </p:sp>
      <p:sp>
        <p:nvSpPr>
          <p:cNvPr id="29" name="TextBox 28"/>
          <p:cNvSpPr txBox="1"/>
          <p:nvPr/>
        </p:nvSpPr>
        <p:spPr>
          <a:xfrm>
            <a:off x="4224527" y="4393692"/>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Press the bot's Kill switch, then try 'Run one cycle now'. Release it. Try the global kill switch in the top bar too.</a:t>
            </a:r>
          </a:p>
        </p:txBody>
      </p:sp>
      <p:sp>
        <p:nvSpPr>
          <p:cNvPr id="30" name="TextBox 29"/>
          <p:cNvSpPr txBox="1"/>
          <p:nvPr/>
        </p:nvSpPr>
        <p:spPr>
          <a:xfrm>
            <a:off x="8065007" y="4393692"/>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Cycles report 'kill switch ON - no orders sent'; the Risk stage turns red on the Pipeline Map.</a:t>
            </a:r>
          </a:p>
        </p:txBody>
      </p:sp>
      <p:sp>
        <p:nvSpPr>
          <p:cNvPr id="31" name="Rectangle 30"/>
          <p:cNvSpPr/>
          <p:nvPr/>
        </p:nvSpPr>
        <p:spPr>
          <a:xfrm>
            <a:off x="777240" y="534238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561098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61098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534238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Backtest vs forward</a:t>
            </a:r>
          </a:p>
          <a:p>
            <a:pPr algn="l">
              <a:spcAft>
                <a:spcPts val="200"/>
              </a:spcAft>
            </a:pPr>
            <a:r>
              <a:rPr sz="1000" b="1">
                <a:solidFill>
                  <a:srgbClr val="10B981"/>
                </a:solidFill>
                <a:latin typeface="Arial"/>
              </a:rPr>
              <a:t>▸ same page</a:t>
            </a:r>
          </a:p>
        </p:txBody>
      </p:sp>
      <p:sp>
        <p:nvSpPr>
          <p:cNvPr id="35" name="TextBox 34"/>
          <p:cNvSpPr txBox="1"/>
          <p:nvPr/>
        </p:nvSpPr>
        <p:spPr>
          <a:xfrm>
            <a:off x="4224527" y="534238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Press Compare in 'Backtest vs forward test'.</a:t>
            </a:r>
          </a:p>
        </p:txBody>
      </p:sp>
      <p:sp>
        <p:nvSpPr>
          <p:cNvPr id="36" name="TextBox 35"/>
          <p:cNvSpPr txBox="1"/>
          <p:nvPr/>
        </p:nvSpPr>
        <p:spPr>
          <a:xfrm>
            <a:off x="8065007" y="534238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curves track closely; you can explain the remaining gap (whole shares, fills, timing).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16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16_forward_test_bot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6320332" cy="555498"/>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55766" y="3208858"/>
            <a:ext cx="2073859" cy="703630"/>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00318" y="3089986"/>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318" y="308998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5084978" y="3319957"/>
            <a:ext cx="2225283" cy="203682"/>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929530" y="3201085"/>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29530" y="320108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3208629" y="3893972"/>
            <a:ext cx="4180636" cy="462915"/>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53181" y="3775100"/>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53181" y="377510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3208629" y="4430953"/>
            <a:ext cx="4180636" cy="105544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053181" y="431208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53181" y="431208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Session and + New bot</a:t>
            </a:r>
          </a:p>
          <a:p>
            <a:pPr algn="l">
              <a:spcAft>
                <a:spcPts val="100"/>
              </a:spcAft>
            </a:pPr>
            <a:r>
              <a:rPr sz="1000" b="0">
                <a:solidFill>
                  <a:srgbClr val="161B26"/>
                </a:solidFill>
                <a:latin typeface="Arial"/>
              </a:rPr>
              <a:t>EMA 10/30 on SPY, every 10s, simulator broker, replay from 2025-01-02.</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Bot card</a:t>
            </a:r>
          </a:p>
          <a:p>
            <a:pPr algn="l">
              <a:spcAft>
                <a:spcPts val="100"/>
              </a:spcAft>
            </a:pPr>
            <a:r>
              <a:rPr sz="1000" b="0">
                <a:solidFill>
                  <a:srgbClr val="161B26"/>
                </a:solidFill>
                <a:latin typeface="Arial"/>
              </a:rPr>
              <a:t>Status (running), strategy, schedule, cycles done and the current equity.</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Controls</a:t>
            </a:r>
          </a:p>
          <a:p>
            <a:pPr algn="l">
              <a:spcAft>
                <a:spcPts val="100"/>
              </a:spcAft>
            </a:pPr>
            <a:r>
              <a:rPr sz="1000" b="0">
                <a:solidFill>
                  <a:srgbClr val="161B26"/>
                </a:solidFill>
                <a:latin typeface="Arial"/>
              </a:rPr>
              <a:t>Stop, Run one cycle now, Flatten, Reset - and the red Kill switch.</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Live numbers</a:t>
            </a:r>
          </a:p>
          <a:p>
            <a:pPr algn="l">
              <a:spcAft>
                <a:spcPts val="100"/>
              </a:spcAft>
            </a:pPr>
            <a:r>
              <a:rPr sz="1000" b="0">
                <a:solidFill>
                  <a:srgbClr val="161B26"/>
                </a:solidFill>
                <a:latin typeface="Arial"/>
              </a:rPr>
              <a:t>Equity $108,256, P&amp;L $8,256, 146 cycles / 8 orders, and the last cycle's result.</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Forward-test equity</a:t>
            </a:r>
          </a:p>
          <a:p>
            <a:pPr algn="l">
              <a:spcAft>
                <a:spcPts val="100"/>
              </a:spcAft>
            </a:pPr>
            <a:r>
              <a:rPr sz="1000" b="0">
                <a:solidFill>
                  <a:srgbClr val="161B26"/>
                </a:solidFill>
                <a:latin typeface="Arial"/>
              </a:rPr>
              <a:t>Grows one replayed trading day per cycle; compare it with the backtest.</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With the kill switch ON, cycles send no orders - test it before you trust any bot.</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Event-Driven Automation: TradingView Webhook to Signal, Risk and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17</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Send TradingView alerts to the app's webhook and see them pass validation, signal confirmation and risk into paper orders.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Copy the alert template</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self-test</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Real alerts (paid TradingView plan)</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7 simulated alerts handled as expected and the audit log.</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17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17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Copy the alert template</a:t>
            </a:r>
          </a:p>
          <a:p>
            <a:pPr algn="l">
              <a:spcAft>
                <a:spcPts val="200"/>
              </a:spcAft>
            </a:pPr>
            <a:r>
              <a:rPr sz="1000" b="1">
                <a:solidFill>
                  <a:srgbClr val="10B981"/>
                </a:solidFill>
                <a:latin typeface="Arial"/>
              </a:rPr>
              <a:t>▸ Integrations &gt; TradingView webhook</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Open Integrations and scroll down to the TradingView webhook card. It holds the two things TradingView needs: where to send an alert (the Webhook URL) and what to send (the Alert message).</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say what each part of the message is for and which values TradingView fills in (the {{...}} placeholders).</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Run the self-test</a:t>
            </a:r>
          </a:p>
          <a:p>
            <a:pPr algn="l">
              <a:spcAft>
                <a:spcPts val="200"/>
              </a:spcAft>
            </a:pPr>
            <a:r>
              <a:rPr sz="1000" b="1">
                <a:solidFill>
                  <a:srgbClr val="10B981"/>
                </a:solidFill>
                <a:latin typeface="Arial"/>
              </a:rPr>
              <a:t>▸ System &gt; Integrations</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Press 'Run self-test (7 simulated alerts)'.</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7/7 simulated alerts handled as expected: valid buy and sell (200), wrong secret (401), symbol not allowed and qty too large (422), malformed (400), retry ignored (200 duplicate).</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Real alerts (paid TradingView plan)</a:t>
            </a:r>
          </a:p>
          <a:p>
            <a:pPr algn="l">
              <a:spcAft>
                <a:spcPts val="200"/>
              </a:spcAft>
            </a:pPr>
            <a:r>
              <a:rPr sz="1000" b="1">
                <a:solidFill>
                  <a:srgbClr val="10B981"/>
                </a:solidFill>
                <a:latin typeface="Arial"/>
              </a:rPr>
              <a:t>▸ same page</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Optional - trainer demonstration, or try it yourself if you have a paid TradingView plan. This is the same flow with a real TradingView alert.</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alert appears in the audit log and its order in Paper Trading &gt; Orders (source webhook).</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17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lab17_webhook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22847" y="1875663"/>
            <a:ext cx="2995574" cy="159242"/>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7399" y="175679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7399" y="17567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42598" y="2216368"/>
            <a:ext cx="3140415" cy="429585"/>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87150" y="2097496"/>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7150" y="209749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1042598" y="2716316"/>
            <a:ext cx="3140415" cy="1140622"/>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87150" y="2597444"/>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7150" y="259744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4268602" y="2101565"/>
            <a:ext cx="3146999" cy="88139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113154" y="1982693"/>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3154" y="1982693"/>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4268602" y="3016285"/>
            <a:ext cx="2923153" cy="1403558"/>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113154" y="2897413"/>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3154" y="2897413"/>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1042598" y="4486503"/>
            <a:ext cx="6373002" cy="999896"/>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87150" y="4367631"/>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7150" y="436763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6</a:t>
            </a:r>
          </a:p>
        </p:txBody>
      </p:sp>
      <p:sp>
        <p:nvSpPr>
          <p:cNvPr id="30" name="Rectangle 29"/>
          <p:cNvSpPr/>
          <p:nvPr/>
        </p:nvSpPr>
        <p:spPr>
          <a:xfrm>
            <a:off x="7909560" y="1783080"/>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909560" y="1783080"/>
            <a:ext cx="64008" cy="556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65008" y="1914906"/>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65008" y="191490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4" name="TextBox 33"/>
          <p:cNvSpPr txBox="1"/>
          <p:nvPr/>
        </p:nvSpPr>
        <p:spPr>
          <a:xfrm>
            <a:off x="8458200" y="1783080"/>
            <a:ext cx="2880360" cy="556260"/>
          </a:xfrm>
          <a:prstGeom prst="rect">
            <a:avLst/>
          </a:prstGeom>
          <a:noFill/>
        </p:spPr>
        <p:txBody>
          <a:bodyPr wrap="square" anchor="ctr">
            <a:spAutoFit/>
          </a:bodyPr>
          <a:lstStyle/>
          <a:p>
            <a:pPr algn="l">
              <a:spcAft>
                <a:spcPts val="100"/>
              </a:spcAft>
            </a:pPr>
            <a:r>
              <a:rPr sz="1100" b="1">
                <a:solidFill>
                  <a:srgbClr val="1F6FEB"/>
                </a:solidFill>
                <a:latin typeface="Arial"/>
              </a:rPr>
              <a:t>The webhook path</a:t>
            </a:r>
          </a:p>
          <a:p>
            <a:pPr algn="l">
              <a:spcAft>
                <a:spcPts val="100"/>
              </a:spcAft>
            </a:pPr>
            <a:r>
              <a:rPr sz="950" b="0">
                <a:solidFill>
                  <a:srgbClr val="161B26"/>
                </a:solidFill>
                <a:latin typeface="Arial"/>
              </a:rPr>
              <a:t>alert -&gt; signal confirmation -&gt; risk checks -&gt; paper order.</a:t>
            </a:r>
          </a:p>
        </p:txBody>
      </p:sp>
      <p:sp>
        <p:nvSpPr>
          <p:cNvPr id="35" name="Rectangle 34"/>
          <p:cNvSpPr/>
          <p:nvPr/>
        </p:nvSpPr>
        <p:spPr>
          <a:xfrm>
            <a:off x="7909560" y="2412492"/>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09560" y="2412492"/>
            <a:ext cx="64008" cy="556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065008" y="254431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65008" y="2544318"/>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9" name="TextBox 38"/>
          <p:cNvSpPr txBox="1"/>
          <p:nvPr/>
        </p:nvSpPr>
        <p:spPr>
          <a:xfrm>
            <a:off x="8458200" y="2412492"/>
            <a:ext cx="2880360" cy="556260"/>
          </a:xfrm>
          <a:prstGeom prst="rect">
            <a:avLst/>
          </a:prstGeom>
          <a:noFill/>
        </p:spPr>
        <p:txBody>
          <a:bodyPr wrap="square" anchor="ctr">
            <a:spAutoFit/>
          </a:bodyPr>
          <a:lstStyle/>
          <a:p>
            <a:pPr algn="l">
              <a:spcAft>
                <a:spcPts val="100"/>
              </a:spcAft>
            </a:pPr>
            <a:r>
              <a:rPr sz="1100" b="1">
                <a:solidFill>
                  <a:srgbClr val="10B981"/>
                </a:solidFill>
                <a:latin typeface="Arial"/>
              </a:rPr>
              <a:t>Webhook URL</a:t>
            </a:r>
          </a:p>
          <a:p>
            <a:pPr algn="l">
              <a:spcAft>
                <a:spcPts val="100"/>
              </a:spcAft>
            </a:pPr>
            <a:r>
              <a:rPr sz="950" b="0">
                <a:solidFill>
                  <a:srgbClr val="161B26"/>
                </a:solidFill>
                <a:latin typeface="Arial"/>
              </a:rPr>
              <a:t>Copy it. TradingView can only reach it through a public HTTPS tunnel (e.g. ngrok).</a:t>
            </a:r>
          </a:p>
        </p:txBody>
      </p:sp>
      <p:sp>
        <p:nvSpPr>
          <p:cNvPr id="40" name="Rectangle 39"/>
          <p:cNvSpPr/>
          <p:nvPr/>
        </p:nvSpPr>
        <p:spPr>
          <a:xfrm>
            <a:off x="7909560" y="3041903"/>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09560" y="3041903"/>
            <a:ext cx="64008" cy="556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065008" y="3173729"/>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65008" y="3173729"/>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4" name="TextBox 43"/>
          <p:cNvSpPr txBox="1"/>
          <p:nvPr/>
        </p:nvSpPr>
        <p:spPr>
          <a:xfrm>
            <a:off x="8458200" y="3041903"/>
            <a:ext cx="2880360" cy="556260"/>
          </a:xfrm>
          <a:prstGeom prst="rect">
            <a:avLst/>
          </a:prstGeom>
          <a:noFill/>
        </p:spPr>
        <p:txBody>
          <a:bodyPr wrap="square" anchor="ctr">
            <a:spAutoFit/>
          </a:bodyPr>
          <a:lstStyle/>
          <a:p>
            <a:pPr algn="l">
              <a:spcAft>
                <a:spcPts val="100"/>
              </a:spcAft>
            </a:pPr>
            <a:r>
              <a:rPr sz="1100" b="1">
                <a:solidFill>
                  <a:srgbClr val="7C3AED"/>
                </a:solidFill>
                <a:latin typeface="Arial"/>
              </a:rPr>
              <a:t>Alert message</a:t>
            </a:r>
          </a:p>
          <a:p>
            <a:pPr algn="l">
              <a:spcAft>
                <a:spcPts val="100"/>
              </a:spcAft>
            </a:pPr>
            <a:r>
              <a:rPr sz="950" b="0">
                <a:solidFill>
                  <a:srgbClr val="161B26"/>
                </a:solidFill>
                <a:latin typeface="Arial"/>
              </a:rPr>
              <a:t>The JSON for TradingView's Message box; its secret proves the alert is yours.</a:t>
            </a:r>
          </a:p>
        </p:txBody>
      </p:sp>
      <p:sp>
        <p:nvSpPr>
          <p:cNvPr id="45" name="Rectangle 44"/>
          <p:cNvSpPr/>
          <p:nvPr/>
        </p:nvSpPr>
        <p:spPr>
          <a:xfrm>
            <a:off x="7909560" y="3671315"/>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909560" y="3671315"/>
            <a:ext cx="64008" cy="556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065008" y="3803142"/>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65008" y="3803142"/>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9" name="TextBox 48"/>
          <p:cNvSpPr txBox="1"/>
          <p:nvPr/>
        </p:nvSpPr>
        <p:spPr>
          <a:xfrm>
            <a:off x="8458200" y="3671315"/>
            <a:ext cx="2880360" cy="556260"/>
          </a:xfrm>
          <a:prstGeom prst="rect">
            <a:avLst/>
          </a:prstGeom>
          <a:noFill/>
        </p:spPr>
        <p:txBody>
          <a:bodyPr wrap="square" anchor="ctr">
            <a:spAutoFit/>
          </a:bodyPr>
          <a:lstStyle/>
          <a:p>
            <a:pPr algn="l">
              <a:spcAft>
                <a:spcPts val="100"/>
              </a:spcAft>
            </a:pPr>
            <a:r>
              <a:rPr sz="1100" b="1">
                <a:solidFill>
                  <a:srgbClr val="F59E0B"/>
                </a:solidFill>
                <a:latin typeface="Arial"/>
              </a:rPr>
              <a:t>Confirm, cap and allow</a:t>
            </a:r>
          </a:p>
          <a:p>
            <a:pPr algn="l">
              <a:spcAft>
                <a:spcPts val="100"/>
              </a:spcAft>
            </a:pPr>
            <a:r>
              <a:rPr sz="950" b="0">
                <a:solidFill>
                  <a:srgbClr val="161B26"/>
                </a:solidFill>
                <a:latin typeface="Arial"/>
              </a:rPr>
              <a:t>Confirm with EMA crossover, max 100 per alert, listed symbols only.</a:t>
            </a:r>
          </a:p>
        </p:txBody>
      </p:sp>
      <p:sp>
        <p:nvSpPr>
          <p:cNvPr id="50" name="Rectangle 49"/>
          <p:cNvSpPr/>
          <p:nvPr/>
        </p:nvSpPr>
        <p:spPr>
          <a:xfrm>
            <a:off x="7909560" y="4300728"/>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909560" y="4300728"/>
            <a:ext cx="64008" cy="556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065008" y="443255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65008" y="443255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4" name="TextBox 53"/>
          <p:cNvSpPr txBox="1"/>
          <p:nvPr/>
        </p:nvSpPr>
        <p:spPr>
          <a:xfrm>
            <a:off x="8458200" y="4300728"/>
            <a:ext cx="2880360" cy="556260"/>
          </a:xfrm>
          <a:prstGeom prst="rect">
            <a:avLst/>
          </a:prstGeom>
          <a:noFill/>
        </p:spPr>
        <p:txBody>
          <a:bodyPr wrap="square" anchor="ctr">
            <a:spAutoFit/>
          </a:bodyPr>
          <a:lstStyle/>
          <a:p>
            <a:pPr algn="l">
              <a:spcAft>
                <a:spcPts val="100"/>
              </a:spcAft>
            </a:pPr>
            <a:r>
              <a:rPr sz="1100" b="1">
                <a:solidFill>
                  <a:srgbClr val="1F6FEB"/>
                </a:solidFill>
                <a:latin typeface="Arial"/>
              </a:rPr>
              <a:t>Run self-test</a:t>
            </a:r>
          </a:p>
          <a:p>
            <a:pPr algn="l">
              <a:spcAft>
                <a:spcPts val="100"/>
              </a:spcAft>
            </a:pPr>
            <a:r>
              <a:rPr sz="950" b="0">
                <a:solidFill>
                  <a:srgbClr val="161B26"/>
                </a:solidFill>
                <a:latin typeface="Arial"/>
              </a:rPr>
              <a:t>7/7 handled: valid buy and sell 200, wrong secret 401, bad symbol or qty 422, malformed 400.</a:t>
            </a:r>
          </a:p>
        </p:txBody>
      </p:sp>
      <p:sp>
        <p:nvSpPr>
          <p:cNvPr id="55" name="Rectangle 54"/>
          <p:cNvSpPr/>
          <p:nvPr/>
        </p:nvSpPr>
        <p:spPr>
          <a:xfrm>
            <a:off x="7909560" y="4930140"/>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909560" y="4930140"/>
            <a:ext cx="64008" cy="556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065008" y="506196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065008" y="506196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6</a:t>
            </a:r>
          </a:p>
        </p:txBody>
      </p:sp>
      <p:sp>
        <p:nvSpPr>
          <p:cNvPr id="59" name="TextBox 58"/>
          <p:cNvSpPr txBox="1"/>
          <p:nvPr/>
        </p:nvSpPr>
        <p:spPr>
          <a:xfrm>
            <a:off x="8458200" y="4930140"/>
            <a:ext cx="2880360" cy="556260"/>
          </a:xfrm>
          <a:prstGeom prst="rect">
            <a:avLst/>
          </a:prstGeom>
          <a:noFill/>
        </p:spPr>
        <p:txBody>
          <a:bodyPr wrap="square" anchor="ctr">
            <a:spAutoFit/>
          </a:bodyPr>
          <a:lstStyle/>
          <a:p>
            <a:pPr algn="l">
              <a:spcAft>
                <a:spcPts val="100"/>
              </a:spcAft>
            </a:pPr>
            <a:r>
              <a:rPr sz="1100" b="1">
                <a:solidFill>
                  <a:srgbClr val="10B981"/>
                </a:solidFill>
                <a:latin typeface="Arial"/>
              </a:rPr>
              <a:t>Audit log</a:t>
            </a:r>
          </a:p>
          <a:p>
            <a:pPr algn="l">
              <a:spcAft>
                <a:spcPts val="100"/>
              </a:spcAft>
            </a:pPr>
            <a:r>
              <a:rPr sz="950" b="0">
                <a:solidFill>
                  <a:srgbClr val="161B26"/>
                </a:solidFill>
                <a:latin typeface="Arial"/>
              </a:rPr>
              <a:t>Every alert with its HTTP code and result, secret redacted; a retry is 'duplicate ignored'.</a:t>
            </a:r>
          </a:p>
        </p:txBody>
      </p:sp>
      <p:sp>
        <p:nvSpPr>
          <p:cNvPr id="60" name="Rectangle 59"/>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Only alerts that pass the secret, signal and risk checks become paper orders - and a retried alert never trades twice.</a:t>
            </a:r>
          </a:p>
        </p:txBody>
      </p:sp>
      <p:sp>
        <p:nvSpPr>
          <p:cNvPr id="63" name="TextBox 6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64" name="TextBox 6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65" name="TextBox 6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Diagnostics Stage: Automated Bias Checks before Go-Live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18</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automated diagnostics on a deliberately biased strategy, fix it, and re-run.</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Diagnose the biased exhibit</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Fix it in the Strategy Builder</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Re-run diagnostics</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FAIL on the biased exhibit, a PASS / WARN table for the fixed version and a verdict.</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18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18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Diagnose the biased exhibit</a:t>
            </a:r>
          </a:p>
          <a:p>
            <a:pPr algn="l">
              <a:spcAft>
                <a:spcPts val="200"/>
              </a:spcAft>
            </a:pPr>
            <a:r>
              <a:rPr sz="1000" b="1">
                <a:solidFill>
                  <a:srgbClr val="10B981"/>
                </a:solidFill>
                <a:latin typeface="Arial"/>
              </a:rPr>
              <a:t>▸ Research &gt; Diagnostics (Lab 18 exhibit)</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Diagnostics on 'Lab 18 exhibit: biased smoothed momentum' (seeded custom strategy).</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Look-ahead (features) FAIL: rolling(center=True) uses future bars. Verdict BLOCK.</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Fix it in the Strategy Builder</a:t>
            </a:r>
          </a:p>
          <a:p>
            <a:pPr algn="l">
              <a:spcAft>
                <a:spcPts val="200"/>
              </a:spcAft>
            </a:pPr>
            <a:r>
              <a:rPr sz="1000" b="1">
                <a:solidFill>
                  <a:srgbClr val="10B981"/>
                </a:solidFill>
                <a:latin typeface="Arial"/>
              </a:rPr>
              <a:t>▸ Strategy Builder (exhibit)</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Open the exhibit in the Strategy Builder and change the single setting center=True to center=False (or let AI fix it: use the Lab 18 Strategy Builder prompt in the Prompt Library).</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validation's look-ahead check now passes.</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Re-run diagnostics</a:t>
            </a:r>
          </a:p>
          <a:p>
            <a:pPr algn="l">
              <a:spcAft>
                <a:spcPts val="200"/>
              </a:spcAft>
            </a:pPr>
            <a:r>
              <a:rPr sz="1000" b="1">
                <a:solidFill>
                  <a:srgbClr val="10B981"/>
                </a:solidFill>
                <a:latin typeface="Arial"/>
              </a:rPr>
              <a:t>▸ Research &gt; Diagnostics</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Diagnose the fixed strategy; compare the same-bar vs next-bar Sharpe and the cost-drag row.</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No FAIL on look-ahead; cost drag and overfitting WARN explained.</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18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18_diagnostics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597810"/>
            <a:ext cx="1514246" cy="1962759"/>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478938"/>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47893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681935" y="2597810"/>
            <a:ext cx="4707331" cy="462914"/>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526487" y="2478938"/>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26487" y="247893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747772" y="3412540"/>
            <a:ext cx="4542739" cy="277749"/>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92324" y="3293668"/>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92324" y="329366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2747772" y="3708806"/>
            <a:ext cx="4542739" cy="87028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92324" y="3589934"/>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92324" y="358993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747772" y="4597603"/>
            <a:ext cx="4542739" cy="407365"/>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92324" y="447873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92324" y="447873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Choose the exhibit</a:t>
            </a:r>
          </a:p>
          <a:p>
            <a:pPr algn="l">
              <a:spcAft>
                <a:spcPts val="100"/>
              </a:spcAft>
            </a:pPr>
            <a:r>
              <a:rPr sz="1000" b="0">
                <a:solidFill>
                  <a:srgbClr val="161B26"/>
                </a:solidFill>
                <a:latin typeface="Arial"/>
              </a:rPr>
              <a:t>Lab 18 biased smoothed momentum on SPY; 76 parameter sets tried.</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Verdict</a:t>
            </a:r>
          </a:p>
          <a:p>
            <a:pPr algn="l">
              <a:spcAft>
                <a:spcPts val="100"/>
              </a:spcAft>
            </a:pPr>
            <a:r>
              <a:rPr sz="1000" b="0">
                <a:solidFill>
                  <a:srgbClr val="161B26"/>
                </a:solidFill>
                <a:latin typeface="Arial"/>
              </a:rPr>
              <a:t>BLOCK: fix every FAIL before paper or live trading.</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Look-ahead in features: FAIL</a:t>
            </a:r>
          </a:p>
          <a:p>
            <a:pPr algn="l">
              <a:spcAft>
                <a:spcPts val="100"/>
              </a:spcAft>
            </a:pPr>
            <a:r>
              <a:rPr sz="1000" b="0">
                <a:solidFill>
                  <a:srgbClr val="161B26"/>
                </a:solidFill>
                <a:latin typeface="Arial"/>
              </a:rPr>
              <a:t>rolling(center=True) peeks at future bars, so truncation changes past signals.</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Execution, cost drag, overfitting</a:t>
            </a:r>
          </a:p>
          <a:p>
            <a:pPr algn="l">
              <a:spcAft>
                <a:spcPts val="100"/>
              </a:spcAft>
            </a:pPr>
            <a:r>
              <a:rPr sz="1000" b="0">
                <a:solidFill>
                  <a:srgbClr val="161B26"/>
                </a:solidFill>
                <a:latin typeface="Arial"/>
              </a:rPr>
              <a:t>PASS: next-bar fills, small cost drag, beats 76 skill-free random strategies.</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Survivorship: WARN</a:t>
            </a:r>
          </a:p>
          <a:p>
            <a:pPr algn="l">
              <a:spcAft>
                <a:spcPts val="100"/>
              </a:spcAft>
            </a:pPr>
            <a:r>
              <a:rPr sz="1000" b="0">
                <a:solidFill>
                  <a:srgbClr val="161B26"/>
                </a:solidFill>
                <a:latin typeface="Arial"/>
              </a:rPr>
              <a:t>The universe is today's survivors - use a point-in-time universe.</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Change center=True to center=False in the Strategy Builder, re-run, and the look-ahead FAIL becomes PASS.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Monitoring and Reporting Stage: Automated Tearsheet and Backtest-vs-Forward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19</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Produce a one-page tearsheet and explain the gap between backtest and forward test.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Export the tearsheet</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vs forward</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Draw insights</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PDF tearsheet and a written explanation of the backtest-vs-forward differences.</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19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19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Export the tearsheet</a:t>
            </a:r>
          </a:p>
          <a:p>
            <a:pPr algn="l">
              <a:spcAft>
                <a:spcPts val="200"/>
              </a:spcAft>
            </a:pPr>
            <a:r>
              <a:rPr sz="1000" b="1">
                <a:solidFill>
                  <a:srgbClr val="10B981"/>
                </a:solidFill>
                <a:latin typeface="Arial"/>
              </a:rPr>
              <a:t>▸ Analytics &gt; PDF tearsheet</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Backtest page (or Analytics) &gt; PDF tearsheet for your best backtest; also export the equity and trades CSV.</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PDF has equity vs benchmark, drawdown, monthly heatmap, metrics and the cost table.</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Backtest vs forward</a:t>
            </a:r>
          </a:p>
          <a:p>
            <a:pPr algn="l">
              <a:spcAft>
                <a:spcPts val="200"/>
              </a:spcAft>
            </a:pPr>
            <a:r>
              <a:rPr sz="1000" b="1">
                <a:solidFill>
                  <a:srgbClr val="10B981"/>
                </a:solidFill>
                <a:latin typeface="Arial"/>
              </a:rPr>
              <a:t>▸ Analytics</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Analytics: select your Lab 16 bot under 'Bot (backtest vs forward)'.</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Explain every material gap (fills, sizing, costs, timing).</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Draw insights</a:t>
            </a:r>
          </a:p>
          <a:p>
            <a:pPr algn="l">
              <a:spcAft>
                <a:spcPts val="200"/>
              </a:spcAft>
            </a:pPr>
            <a:r>
              <a:rPr sz="1000" b="1">
                <a:solidFill>
                  <a:srgbClr val="10B981"/>
                </a:solidFill>
                <a:latin typeface="Arial"/>
              </a:rPr>
              <a:t>▸ same page</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Monthly heatmap: in which regimes did the strategy earn its returns, what drove its drawdowns?</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Two or three insights, not just numbers.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19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19_performance_report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4970678" cy="481431"/>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6006693" y="2338578"/>
            <a:ext cx="1283817" cy="314782"/>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51245" y="2219706"/>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51245" y="22197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1068933" y="2820009"/>
            <a:ext cx="2040940" cy="2666390"/>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3485" y="2701137"/>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3485" y="270113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3208629" y="2820009"/>
            <a:ext cx="4180636" cy="1647977"/>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53181" y="2701137"/>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53181" y="270113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3208629" y="4560570"/>
            <a:ext cx="2054108" cy="925830"/>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053181" y="4441698"/>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53181" y="444169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Backtest and exports</a:t>
            </a:r>
          </a:p>
          <a:p>
            <a:pPr algn="l">
              <a:spcAft>
                <a:spcPts val="100"/>
              </a:spcAft>
            </a:pPr>
            <a:r>
              <a:rPr sz="1000" b="0">
                <a:solidFill>
                  <a:srgbClr val="161B26"/>
                </a:solidFill>
                <a:latin typeface="Arial"/>
              </a:rPr>
              <a:t>Pick your best backtest; the PDF tearsheet and CSV go into the report.</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Bot (backtest vs forward)</a:t>
            </a:r>
          </a:p>
          <a:p>
            <a:pPr algn="l">
              <a:spcAft>
                <a:spcPts val="100"/>
              </a:spcAft>
            </a:pPr>
            <a:r>
              <a:rPr sz="1000" b="0">
                <a:solidFill>
                  <a:srgbClr val="161B26"/>
                </a:solidFill>
                <a:latin typeface="Arial"/>
              </a:rPr>
              <a:t>Select your Lab 16 bot to compare its forward test with the backtest.</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All metrics</a:t>
            </a:r>
          </a:p>
          <a:p>
            <a:pPr algn="l">
              <a:spcAft>
                <a:spcPts val="100"/>
              </a:spcAft>
            </a:pPr>
            <a:r>
              <a:rPr sz="1000" b="0">
                <a:solidFill>
                  <a:srgbClr val="161B26"/>
                </a:solidFill>
                <a:latin typeface="Arial"/>
              </a:rPr>
              <a:t>CAGR 8.82% vs 14.14%, Sharpe 0.77 vs 0.78, max drawdown -25.54% vs -33.72%.</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Equity vs SPY</a:t>
            </a:r>
          </a:p>
          <a:p>
            <a:pPr algn="l">
              <a:spcAft>
                <a:spcPts val="100"/>
              </a:spcAft>
            </a:pPr>
            <a:r>
              <a:rPr sz="1000" b="0">
                <a:solidFill>
                  <a:srgbClr val="161B26"/>
                </a:solidFill>
                <a:latin typeface="Arial"/>
              </a:rPr>
              <a:t>Flat stretches = out of the market; it falls behind SPY from 2022.</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Drawdown</a:t>
            </a:r>
          </a:p>
          <a:p>
            <a:pPr algn="l">
              <a:spcAft>
                <a:spcPts val="100"/>
              </a:spcAft>
            </a:pPr>
            <a:r>
              <a:rPr sz="1000" b="0">
                <a:solidFill>
                  <a:srgbClr val="161B26"/>
                </a:solidFill>
                <a:latin typeface="Arial"/>
              </a:rPr>
              <a:t>The 2022 bear market caused the deepest loss (about -25%).</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A good report explains why: which regimes earned the returns and what drove the drawdowns.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Capstone: One Command Runs the Pipeline End to End, with a Multi AI Agents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20</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whole pipeline end to end, run the 8-agent workflow (research, sentiment, strategy, signal, paper trade, performance analysis, strategy review) and watch its feedback loop, switch on the always-on agent, and turn your own idea into a strategy, then backtest and forward-test it.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53527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3527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multi-agent workflow</a:t>
            </a:r>
          </a:p>
        </p:txBody>
      </p:sp>
      <p:sp>
        <p:nvSpPr>
          <p:cNvPr id="19" name="TextBox 18"/>
          <p:cNvSpPr txBox="1"/>
          <p:nvPr/>
        </p:nvSpPr>
        <p:spPr>
          <a:xfrm>
            <a:off x="2668219"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951683"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51683"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70972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0972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061411"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the agent cards and the order</a:t>
            </a:r>
          </a:p>
        </p:txBody>
      </p:sp>
      <p:sp>
        <p:nvSpPr>
          <p:cNvPr id="25" name="TextBox 24"/>
          <p:cNvSpPr txBox="1"/>
          <p:nvPr/>
        </p:nvSpPr>
        <p:spPr>
          <a:xfrm>
            <a:off x="484266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5126126"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6126"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88416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8416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5235854"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Performance and the feedback loop</a:t>
            </a:r>
          </a:p>
        </p:txBody>
      </p:sp>
      <p:sp>
        <p:nvSpPr>
          <p:cNvPr id="31" name="TextBox 30"/>
          <p:cNvSpPr txBox="1"/>
          <p:nvPr/>
        </p:nvSpPr>
        <p:spPr>
          <a:xfrm>
            <a:off x="7017105"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7300569"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00569"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5860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5860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7410297"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Turn your own idea into a strategy</a:t>
            </a:r>
          </a:p>
        </p:txBody>
      </p:sp>
      <p:sp>
        <p:nvSpPr>
          <p:cNvPr id="37" name="TextBox 36"/>
          <p:cNvSpPr txBox="1"/>
          <p:nvPr/>
        </p:nvSpPr>
        <p:spPr>
          <a:xfrm>
            <a:off x="91915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9475012"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75012"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33049"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33049"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9584740"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diagnose and forward-test it</a:t>
            </a:r>
          </a:p>
        </p:txBody>
      </p:sp>
      <p:sp>
        <p:nvSpPr>
          <p:cNvPr id="43" name="Rectangle 42"/>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6" name="TextBox 45"/>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Pipeline Map with every stage green, an 8-agent run with its paper order, performance metrics and strategy guidance, and your own strategy trading on paper.</a:t>
            </a:r>
          </a:p>
        </p:txBody>
      </p:sp>
      <p:sp>
        <p:nvSpPr>
          <p:cNvPr id="47" name="TextBox 46"/>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20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20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5867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60680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60680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586740"/>
          </a:xfrm>
          <a:prstGeom prst="rect">
            <a:avLst/>
          </a:prstGeom>
          <a:noFill/>
        </p:spPr>
        <p:txBody>
          <a:bodyPr wrap="square" anchor="ctr">
            <a:spAutoFit/>
          </a:bodyPr>
          <a:lstStyle/>
          <a:p>
            <a:pPr algn="l">
              <a:spcAft>
                <a:spcPts val="200"/>
              </a:spcAft>
            </a:pPr>
            <a:r>
              <a:rPr sz="1100" b="1">
                <a:solidFill>
                  <a:srgbClr val="161B26"/>
                </a:solidFill>
                <a:latin typeface="Arial"/>
              </a:rPr>
              <a:t>Run the multi-agent workflow</a:t>
            </a:r>
          </a:p>
          <a:p>
            <a:pPr algn="l">
              <a:spcAft>
                <a:spcPts val="200"/>
              </a:spcAft>
            </a:pPr>
            <a:r>
              <a:rPr sz="950" b="1">
                <a:solidFill>
                  <a:srgbClr val="10B981"/>
                </a:solidFill>
                <a:latin typeface="Arial"/>
              </a:rPr>
              <a:t>▸ AI Agents &gt; Multi-agent workflow</a:t>
            </a:r>
          </a:p>
        </p:txBody>
      </p:sp>
      <p:sp>
        <p:nvSpPr>
          <p:cNvPr id="17" name="TextBox 16"/>
          <p:cNvSpPr txBox="1"/>
          <p:nvPr/>
        </p:nvSpPr>
        <p:spPr>
          <a:xfrm>
            <a:off x="4224527" y="2496311"/>
            <a:ext cx="3657600" cy="586740"/>
          </a:xfrm>
          <a:prstGeom prst="rect">
            <a:avLst/>
          </a:prstGeom>
          <a:noFill/>
        </p:spPr>
        <p:txBody>
          <a:bodyPr wrap="square" anchor="ctr">
            <a:spAutoFit/>
          </a:bodyPr>
          <a:lstStyle/>
          <a:p>
            <a:pPr algn="l">
              <a:spcAft>
                <a:spcPts val="400"/>
              </a:spcAft>
            </a:pPr>
            <a:r>
              <a:rPr sz="950" b="0">
                <a:solidFill>
                  <a:srgbClr val="161B26"/>
                </a:solidFill>
                <a:latin typeface="Arial"/>
              </a:rPr>
              <a:t>Enter NVDA, AAPL, SPY and press 'Run the multi-agent workflow'; watch the Agent flow.</a:t>
            </a:r>
          </a:p>
        </p:txBody>
      </p:sp>
      <p:sp>
        <p:nvSpPr>
          <p:cNvPr id="18" name="TextBox 17"/>
          <p:cNvSpPr txBox="1"/>
          <p:nvPr/>
        </p:nvSpPr>
        <p:spPr>
          <a:xfrm>
            <a:off x="8065007" y="2496311"/>
            <a:ext cx="3255264" cy="586740"/>
          </a:xfrm>
          <a:prstGeom prst="rect">
            <a:avLst/>
          </a:prstGeom>
          <a:noFill/>
        </p:spPr>
        <p:txBody>
          <a:bodyPr wrap="square" anchor="ctr">
            <a:spAutoFit/>
          </a:bodyPr>
          <a:lstStyle/>
          <a:p>
            <a:pPr algn="l">
              <a:spcAft>
                <a:spcPts val="400"/>
              </a:spcAft>
            </a:pPr>
            <a:r>
              <a:rPr sz="1050" b="1">
                <a:solidFill>
                  <a:srgbClr val="10B981"/>
                </a:solidFill>
                <a:latin typeface="Arial"/>
              </a:rPr>
              <a:t>✓ 8 agents per symbol; the brain badge shows the provider, the rule brain or code.</a:t>
            </a:r>
            <a:r>
              <a:rPr sz="950" b="0">
                <a:solidFill>
                  <a:srgbClr val="161B26"/>
                </a:solidFill>
                <a:latin typeface="Arial"/>
              </a:rPr>
              <a:t/>
            </a:r>
          </a:p>
        </p:txBody>
      </p:sp>
      <p:sp>
        <p:nvSpPr>
          <p:cNvPr id="19" name="Rectangle 18"/>
          <p:cNvSpPr/>
          <p:nvPr/>
        </p:nvSpPr>
        <p:spPr>
          <a:xfrm>
            <a:off x="777240" y="3128772"/>
            <a:ext cx="10634472" cy="5867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23926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23926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128772"/>
            <a:ext cx="2606039" cy="586740"/>
          </a:xfrm>
          <a:prstGeom prst="rect">
            <a:avLst/>
          </a:prstGeom>
          <a:noFill/>
        </p:spPr>
        <p:txBody>
          <a:bodyPr wrap="square" anchor="ctr">
            <a:spAutoFit/>
          </a:bodyPr>
          <a:lstStyle/>
          <a:p>
            <a:pPr algn="l">
              <a:spcAft>
                <a:spcPts val="200"/>
              </a:spcAft>
            </a:pPr>
            <a:r>
              <a:rPr sz="1100" b="1">
                <a:solidFill>
                  <a:srgbClr val="161B26"/>
                </a:solidFill>
                <a:latin typeface="Arial"/>
              </a:rPr>
              <a:t>Read each agent's card</a:t>
            </a:r>
          </a:p>
          <a:p>
            <a:pPr algn="l">
              <a:spcAft>
                <a:spcPts val="200"/>
              </a:spcAft>
            </a:pPr>
            <a:r>
              <a:rPr sz="950" b="1">
                <a:solidFill>
                  <a:srgbClr val="10B981"/>
                </a:solidFill>
                <a:latin typeface="Arial"/>
              </a:rPr>
              <a:t>▸ same page</a:t>
            </a:r>
          </a:p>
        </p:txBody>
      </p:sp>
      <p:sp>
        <p:nvSpPr>
          <p:cNvPr id="23" name="TextBox 22"/>
          <p:cNvSpPr txBox="1"/>
          <p:nvPr/>
        </p:nvSpPr>
        <p:spPr>
          <a:xfrm>
            <a:off x="4224527" y="3128772"/>
            <a:ext cx="3657600" cy="586740"/>
          </a:xfrm>
          <a:prstGeom prst="rect">
            <a:avLst/>
          </a:prstGeom>
          <a:noFill/>
        </p:spPr>
        <p:txBody>
          <a:bodyPr wrap="square" anchor="ctr">
            <a:spAutoFit/>
          </a:bodyPr>
          <a:lstStyle/>
          <a:p>
            <a:pPr algn="l">
              <a:spcAft>
                <a:spcPts val="400"/>
              </a:spcAft>
            </a:pPr>
            <a:r>
              <a:rPr sz="950" b="0">
                <a:solidFill>
                  <a:srgbClr val="161B26"/>
                </a:solidFill>
                <a:latin typeface="Arial"/>
              </a:rPr>
              <a:t>Read the eight cards in flow order: research, sentiment, strategy votes and weights, signal, trader, performance, review.</a:t>
            </a:r>
          </a:p>
        </p:txBody>
      </p:sp>
      <p:sp>
        <p:nvSpPr>
          <p:cNvPr id="24" name="TextBox 23"/>
          <p:cNvSpPr txBox="1"/>
          <p:nvPr/>
        </p:nvSpPr>
        <p:spPr>
          <a:xfrm>
            <a:off x="8065007" y="3128772"/>
            <a:ext cx="3255264" cy="586740"/>
          </a:xfrm>
          <a:prstGeom prst="rect">
            <a:avLst/>
          </a:prstGeom>
          <a:noFill/>
        </p:spPr>
        <p:txBody>
          <a:bodyPr wrap="square" anchor="ctr">
            <a:spAutoFit/>
          </a:bodyPr>
          <a:lstStyle/>
          <a:p>
            <a:pPr algn="l">
              <a:spcAft>
                <a:spcPts val="400"/>
              </a:spcAft>
            </a:pPr>
            <a:r>
              <a:rPr sz="1050" b="1">
                <a:solidFill>
                  <a:srgbClr val="10B981"/>
                </a:solidFill>
                <a:latin typeface="Arial"/>
              </a:rPr>
              <a:t>✓ You can explain how the composite score became the signal.</a:t>
            </a:r>
            <a:r>
              <a:rPr sz="950" b="0">
                <a:solidFill>
                  <a:srgbClr val="161B26"/>
                </a:solidFill>
                <a:latin typeface="Arial"/>
              </a:rPr>
              <a:t/>
            </a:r>
          </a:p>
        </p:txBody>
      </p:sp>
      <p:sp>
        <p:nvSpPr>
          <p:cNvPr id="25" name="Rectangle 24"/>
          <p:cNvSpPr/>
          <p:nvPr/>
        </p:nvSpPr>
        <p:spPr>
          <a:xfrm>
            <a:off x="777240" y="3761232"/>
            <a:ext cx="10634472" cy="5867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387172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387172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3761232"/>
            <a:ext cx="2606039" cy="586740"/>
          </a:xfrm>
          <a:prstGeom prst="rect">
            <a:avLst/>
          </a:prstGeom>
          <a:noFill/>
        </p:spPr>
        <p:txBody>
          <a:bodyPr wrap="square" anchor="ctr">
            <a:spAutoFit/>
          </a:bodyPr>
          <a:lstStyle/>
          <a:p>
            <a:pPr algn="l">
              <a:spcAft>
                <a:spcPts val="200"/>
              </a:spcAft>
            </a:pPr>
            <a:r>
              <a:rPr sz="1100" b="1">
                <a:solidFill>
                  <a:srgbClr val="161B26"/>
                </a:solidFill>
                <a:latin typeface="Arial"/>
              </a:rPr>
              <a:t>Check the order on Alpaca paper</a:t>
            </a:r>
          </a:p>
          <a:p>
            <a:pPr algn="l">
              <a:spcAft>
                <a:spcPts val="200"/>
              </a:spcAft>
            </a:pPr>
            <a:r>
              <a:rPr sz="950" b="1">
                <a:solidFill>
                  <a:srgbClr val="10B981"/>
                </a:solidFill>
                <a:latin typeface="Arial"/>
              </a:rPr>
              <a:t>▸ Paper Trading &gt; Orders</a:t>
            </a:r>
          </a:p>
        </p:txBody>
      </p:sp>
      <p:sp>
        <p:nvSpPr>
          <p:cNvPr id="29" name="TextBox 28"/>
          <p:cNvSpPr txBox="1"/>
          <p:nvPr/>
        </p:nvSpPr>
        <p:spPr>
          <a:xfrm>
            <a:off x="4224527" y="3761232"/>
            <a:ext cx="3657600" cy="586740"/>
          </a:xfrm>
          <a:prstGeom prst="rect">
            <a:avLst/>
          </a:prstGeom>
          <a:noFill/>
        </p:spPr>
        <p:txBody>
          <a:bodyPr wrap="square" anchor="ctr">
            <a:spAutoFit/>
          </a:bodyPr>
          <a:lstStyle/>
          <a:p>
            <a:pPr algn="l">
              <a:spcAft>
                <a:spcPts val="400"/>
              </a:spcAft>
            </a:pPr>
            <a:r>
              <a:rPr sz="950" b="0">
                <a:solidFill>
                  <a:srgbClr val="161B26"/>
                </a:solidFill>
                <a:latin typeface="Arial"/>
              </a:rPr>
              <a:t>long = buy, short = sell short, null = no order - placed automatically, no approval step.</a:t>
            </a:r>
          </a:p>
        </p:txBody>
      </p:sp>
      <p:sp>
        <p:nvSpPr>
          <p:cNvPr id="30" name="TextBox 29"/>
          <p:cNvSpPr txBox="1"/>
          <p:nvPr/>
        </p:nvSpPr>
        <p:spPr>
          <a:xfrm>
            <a:off x="8065007" y="3761232"/>
            <a:ext cx="3255264" cy="586740"/>
          </a:xfrm>
          <a:prstGeom prst="rect">
            <a:avLst/>
          </a:prstGeom>
          <a:noFill/>
        </p:spPr>
        <p:txBody>
          <a:bodyPr wrap="square" anchor="ctr">
            <a:spAutoFit/>
          </a:bodyPr>
          <a:lstStyle/>
          <a:p>
            <a:pPr algn="l">
              <a:spcAft>
                <a:spcPts val="400"/>
              </a:spcAft>
            </a:pPr>
            <a:r>
              <a:rPr sz="1050" b="1">
                <a:solidFill>
                  <a:srgbClr val="10B981"/>
                </a:solidFill>
                <a:latin typeface="Arial"/>
              </a:rPr>
              <a:t>✓ Every long / short signal has a paper order (or a recorded broker error).</a:t>
            </a:r>
            <a:r>
              <a:rPr sz="950" b="0">
                <a:solidFill>
                  <a:srgbClr val="161B26"/>
                </a:solidFill>
                <a:latin typeface="Arial"/>
              </a:rPr>
              <a:t/>
            </a:r>
          </a:p>
        </p:txBody>
      </p:sp>
      <p:sp>
        <p:nvSpPr>
          <p:cNvPr id="31" name="Rectangle 30"/>
          <p:cNvSpPr/>
          <p:nvPr/>
        </p:nvSpPr>
        <p:spPr>
          <a:xfrm>
            <a:off x="777240" y="4393692"/>
            <a:ext cx="10634472" cy="5867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450418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450418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4393692"/>
            <a:ext cx="2606039" cy="586740"/>
          </a:xfrm>
          <a:prstGeom prst="rect">
            <a:avLst/>
          </a:prstGeom>
          <a:noFill/>
        </p:spPr>
        <p:txBody>
          <a:bodyPr wrap="square" anchor="ctr">
            <a:spAutoFit/>
          </a:bodyPr>
          <a:lstStyle/>
          <a:p>
            <a:pPr algn="l">
              <a:spcAft>
                <a:spcPts val="200"/>
              </a:spcAft>
            </a:pPr>
            <a:r>
              <a:rPr sz="1100" b="1">
                <a:solidFill>
                  <a:srgbClr val="161B26"/>
                </a:solidFill>
                <a:latin typeface="Arial"/>
              </a:rPr>
              <a:t>Performance and the feedback loop</a:t>
            </a:r>
          </a:p>
          <a:p>
            <a:pPr algn="l">
              <a:spcAft>
                <a:spcPts val="200"/>
              </a:spcAft>
            </a:pPr>
            <a:r>
              <a:rPr sz="950" b="1">
                <a:solidFill>
                  <a:srgbClr val="10B981"/>
                </a:solidFill>
                <a:latin typeface="Arial"/>
              </a:rPr>
              <a:t>▸ AI Agents &gt; Performance</a:t>
            </a:r>
          </a:p>
        </p:txBody>
      </p:sp>
      <p:sp>
        <p:nvSpPr>
          <p:cNvPr id="35" name="TextBox 34"/>
          <p:cNvSpPr txBox="1"/>
          <p:nvPr/>
        </p:nvSpPr>
        <p:spPr>
          <a:xfrm>
            <a:off x="4224527" y="4393692"/>
            <a:ext cx="3657600" cy="586740"/>
          </a:xfrm>
          <a:prstGeom prst="rect">
            <a:avLst/>
          </a:prstGeom>
          <a:noFill/>
        </p:spPr>
        <p:txBody>
          <a:bodyPr wrap="square" anchor="ctr">
            <a:spAutoFit/>
          </a:bodyPr>
          <a:lstStyle/>
          <a:p>
            <a:pPr algn="l">
              <a:spcAft>
                <a:spcPts val="400"/>
              </a:spcAft>
            </a:pPr>
            <a:r>
              <a:rPr sz="950" b="0">
                <a:solidFill>
                  <a:srgbClr val="161B26"/>
                </a:solidFill>
                <a:latin typeface="Arial"/>
              </a:rPr>
              <a:t>Read the metrics and the Strategy guidance, then run the workflow again on the same symbols.</a:t>
            </a:r>
          </a:p>
        </p:txBody>
      </p:sp>
      <p:sp>
        <p:nvSpPr>
          <p:cNvPr id="36" name="TextBox 35"/>
          <p:cNvSpPr txBox="1"/>
          <p:nvPr/>
        </p:nvSpPr>
        <p:spPr>
          <a:xfrm>
            <a:off x="8065007" y="4393692"/>
            <a:ext cx="3255264" cy="586740"/>
          </a:xfrm>
          <a:prstGeom prst="rect">
            <a:avLst/>
          </a:prstGeom>
          <a:noFill/>
        </p:spPr>
        <p:txBody>
          <a:bodyPr wrap="square" anchor="ctr">
            <a:spAutoFit/>
          </a:bodyPr>
          <a:lstStyle/>
          <a:p>
            <a:pPr algn="l">
              <a:spcAft>
                <a:spcPts val="400"/>
              </a:spcAft>
            </a:pPr>
            <a:r>
              <a:rPr sz="1050" b="1">
                <a:solidFill>
                  <a:srgbClr val="10B981"/>
                </a:solidFill>
                <a:latin typeface="Arial"/>
              </a:rPr>
              <a:t>✓ The second run's strategy used the first run's review guidance.</a:t>
            </a:r>
            <a:r>
              <a:rPr sz="950" b="0">
                <a:solidFill>
                  <a:srgbClr val="161B26"/>
                </a:solidFill>
                <a:latin typeface="Arial"/>
              </a:rPr>
              <a:t/>
            </a:r>
          </a:p>
        </p:txBody>
      </p:sp>
      <p:sp>
        <p:nvSpPr>
          <p:cNvPr id="37" name="Rectangle 36"/>
          <p:cNvSpPr/>
          <p:nvPr/>
        </p:nvSpPr>
        <p:spPr>
          <a:xfrm>
            <a:off x="777240" y="5026151"/>
            <a:ext cx="10634472" cy="5867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77824" y="513664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7824" y="513664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1435608" y="5026151"/>
            <a:ext cx="2606039" cy="586740"/>
          </a:xfrm>
          <a:prstGeom prst="rect">
            <a:avLst/>
          </a:prstGeom>
          <a:noFill/>
        </p:spPr>
        <p:txBody>
          <a:bodyPr wrap="square" anchor="ctr">
            <a:spAutoFit/>
          </a:bodyPr>
          <a:lstStyle/>
          <a:p>
            <a:pPr algn="l">
              <a:spcAft>
                <a:spcPts val="200"/>
              </a:spcAft>
            </a:pPr>
            <a:r>
              <a:rPr sz="1100" b="1">
                <a:solidFill>
                  <a:srgbClr val="161B26"/>
                </a:solidFill>
                <a:latin typeface="Arial"/>
              </a:rPr>
              <a:t>Your own strategy</a:t>
            </a:r>
          </a:p>
          <a:p>
            <a:pPr algn="l">
              <a:spcAft>
                <a:spcPts val="200"/>
              </a:spcAft>
            </a:pPr>
            <a:r>
              <a:rPr sz="950" b="1">
                <a:solidFill>
                  <a:srgbClr val="10B981"/>
                </a:solidFill>
                <a:latin typeface="Arial"/>
              </a:rPr>
              <a:t>▸ Idea &gt; Strategy</a:t>
            </a:r>
          </a:p>
        </p:txBody>
      </p:sp>
      <p:sp>
        <p:nvSpPr>
          <p:cNvPr id="41" name="TextBox 40"/>
          <p:cNvSpPr txBox="1"/>
          <p:nvPr/>
        </p:nvSpPr>
        <p:spPr>
          <a:xfrm>
            <a:off x="4224527" y="5026151"/>
            <a:ext cx="3657600" cy="586740"/>
          </a:xfrm>
          <a:prstGeom prst="rect">
            <a:avLst/>
          </a:prstGeom>
          <a:noFill/>
        </p:spPr>
        <p:txBody>
          <a:bodyPr wrap="square" anchor="ctr">
            <a:spAutoFit/>
          </a:bodyPr>
          <a:lstStyle/>
          <a:p>
            <a:pPr algn="l">
              <a:spcAft>
                <a:spcPts val="400"/>
              </a:spcAft>
            </a:pPr>
            <a:r>
              <a:rPr sz="950" b="0">
                <a:solidFill>
                  <a:srgbClr val="161B26"/>
                </a:solidFill>
                <a:latin typeface="Arial"/>
              </a:rPr>
              <a:t>Turn your idea into a strategy, test it, run Diagnostics and start a paper bot for it.</a:t>
            </a:r>
          </a:p>
        </p:txBody>
      </p:sp>
      <p:sp>
        <p:nvSpPr>
          <p:cNvPr id="42" name="TextBox 41"/>
          <p:cNvSpPr txBox="1"/>
          <p:nvPr/>
        </p:nvSpPr>
        <p:spPr>
          <a:xfrm>
            <a:off x="8065007" y="5026151"/>
            <a:ext cx="3255264" cy="586740"/>
          </a:xfrm>
          <a:prstGeom prst="rect">
            <a:avLst/>
          </a:prstGeom>
          <a:noFill/>
        </p:spPr>
        <p:txBody>
          <a:bodyPr wrap="square" anchor="ctr">
            <a:spAutoFit/>
          </a:bodyPr>
          <a:lstStyle/>
          <a:p>
            <a:pPr algn="l">
              <a:spcAft>
                <a:spcPts val="400"/>
              </a:spcAft>
            </a:pPr>
            <a:r>
              <a:rPr sz="1050" b="1">
                <a:solidFill>
                  <a:srgbClr val="10B981"/>
                </a:solidFill>
                <a:latin typeface="Arial"/>
              </a:rPr>
              <a:t>✓ A READY strategy with a PASS look-ahead check and its lifecycle gates.</a:t>
            </a:r>
            <a:r>
              <a:rPr sz="950" b="0">
                <a:solidFill>
                  <a:srgbClr val="161B26"/>
                </a:solidFill>
                <a:latin typeface="Arial"/>
              </a:rPr>
              <a:t/>
            </a:r>
          </a:p>
        </p:txBody>
      </p:sp>
      <p:sp>
        <p:nvSpPr>
          <p:cNvPr id="43" name="Rectangle 42"/>
          <p:cNvSpPr/>
          <p:nvPr/>
        </p:nvSpPr>
        <p:spPr>
          <a:xfrm>
            <a:off x="777240" y="5658612"/>
            <a:ext cx="10634472" cy="5867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77824" y="576910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77824" y="576910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6</a:t>
            </a:r>
          </a:p>
        </p:txBody>
      </p:sp>
      <p:sp>
        <p:nvSpPr>
          <p:cNvPr id="46" name="TextBox 45"/>
          <p:cNvSpPr txBox="1"/>
          <p:nvPr/>
        </p:nvSpPr>
        <p:spPr>
          <a:xfrm>
            <a:off x="1435608" y="5658612"/>
            <a:ext cx="2606039" cy="586740"/>
          </a:xfrm>
          <a:prstGeom prst="rect">
            <a:avLst/>
          </a:prstGeom>
          <a:noFill/>
        </p:spPr>
        <p:txBody>
          <a:bodyPr wrap="square" anchor="ctr">
            <a:spAutoFit/>
          </a:bodyPr>
          <a:lstStyle/>
          <a:p>
            <a:pPr algn="l">
              <a:spcAft>
                <a:spcPts val="200"/>
              </a:spcAft>
            </a:pPr>
            <a:r>
              <a:rPr sz="1100" b="1">
                <a:solidFill>
                  <a:srgbClr val="161B26"/>
                </a:solidFill>
                <a:latin typeface="Arial"/>
              </a:rPr>
              <a:t>End-to-end on the Pipeline Map</a:t>
            </a:r>
          </a:p>
          <a:p>
            <a:pPr algn="l">
              <a:spcAft>
                <a:spcPts val="200"/>
              </a:spcAft>
            </a:pPr>
            <a:r>
              <a:rPr sz="950" b="1">
                <a:solidFill>
                  <a:srgbClr val="10B981"/>
                </a:solidFill>
                <a:latin typeface="Arial"/>
              </a:rPr>
              <a:t>▸ Pipeline Map</a:t>
            </a:r>
          </a:p>
        </p:txBody>
      </p:sp>
      <p:sp>
        <p:nvSpPr>
          <p:cNvPr id="47" name="TextBox 46"/>
          <p:cNvSpPr txBox="1"/>
          <p:nvPr/>
        </p:nvSpPr>
        <p:spPr>
          <a:xfrm>
            <a:off x="4224527" y="5658612"/>
            <a:ext cx="3657600" cy="586740"/>
          </a:xfrm>
          <a:prstGeom prst="rect">
            <a:avLst/>
          </a:prstGeom>
          <a:noFill/>
        </p:spPr>
        <p:txBody>
          <a:bodyPr wrap="square" anchor="ctr">
            <a:spAutoFit/>
          </a:bodyPr>
          <a:lstStyle/>
          <a:p>
            <a:pPr algn="l">
              <a:spcAft>
                <a:spcPts val="400"/>
              </a:spcAft>
            </a:pPr>
            <a:r>
              <a:rPr sz="950" b="0">
                <a:solidFill>
                  <a:srgbClr val="161B26"/>
                </a:solidFill>
                <a:latin typeface="Arial"/>
              </a:rPr>
              <a:t>Open the Pipeline Map and press 'Run a bot cycle'. Then switch to 'Strategy lifecycle'.</a:t>
            </a:r>
          </a:p>
        </p:txBody>
      </p:sp>
      <p:sp>
        <p:nvSpPr>
          <p:cNvPr id="48" name="TextBox 47"/>
          <p:cNvSpPr txBox="1"/>
          <p:nvPr/>
        </p:nvSpPr>
        <p:spPr>
          <a:xfrm>
            <a:off x="8065007" y="5658612"/>
            <a:ext cx="3255264" cy="586740"/>
          </a:xfrm>
          <a:prstGeom prst="rect">
            <a:avLst/>
          </a:prstGeom>
          <a:noFill/>
        </p:spPr>
        <p:txBody>
          <a:bodyPr wrap="square" anchor="ctr">
            <a:spAutoFit/>
          </a:bodyPr>
          <a:lstStyle/>
          <a:p>
            <a:pPr algn="l">
              <a:spcAft>
                <a:spcPts val="400"/>
              </a:spcAft>
            </a:pPr>
            <a:r>
              <a:rPr sz="1050" b="1">
                <a:solidFill>
                  <a:srgbClr val="10B981"/>
                </a:solidFill>
                <a:latin typeface="Arial"/>
              </a:rPr>
              <a:t>✓ </a:t>
            </a:r>
            <a:r>
              <a:rPr sz="950" b="0">
                <a:solidFill>
                  <a:srgbClr val="161B26"/>
                </a:solidFill>
                <a:latin typeface="Arial"/>
              </a:rPr>
              <a:t>All 14 stages have run; you can walk a colleague through each stage.</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20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lab20_multi_agent_desk_16x9.png"/>
          <p:cNvPicPr>
            <a:picLocks noChangeAspect="1"/>
          </p:cNvPicPr>
          <p:nvPr/>
        </p:nvPicPr>
        <p:blipFill>
          <a:blip r:embed="rId2"/>
          <a:stretch>
            <a:fillRect/>
          </a:stretch>
        </p:blipFill>
        <p:spPr>
          <a:xfrm>
            <a:off x="777240" y="2196580"/>
            <a:ext cx="6903720" cy="2876318"/>
          </a:xfrm>
          <a:prstGeom prst="rect">
            <a:avLst/>
          </a:prstGeom>
        </p:spPr>
      </p:pic>
      <p:sp>
        <p:nvSpPr>
          <p:cNvPr id="11" name="Rectangle 10"/>
          <p:cNvSpPr/>
          <p:nvPr/>
        </p:nvSpPr>
        <p:spPr>
          <a:xfrm>
            <a:off x="766267" y="2185607"/>
            <a:ext cx="6925665" cy="2898264"/>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84351" y="3214796"/>
            <a:ext cx="814638" cy="396931"/>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5858" y="3091352"/>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858" y="3091352"/>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950872" y="2869638"/>
            <a:ext cx="814638" cy="1087248"/>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792379" y="2746194"/>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92379" y="274619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917393" y="3157270"/>
            <a:ext cx="1781159" cy="517737"/>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758900" y="3033826"/>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58900" y="303382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4850434" y="3157270"/>
            <a:ext cx="814638" cy="517737"/>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691941" y="3033826"/>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91941" y="303382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977447" y="4043176"/>
            <a:ext cx="6496400" cy="198465"/>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18954" y="3919732"/>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954" y="3919732"/>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Lead Agent</a:t>
            </a:r>
          </a:p>
          <a:p>
            <a:pPr algn="l">
              <a:spcAft>
                <a:spcPts val="100"/>
              </a:spcAft>
            </a:pPr>
            <a:r>
              <a:rPr sz="1000" b="0">
                <a:solidFill>
                  <a:srgbClr val="161B26"/>
                </a:solidFill>
                <a:latin typeface="Arial"/>
              </a:rPr>
              <a:t>Plans the run for NVDA, AAPL and SPY and writes the summary at the end.</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Research in parallel</a:t>
            </a:r>
          </a:p>
          <a:p>
            <a:pPr algn="l">
              <a:spcAft>
                <a:spcPts val="100"/>
              </a:spcAft>
            </a:pPr>
            <a:r>
              <a:rPr sz="1000" b="0">
                <a:solidFill>
                  <a:srgbClr val="161B26"/>
                </a:solidFill>
                <a:latin typeface="Arial"/>
              </a:rPr>
              <a:t>Finance Research (candles, Yahoo, Equibles) and News Sentiment (Reddit, NewsAPI).</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Strategy and signal</a:t>
            </a:r>
          </a:p>
          <a:p>
            <a:pPr algn="l">
              <a:spcAft>
                <a:spcPts val="100"/>
              </a:spcAft>
            </a:pPr>
            <a:r>
              <a:rPr sz="1000" b="0">
                <a:solidFill>
                  <a:srgbClr val="161B26"/>
                </a:solidFill>
                <a:latin typeface="Arial"/>
              </a:rPr>
              <a:t>Six algorithm votes plus sentiment give a composite: long, short or null.</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Stock Trader</a:t>
            </a:r>
          </a:p>
          <a:p>
            <a:pPr algn="l">
              <a:spcAft>
                <a:spcPts val="100"/>
              </a:spcAft>
            </a:pPr>
            <a:r>
              <a:rPr sz="1000" b="0">
                <a:solidFill>
                  <a:srgbClr val="161B26"/>
                </a:solidFill>
                <a:latin typeface="Arial"/>
              </a:rPr>
              <a:t>Places the paper order automatically - no approval; null = no order.</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Feedback loop</a:t>
            </a:r>
          </a:p>
          <a:p>
            <a:pPr algn="l">
              <a:spcAft>
                <a:spcPts val="100"/>
              </a:spcAft>
            </a:pPr>
            <a:r>
              <a:rPr sz="1000" b="0">
                <a:solidFill>
                  <a:srgbClr val="161B26"/>
                </a:solidFill>
                <a:latin typeface="Arial"/>
              </a:rPr>
              <a:t>Performance and Strategy Review write guidance the next run's strategy uses.</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Then create your own strategy, backtest, diagnose and forward-test it, and walk the Pipeline Map end to end.</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4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Perform coding and configuration of software agents or programs based on selected models or algorithms</a:t>
            </a:r>
          </a:p>
        </p:txBody>
      </p:sp>
      <p:sp>
        <p:nvSpPr>
          <p:cNvPr id="15" name="Rectangle 14"/>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679192"/>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Conduct tests on the actions taken and outcomes to assess effectiveness of the models</a:t>
            </a:r>
          </a:p>
        </p:txBody>
      </p:sp>
      <p:sp>
        <p:nvSpPr>
          <p:cNvPr id="20" name="Rectangle 19"/>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Diagnose unintended outcomes produced by statistical models</a:t>
            </a:r>
          </a:p>
        </p:txBody>
      </p:sp>
      <p:sp>
        <p:nvSpPr>
          <p:cNvPr id="25" name="Rectangle 24"/>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215384"/>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Draw relevant trends and insights from data analysis to support decisions and report accordingly</a:t>
            </a:r>
          </a:p>
        </p:txBody>
      </p:sp>
      <p:sp>
        <p:nvSpPr>
          <p:cNvPr id="30" name="Rectangle 29"/>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Coding languages for programming of algorithms and signals</a:t>
            </a:r>
          </a:p>
        </p:txBody>
      </p:sp>
      <p:sp>
        <p:nvSpPr>
          <p:cNvPr id="35" name="Rectangle 34"/>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1764792" y="5751576"/>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Potential reasons for unintended outcomes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SUMMARY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Framed testable hypotheses</a:t>
            </a:r>
          </a:p>
          <a:p>
            <a:pPr algn="l">
              <a:spcAft>
                <a:spcPts val="300"/>
              </a:spcAft>
            </a:pPr>
            <a:r>
              <a:rPr sz="1300" b="0">
                <a:solidFill>
                  <a:srgbClr val="5B6372"/>
                </a:solidFill>
                <a:latin typeface="Arial"/>
              </a:rPr>
              <a:t>Instrument, signal, holding period, effect, benchmark.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Built indicators and strategies</a:t>
            </a:r>
          </a:p>
          <a:p>
            <a:pPr algn="l">
              <a:spcAft>
                <a:spcPts val="300"/>
              </a:spcAft>
            </a:pPr>
            <a:r>
              <a:rPr sz="1300" b="0">
                <a:solidFill>
                  <a:srgbClr val="5B6372"/>
                </a:solidFill>
                <a:latin typeface="Arial"/>
              </a:rPr>
              <a:t>Pine Script on TradingView; configured in the Trading Simulator.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Modelled and A/B-tested</a:t>
            </a:r>
          </a:p>
          <a:p>
            <a:pPr algn="l">
              <a:spcAft>
                <a:spcPts val="300"/>
              </a:spcAft>
            </a:pPr>
            <a:r>
              <a:rPr sz="1300" b="0">
                <a:solidFill>
                  <a:srgbClr val="5B6372"/>
                </a:solidFill>
                <a:latin typeface="Arial"/>
              </a:rPr>
              <a:t>ML classifiers, regimes, Welch's t-test and bootstrap.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Backtested net of costs</a:t>
            </a:r>
          </a:p>
          <a:p>
            <a:pPr algn="l">
              <a:spcAft>
                <a:spcPts val="300"/>
              </a:spcAft>
            </a:pPr>
            <a:r>
              <a:rPr sz="1300" b="0">
                <a:solidFill>
                  <a:srgbClr val="5B6372"/>
                </a:solidFill>
                <a:latin typeface="Arial"/>
              </a:rPr>
              <a:t>Commission, spread, slippage and regulatory fees.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Forward-tested automatically</a:t>
            </a:r>
          </a:p>
          <a:p>
            <a:pPr algn="l">
              <a:spcAft>
                <a:spcPts val="300"/>
              </a:spcAft>
            </a:pPr>
            <a:r>
              <a:rPr sz="1300" b="0">
                <a:solidFill>
                  <a:srgbClr val="5B6372"/>
                </a:solidFill>
                <a:latin typeface="Arial"/>
              </a:rPr>
              <a:t>A paper-trading bot with risk checks and a trade log.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Diagnosed and reported</a:t>
            </a:r>
          </a:p>
          <a:p>
            <a:pPr algn="l">
              <a:spcAft>
                <a:spcPts val="300"/>
              </a:spcAft>
            </a:pPr>
            <a:r>
              <a:rPr sz="1300" b="0">
                <a:solidFill>
                  <a:srgbClr val="5B6372"/>
                </a:solidFill>
                <a:latin typeface="Arial"/>
              </a:rPr>
              <a:t>Found the bias, fixed it, and wrote the recommendation.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COURSE FEEDBACK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Before You Leave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Your materials</a:t>
            </a:r>
          </a:p>
          <a:p>
            <a:pPr algn="l">
              <a:spcAft>
                <a:spcPts val="300"/>
              </a:spcAft>
            </a:pPr>
            <a:r>
              <a:rPr sz="1300" b="0">
                <a:solidFill>
                  <a:srgbClr val="5B6372"/>
                </a:solidFill>
                <a:latin typeface="Arial"/>
              </a:rPr>
              <a:t>Slides, the Learner Guide and the lab manuals stay on the LMS and GitHub.</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Course feedback</a:t>
            </a:r>
          </a:p>
          <a:p>
            <a:pPr algn="l">
              <a:spcAft>
                <a:spcPts val="300"/>
              </a:spcAft>
            </a:pPr>
            <a:r>
              <a:rPr sz="1300" b="0">
                <a:solidFill>
                  <a:srgbClr val="5B6372"/>
                </a:solidFill>
                <a:latin typeface="Arial"/>
              </a:rPr>
              <a:t>Complete the feedback form on the LMS.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Keep practising on paper</a:t>
            </a:r>
          </a:p>
          <a:p>
            <a:pPr algn="l">
              <a:spcAft>
                <a:spcPts val="300"/>
              </a:spcAft>
            </a:pPr>
            <a:r>
              <a:rPr sz="1300" b="0">
                <a:solidFill>
                  <a:srgbClr val="5B6372"/>
                </a:solidFill>
                <a:latin typeface="Arial"/>
              </a:rPr>
              <a:t>Your Alpaca paper account, the Trading Simulator and the lab manuals are yours to keep.</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Not investment advice</a:t>
            </a:r>
          </a:p>
          <a:p>
            <a:pPr algn="l">
              <a:spcAft>
                <a:spcPts val="300"/>
              </a:spcAft>
            </a:pPr>
            <a:r>
              <a:rPr sz="1300" b="0">
                <a:solidFill>
                  <a:srgbClr val="5B6372"/>
                </a:solidFill>
                <a:latin typeface="Arial"/>
              </a:rPr>
              <a:t>Scenarios are fictitious; trade real money only with proper advice.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651760"/>
            <a:ext cx="12191695" cy="1097280"/>
          </a:xfrm>
          <a:prstGeom prst="rect">
            <a:avLst/>
          </a:prstGeom>
          <a:noFill/>
        </p:spPr>
        <p:txBody>
          <a:bodyPr wrap="square" anchor="t">
            <a:spAutoFit/>
          </a:bodyPr>
          <a:lstStyle/>
          <a:p>
            <a:pPr algn="ctr">
              <a:spcAft>
                <a:spcPts val="400"/>
              </a:spcAft>
            </a:pPr>
            <a:r>
              <a:rPr sz="5400" b="1">
                <a:solidFill>
                  <a:srgbClr val="161B26"/>
                </a:solidFill>
                <a:latin typeface="Arial"/>
              </a:rPr>
              <a:t>Thank You</a:t>
            </a:r>
          </a:p>
        </p:txBody>
      </p:sp>
      <p:sp>
        <p:nvSpPr>
          <p:cNvPr id="6" name="TextBox 5"/>
          <p:cNvSpPr txBox="1"/>
          <p:nvPr/>
        </p:nvSpPr>
        <p:spPr>
          <a:xfrm>
            <a:off x="0" y="3840480"/>
            <a:ext cx="12191695" cy="548640"/>
          </a:xfrm>
          <a:prstGeom prst="rect">
            <a:avLst/>
          </a:prstGeom>
          <a:noFill/>
        </p:spPr>
        <p:txBody>
          <a:bodyPr wrap="square" anchor="t">
            <a:spAutoFit/>
          </a:bodyPr>
          <a:lstStyle/>
          <a:p>
            <a:pPr algn="ctr">
              <a:spcAft>
                <a:spcPts val="400"/>
              </a:spcAft>
            </a:pPr>
            <a:r>
              <a:rPr sz="1600" b="0">
                <a:solidFill>
                  <a:srgbClr val="5B6372"/>
                </a:solidFill>
                <a:latin typeface="Arial"/>
              </a:rPr>
              <a:t>AI Powered Quantitative Trading Fundamentals  ·  C728</a:t>
            </a:r>
          </a:p>
        </p:txBody>
      </p:sp>
      <p:sp>
        <p:nvSpPr>
          <p:cNvPr id="7" name="TextBox 6"/>
          <p:cNvSpPr txBox="1"/>
          <p:nvPr/>
        </p:nvSpPr>
        <p:spPr>
          <a:xfrm>
            <a:off x="0" y="4434840"/>
            <a:ext cx="12191695" cy="548640"/>
          </a:xfrm>
          <a:prstGeom prst="rect">
            <a:avLst/>
          </a:prstGeom>
          <a:noFill/>
        </p:spPr>
        <p:txBody>
          <a:bodyPr wrap="square" anchor="t">
            <a:spAutoFit/>
          </a:bodyPr>
          <a:lstStyle/>
          <a:p>
            <a:pPr algn="ctr">
              <a:spcAft>
                <a:spcPts val="400"/>
              </a:spcAft>
            </a:pPr>
            <a:r>
              <a:rPr sz="1300" b="0">
                <a:solidFill>
                  <a:srgbClr val="5B6372"/>
                </a:solidFill>
                <a:latin typeface="Arial"/>
              </a:rPr>
              <a:t>Tertiary Infotech Academy Pte Ltd  ·  UEN 201200696W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101 for Financial Trading</dc:title>
  <dc:subject/>
  <dc:creator>Tertiary Infotech Academy Pte Ltd</dc:creator>
  <cp:keywords/>
  <dc:description>generated using python-pptx</dc:description>
  <cp:lastModifiedBy>Tertiary Infotech Academy Pte Ltd</cp:lastModifiedBy>
  <cp:revision>1</cp:revision>
  <dcterms:created xsi:type="dcterms:W3CDTF">2013-01-27T09:14:16Z</dcterms:created>
  <dcterms:modified xsi:type="dcterms:W3CDTF">2013-01-27T09:15:58Z</dcterms:modified>
  <cp:category/>
</cp:coreProperties>
</file>