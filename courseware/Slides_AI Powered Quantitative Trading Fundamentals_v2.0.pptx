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2" r:id="rId13"/>
    <p:sldId id="263" r:id="rId14"/>
    <p:sldId id="264" r:id="rId15"/>
    <p:sldId id="266" r:id="rId17"/>
    <p:sldId id="267" r:id="rId18"/>
    <p:sldId id="268" r:id="rId19"/>
    <p:sldId id="273" r:id="rId24"/>
    <p:sldId id="274" r:id="rId25"/>
    <p:sldId id="275" r:id="rId26"/>
    <p:sldId id="276" r:id="rId27"/>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82" r:id="rId233"/>
    <p:sldId id="483" r:id="rId2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3" Type="http://schemas.openxmlformats.org/officeDocument/2006/relationships/slide" Target="slides/slide227.xml"/><Relationship Id="rId234" Type="http://schemas.openxmlformats.org/officeDocument/2006/relationships/slide" Target="slides/slide2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NON-WSQ COURSE</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AI Powered Quantitative Trading Fundamentals</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Course code C728  ·  2 days  ·  15 instructional hours</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2.0  ·  24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and Trainer for this course.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and Trainer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every topic and lab step is in it.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github.com/tertiarycourses/C728-AI-Powered-Quantitative-Trading-Fundamentals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Low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is a low-code course. Every lab runs in the Trading Simulator: you set the hypothesis, choose and configure the algorithm, run the tests and judge the results, while the software does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Software's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code</a:t>
            </a:r>
          </a:p>
          <a:p>
            <a:pPr algn="l">
              <a:spcAft>
                <a:spcPts val="300"/>
              </a:spcAft>
            </a:pPr>
            <a:r>
              <a:rPr sz="1050" b="0">
                <a:solidFill>
                  <a:srgbClr val="5B6372"/>
                </a:solidFill>
                <a:latin typeface="Arial"/>
              </a:rPr>
              <a:t>It runs every stage - data, signals, backtests, paper orders and reports - from settings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drudgery</a:t>
            </a:r>
          </a:p>
          <a:p>
            <a:pPr algn="l">
              <a:spcAft>
                <a:spcPts val="300"/>
              </a:spcAft>
            </a:pPr>
            <a:r>
              <a:rPr sz="1050" b="0">
                <a:solidFill>
                  <a:srgbClr val="5B6372"/>
                </a:solidFill>
                <a:latin typeface="Arial"/>
              </a:rPr>
              <a:t>Data plumbing, charts, Pine Script export,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09:30 - 10:00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10:00 - 11:10</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6" name="TextBox 15"/>
          <p:cNvSpPr txBox="1"/>
          <p:nvPr/>
        </p:nvSpPr>
        <p:spPr>
          <a:xfrm>
            <a:off x="822960" y="277977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11:10 - 11:40</a:t>
            </a:r>
          </a:p>
        </p:txBody>
      </p:sp>
      <p:sp>
        <p:nvSpPr>
          <p:cNvPr id="17" name="TextBox 16"/>
          <p:cNvSpPr txBox="1"/>
          <p:nvPr/>
        </p:nvSpPr>
        <p:spPr>
          <a:xfrm>
            <a:off x="2377440" y="2779776"/>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277977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9" name="TextBox 18"/>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20" name="TextBox 19"/>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12:00 - 12:20</a:t>
            </a:r>
          </a:p>
        </p:txBody>
      </p:sp>
      <p:sp>
        <p:nvSpPr>
          <p:cNvPr id="23" name="TextBox 22"/>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12:20 - 12:40</a:t>
            </a:r>
          </a:p>
        </p:txBody>
      </p:sp>
      <p:sp>
        <p:nvSpPr>
          <p:cNvPr id="26" name="TextBox 25"/>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Rectangle 27"/>
          <p:cNvSpPr/>
          <p:nvPr/>
        </p:nvSpPr>
        <p:spPr>
          <a:xfrm>
            <a:off x="777240" y="4315968"/>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315968"/>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12:40 - 13:10      Lunch Break</a:t>
            </a:r>
          </a:p>
        </p:txBody>
      </p:sp>
      <p:sp>
        <p:nvSpPr>
          <p:cNvPr id="30" name="TextBox 29"/>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13:10 - 13:25</a:t>
            </a:r>
          </a:p>
        </p:txBody>
      </p:sp>
      <p:sp>
        <p:nvSpPr>
          <p:cNvPr id="31" name="TextBox 30"/>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3" name="TextBox 32"/>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13:25 - 14:05</a:t>
            </a:r>
          </a:p>
        </p:txBody>
      </p:sp>
      <p:sp>
        <p:nvSpPr>
          <p:cNvPr id="34" name="TextBox 33"/>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6" name="TextBox 15"/>
          <p:cNvSpPr txBox="1"/>
          <p:nvPr/>
        </p:nvSpPr>
        <p:spPr>
          <a:xfrm>
            <a:off x="822960" y="277977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14:55 - 15:20</a:t>
            </a:r>
          </a:p>
        </p:txBody>
      </p:sp>
      <p:sp>
        <p:nvSpPr>
          <p:cNvPr id="17" name="TextBox 16"/>
          <p:cNvSpPr txBox="1"/>
          <p:nvPr/>
        </p:nvSpPr>
        <p:spPr>
          <a:xfrm>
            <a:off x="2377440" y="277977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277977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9" name="TextBox 18"/>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15:20 - 16:00</a:t>
            </a:r>
          </a:p>
        </p:txBody>
      </p:sp>
      <p:sp>
        <p:nvSpPr>
          <p:cNvPr id="20" name="TextBox 19"/>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16:00 - 16:25</a:t>
            </a:r>
          </a:p>
        </p:txBody>
      </p:sp>
      <p:sp>
        <p:nvSpPr>
          <p:cNvPr id="23" name="TextBox 22"/>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16:25 - 16:50</a:t>
            </a:r>
          </a:p>
        </p:txBody>
      </p:sp>
      <p:sp>
        <p:nvSpPr>
          <p:cNvPr id="26" name="TextBox 25"/>
          <p:cNvSpPr txBox="1"/>
          <p:nvPr/>
        </p:nvSpPr>
        <p:spPr>
          <a:xfrm>
            <a:off x="2377440" y="393192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16:50 - 17:15</a:t>
            </a:r>
          </a:p>
        </p:txBody>
      </p:sp>
      <p:sp>
        <p:nvSpPr>
          <p:cNvPr id="29" name="TextBox 28"/>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17:15 - 17:30</a:t>
            </a:r>
          </a:p>
        </p:txBody>
      </p:sp>
      <p:sp>
        <p:nvSpPr>
          <p:cNvPr id="32" name="TextBox 31"/>
          <p:cNvSpPr txBox="1"/>
          <p:nvPr/>
        </p:nvSpPr>
        <p:spPr>
          <a:xfrm>
            <a:off x="2377440" y="4700016"/>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09:30 - 09:50</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09:50 - 10:20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10:20 - 10:45</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10:45 - 11:10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2" name="TextBox 21"/>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11:10 - 11:35</a:t>
            </a:r>
          </a:p>
        </p:txBody>
      </p:sp>
      <p:sp>
        <p:nvSpPr>
          <p:cNvPr id="23" name="TextBox 22"/>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5" name="TextBox 24"/>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11:35 - 11:55</a:t>
            </a:r>
          </a:p>
        </p:txBody>
      </p:sp>
      <p:sp>
        <p:nvSpPr>
          <p:cNvPr id="26" name="TextBox 25"/>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11:55 - 12:15</a:t>
            </a:r>
          </a:p>
        </p:txBody>
      </p:sp>
      <p:sp>
        <p:nvSpPr>
          <p:cNvPr id="29" name="TextBox 28"/>
          <p:cNvSpPr txBox="1"/>
          <p:nvPr/>
        </p:nvSpPr>
        <p:spPr>
          <a:xfrm>
            <a:off x="2377440" y="4091939"/>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12:15 - 12:35</a:t>
            </a:r>
          </a:p>
        </p:txBody>
      </p:sp>
      <p:sp>
        <p:nvSpPr>
          <p:cNvPr id="32" name="TextBox 31"/>
          <p:cNvSpPr txBox="1"/>
          <p:nvPr/>
        </p:nvSpPr>
        <p:spPr>
          <a:xfrm>
            <a:off x="2377440" y="443865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12:35 - 13:00</a:t>
            </a:r>
          </a:p>
        </p:txBody>
      </p:sp>
      <p:sp>
        <p:nvSpPr>
          <p:cNvPr id="35" name="TextBox 34"/>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13:30 - 14:10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40" name="Rectangle 39"/>
          <p:cNvSpPr/>
          <p:nvPr/>
        </p:nvSpPr>
        <p:spPr>
          <a:xfrm>
            <a:off x="777240" y="513207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13207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13:00 - 13:30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09:30 - 17:30  ·  7.5 instructional hours  ·  excluding a 30-minute lunch</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14:10 - 14:40</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14:40 - 14:55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15:25 - 15:50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15:50 - 16:00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16:00 - 16:25</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28" name="TextBox 27"/>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16:25 - 16:35</a:t>
            </a:r>
          </a:p>
        </p:txBody>
      </p:sp>
      <p:sp>
        <p:nvSpPr>
          <p:cNvPr id="29" name="TextBox 28"/>
          <p:cNvSpPr txBox="1"/>
          <p:nvPr/>
        </p:nvSpPr>
        <p:spPr>
          <a:xfrm>
            <a:off x="2377440" y="4091939"/>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1" name="TextBox 30"/>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16:35 - 17:05</a:t>
            </a:r>
          </a:p>
        </p:txBody>
      </p:sp>
      <p:sp>
        <p:nvSpPr>
          <p:cNvPr id="32" name="TextBox 31"/>
          <p:cNvSpPr txBox="1"/>
          <p:nvPr/>
        </p:nvSpPr>
        <p:spPr>
          <a:xfrm>
            <a:off x="2377440" y="443865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17:05 - 17:30</a:t>
            </a:r>
          </a:p>
        </p:txBody>
      </p:sp>
      <p:sp>
        <p:nvSpPr>
          <p:cNvPr id="35" name="TextBox 34"/>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Install the Trading Simulator and create the free accounts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Docker Desktop - or Python 3.11+ and uv</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Download the simulator: GitHub &gt; Code &gt;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Start it: docker compose up -d  (or uv sync, then uv run trader serve --with-worker)</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Load the demo data: Settings &gt; Load demo data</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Keys: Integrations page (no files to edit)</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_v2.png"/>
          <p:cNvPicPr>
            <a:picLocks noChangeAspect="1"/>
          </p:cNvPicPr>
          <p:nvPr/>
        </p:nvPicPr>
        <p:blipFill>
          <a:blip r:embed="rId2"/>
          <a:stretch>
            <a:fillRect/>
          </a:stretch>
        </p:blipFill>
        <p:spPr>
          <a:xfrm>
            <a:off x="1448866" y="2057400"/>
            <a:ext cx="9293961" cy="3520440"/>
          </a:xfrm>
          <a:prstGeom prst="rect">
            <a:avLst/>
          </a:prstGeom>
        </p:spPr>
      </p:pic>
      <p:sp>
        <p:nvSpPr>
          <p:cNvPr id="8" name="Rectangle 7"/>
          <p:cNvSpPr/>
          <p:nvPr/>
        </p:nvSpPr>
        <p:spPr>
          <a:xfrm>
            <a:off x="1437894" y="2046427"/>
            <a:ext cx="931590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Pipeline Map shows the 14 stages of the automated pipeline, plus TradingView webhook alerts and the always-on AI agent as side inputs, each with its live state. Click a stage to see its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Integrations &gt; Alpaca &gt; paste &gt; Save &amp; test</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Test connection: 'Paper account ACTIVE'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deposit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LOW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No Coding Needed - and a Prompt Library if You Want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Every lab, no code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Each lab runs in the Trading Simulator: choose settings, press Run, read the result. The lab manual gives every step and check.</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Want to see the code?</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labs/Prompt_Library.html has one prompt per lab. One click opens Claude or ChatGPT with the prompt filled in - the AI writes the code for you.</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Run it without installing</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Paste the code into Google Colab and press Run, or paste a strategy into the simulator's Strategy Builder. Never paste API keys into an AI chat.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1   ·   Labs 1–4</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Get the simulator running, decide between the offline demo and an Alpaca paper account, and check every integration's status.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Load the demo data</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integrations</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AI agent login</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market clock</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Tour the Pipeline Map</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working app with demo data loaded, a verified Alpaca paper account or the simulator, and a known AI-agent brain.</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700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7004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Load the demo data</a:t>
            </a:r>
          </a:p>
          <a:p>
            <a:pPr algn="l">
              <a:spcAft>
                <a:spcPts val="200"/>
              </a:spcAft>
            </a:pPr>
            <a:r>
              <a:rPr sz="1000" b="1">
                <a:solidFill>
                  <a:srgbClr val="10B981"/>
                </a:solidFill>
                <a:latin typeface="Arial"/>
              </a:rPr>
              <a:t>▸ Settings &gt; Demo data</a:t>
            </a:r>
          </a:p>
        </p:txBody>
      </p:sp>
      <p:sp>
        <p:nvSpPr>
          <p:cNvPr id="17" name="TextBox 16"/>
          <p:cNvSpPr txBox="1"/>
          <p:nvPr/>
        </p:nvSpPr>
        <p:spPr>
          <a:xfrm>
            <a:off x="4224527" y="2496311"/>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Settings and press 'Load / refresh demo data'.</a:t>
            </a:r>
          </a:p>
        </p:txBody>
      </p:sp>
      <p:sp>
        <p:nvSpPr>
          <p:cNvPr id="18" name="TextBox 17"/>
          <p:cNvSpPr txBox="1"/>
          <p:nvPr/>
        </p:nvSpPr>
        <p:spPr>
          <a:xfrm>
            <a:off x="8065007" y="2496311"/>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Settings shows about 29,000 bars and at least 8 backtests.</a:t>
            </a:r>
          </a:p>
        </p:txBody>
      </p:sp>
      <p:sp>
        <p:nvSpPr>
          <p:cNvPr id="19" name="Rectangle 18"/>
          <p:cNvSpPr/>
          <p:nvPr/>
        </p:nvSpPr>
        <p:spPr>
          <a:xfrm>
            <a:off x="777240" y="3255263"/>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428999"/>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428999"/>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255263"/>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integrations</a:t>
            </a:r>
          </a:p>
          <a:p>
            <a:pPr algn="l">
              <a:spcAft>
                <a:spcPts val="200"/>
              </a:spcAft>
            </a:pPr>
            <a:r>
              <a:rPr sz="1000" b="1">
                <a:solidFill>
                  <a:srgbClr val="10B981"/>
                </a:solidFill>
                <a:latin typeface="Arial"/>
              </a:rPr>
              <a:t>▸ Integrations</a:t>
            </a:r>
          </a:p>
        </p:txBody>
      </p:sp>
      <p:sp>
        <p:nvSpPr>
          <p:cNvPr id="23" name="TextBox 22"/>
          <p:cNvSpPr txBox="1"/>
          <p:nvPr/>
        </p:nvSpPr>
        <p:spPr>
          <a:xfrm>
            <a:off x="4224527" y="3255263"/>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Integrations. Without keys, Alpaca shows 'not configured' and the app uses the simulator broker and the offline data.</a:t>
            </a:r>
          </a:p>
        </p:txBody>
      </p:sp>
      <p:sp>
        <p:nvSpPr>
          <p:cNvPr id="24" name="TextBox 23"/>
          <p:cNvSpPr txBox="1"/>
          <p:nvPr/>
        </p:nvSpPr>
        <p:spPr>
          <a:xfrm>
            <a:off x="8065007" y="3255263"/>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Alpaca test says 'Paper account ACTIVE' (online) - or you understand the app runs fully offline.</a:t>
            </a:r>
          </a:p>
        </p:txBody>
      </p:sp>
      <p:sp>
        <p:nvSpPr>
          <p:cNvPr id="25" name="Rectangle 24"/>
          <p:cNvSpPr/>
          <p:nvPr/>
        </p:nvSpPr>
        <p:spPr>
          <a:xfrm>
            <a:off x="777240" y="4014215"/>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1879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18795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014215"/>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AI agent login</a:t>
            </a:r>
          </a:p>
          <a:p>
            <a:pPr algn="l">
              <a:spcAft>
                <a:spcPts val="200"/>
              </a:spcAft>
            </a:pPr>
            <a:r>
              <a:rPr sz="1000" b="1">
                <a:solidFill>
                  <a:srgbClr val="10B981"/>
                </a:solidFill>
                <a:latin typeface="Arial"/>
              </a:rPr>
              <a:t>▸ Integrations &gt; AI providers</a:t>
            </a:r>
          </a:p>
        </p:txBody>
      </p:sp>
      <p:sp>
        <p:nvSpPr>
          <p:cNvPr id="29" name="TextBox 28"/>
          <p:cNvSpPr txBox="1"/>
          <p:nvPr/>
        </p:nvSpPr>
        <p:spPr>
          <a:xfrm>
            <a:off x="4224527" y="4014215"/>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On the Integrations page read the OpenAI Codex and Claude cards.</a:t>
            </a:r>
          </a:p>
        </p:txBody>
      </p:sp>
      <p:sp>
        <p:nvSpPr>
          <p:cNvPr id="30" name="TextBox 29"/>
          <p:cNvSpPr txBox="1"/>
          <p:nvPr/>
        </p:nvSpPr>
        <p:spPr>
          <a:xfrm>
            <a:off x="8065007" y="4014215"/>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brain the desk will use: codex, claude, openai or the rule-based fallback.</a:t>
            </a:r>
          </a:p>
        </p:txBody>
      </p:sp>
      <p:sp>
        <p:nvSpPr>
          <p:cNvPr id="31" name="Rectangle 30"/>
          <p:cNvSpPr/>
          <p:nvPr/>
        </p:nvSpPr>
        <p:spPr>
          <a:xfrm>
            <a:off x="777240" y="4773168"/>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94690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946904"/>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773168"/>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Read the market clock</a:t>
            </a:r>
          </a:p>
          <a:p>
            <a:pPr algn="l">
              <a:spcAft>
                <a:spcPts val="200"/>
              </a:spcAft>
            </a:pPr>
            <a:r>
              <a:rPr sz="1000" b="1">
                <a:solidFill>
                  <a:srgbClr val="10B981"/>
                </a:solidFill>
                <a:latin typeface="Arial"/>
              </a:rPr>
              <a:t>▸ Paper Trading &gt; clock</a:t>
            </a:r>
          </a:p>
        </p:txBody>
      </p:sp>
      <p:sp>
        <p:nvSpPr>
          <p:cNvPr id="35" name="TextBox 34"/>
          <p:cNvSpPr txBox="1"/>
          <p:nvPr/>
        </p:nvSpPr>
        <p:spPr>
          <a:xfrm>
            <a:off x="4224527" y="4773168"/>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Look at the US session badge in the top bar.</a:t>
            </a:r>
          </a:p>
        </p:txBody>
      </p:sp>
      <p:sp>
        <p:nvSpPr>
          <p:cNvPr id="36" name="TextBox 35"/>
          <p:cNvSpPr txBox="1"/>
          <p:nvPr/>
        </p:nvSpPr>
        <p:spPr>
          <a:xfrm>
            <a:off x="8065007" y="4773168"/>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orders placed during class become extended-hours LIMIT orders.</a:t>
            </a:r>
          </a:p>
        </p:txBody>
      </p:sp>
      <p:sp>
        <p:nvSpPr>
          <p:cNvPr id="37" name="Rectangle 36"/>
          <p:cNvSpPr/>
          <p:nvPr/>
        </p:nvSpPr>
        <p:spPr>
          <a:xfrm>
            <a:off x="777240" y="553212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70585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70585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532120"/>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Tour the Pipeline Map</a:t>
            </a:r>
          </a:p>
          <a:p>
            <a:pPr algn="l">
              <a:spcAft>
                <a:spcPts val="200"/>
              </a:spcAft>
            </a:pPr>
            <a:r>
              <a:rPr sz="1000" b="1">
                <a:solidFill>
                  <a:srgbClr val="10B981"/>
                </a:solidFill>
                <a:latin typeface="Arial"/>
              </a:rPr>
              <a:t>▸ Pipeline Map</a:t>
            </a:r>
          </a:p>
        </p:txBody>
      </p:sp>
      <p:sp>
        <p:nvSpPr>
          <p:cNvPr id="41" name="TextBox 40"/>
          <p:cNvSpPr txBox="1"/>
          <p:nvPr/>
        </p:nvSpPr>
        <p:spPr>
          <a:xfrm>
            <a:off x="4224527" y="5532120"/>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the Pipeline Map and hover each of the 14 stages. Click 'Data ingestion' to see its recent activity.</a:t>
            </a:r>
          </a:p>
        </p:txBody>
      </p:sp>
      <p:sp>
        <p:nvSpPr>
          <p:cNvPr id="42" name="TextBox 41"/>
          <p:cNvSpPr txBox="1"/>
          <p:nvPr/>
        </p:nvSpPr>
        <p:spPr>
          <a:xfrm>
            <a:off x="8065007" y="5532120"/>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Data ingestion and Backtesting are green; you can name the stage that enforces the kill switch.</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integrations_16x9.png"/>
          <p:cNvPicPr>
            <a:picLocks noChangeAspect="1"/>
          </p:cNvPicPr>
          <p:nvPr/>
        </p:nvPicPr>
        <p:blipFill>
          <a:blip r:embed="rId2"/>
          <a:stretch>
            <a:fillRect/>
          </a:stretch>
        </p:blipFill>
        <p:spPr>
          <a:xfrm>
            <a:off x="777240" y="2159385"/>
            <a:ext cx="6903720" cy="2950708"/>
          </a:xfrm>
          <a:prstGeom prst="rect">
            <a:avLst/>
          </a:prstGeom>
        </p:spPr>
      </p:pic>
      <p:sp>
        <p:nvSpPr>
          <p:cNvPr id="11" name="Rectangle 10"/>
          <p:cNvSpPr/>
          <p:nvPr/>
        </p:nvSpPr>
        <p:spPr>
          <a:xfrm>
            <a:off x="766267" y="2148413"/>
            <a:ext cx="6925665" cy="29726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54428" y="2542978"/>
            <a:ext cx="5592013" cy="50162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98980" y="24241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98980" y="24241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088946" y="3634739"/>
            <a:ext cx="2761487" cy="64915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33498" y="351586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33498"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088946" y="4549459"/>
            <a:ext cx="2761487" cy="472113"/>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933498" y="44305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33498" y="44305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919471" y="3133119"/>
            <a:ext cx="2726969" cy="109176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64023" y="301424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023" y="3014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057546" y="2218400"/>
            <a:ext cx="2519857" cy="16228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02098" y="209952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02098" y="209952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No keys needed</a:t>
            </a:r>
          </a:p>
          <a:p>
            <a:pPr algn="l">
              <a:spcAft>
                <a:spcPts val="100"/>
              </a:spcAft>
            </a:pPr>
            <a:r>
              <a:rPr sz="1000" b="0">
                <a:solidFill>
                  <a:srgbClr val="161B26"/>
                </a:solidFill>
                <a:latin typeface="Arial"/>
              </a:rPr>
              <a:t>Every lab runs on the offline demo data and the built-in paper broker; keys are optional.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Paste your Alpaca keys</a:t>
            </a:r>
          </a:p>
          <a:p>
            <a:pPr algn="l">
              <a:spcAft>
                <a:spcPts val="100"/>
              </a:spcAft>
            </a:pPr>
            <a:r>
              <a:rPr sz="1000" b="0">
                <a:solidFill>
                  <a:srgbClr val="161B26"/>
                </a:solidFill>
                <a:latin typeface="Arial"/>
              </a:rPr>
              <a:t>Key ID (starts with PK) and Secret from Alpaca &gt; Paper account &gt; API Keys.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Save &amp; test</a:t>
            </a:r>
          </a:p>
          <a:p>
            <a:pPr algn="l">
              <a:spcAft>
                <a:spcPts val="100"/>
              </a:spcAft>
            </a:pPr>
            <a:r>
              <a:rPr sz="1000" b="0">
                <a:solidFill>
                  <a:srgbClr val="161B26"/>
                </a:solidFill>
                <a:latin typeface="Arial"/>
              </a:rPr>
              <a:t>Green 'Paper account ACTIVE' = connected. paper=True is hard-coded: no live trading.</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Optional data sources</a:t>
            </a:r>
          </a:p>
          <a:p>
            <a:pPr algn="l">
              <a:spcAft>
                <a:spcPts val="100"/>
              </a:spcAft>
            </a:pPr>
            <a:r>
              <a:rPr sz="1000" b="0">
                <a:solidFill>
                  <a:srgbClr val="161B26"/>
                </a:solidFill>
                <a:latin typeface="Arial"/>
              </a:rPr>
              <a:t>Twelve Data and the other cards are extras; 'connected' shows the key works.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bar</a:t>
            </a:r>
          </a:p>
          <a:p>
            <a:pPr algn="l">
              <a:spcAft>
                <a:spcPts val="100"/>
              </a:spcAft>
            </a:pPr>
            <a:r>
              <a:rPr sz="1000" b="0">
                <a:solidFill>
                  <a:srgbClr val="161B26"/>
                </a:solidFill>
                <a:latin typeface="Arial"/>
              </a:rPr>
              <a:t>US session and clock, broker (Alpaca paper or Offline demo), AI brain and the kill switch.</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Ready when the status bar shows your broker and every lab page opens - online with Alpaca paper or fully offline.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Prove the app's prices are right: compare its bars with TradingView's Data Window and explain adjusted vs unadjusted prices.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TradingView's Data Window</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RAW and ADJUSTED bars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Repeat for SGX:D05 (DBS)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Inspect the chart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PASS / FAIL validation for SGX:D05 and NASDAQ:AAPL on 2025-12-31, with the dividend-adjustment factor explained.</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TradingView's Data Window</a:t>
            </a:r>
          </a:p>
          <a:p>
            <a:pPr algn="l">
              <a:spcAft>
                <a:spcPts val="200"/>
              </a:spcAft>
            </a:pPr>
            <a:r>
              <a:rPr sz="1000" b="1">
                <a:solidFill>
                  <a:srgbClr val="10B981"/>
                </a:solidFill>
                <a:latin typeface="Arial"/>
              </a:rPr>
              <a:t>▸ Data &gt; Validate vs TradingView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In TradingView open NASDAQ:AAPL, daily timeframe, hover the bar of 2025-12-31 and read open/high/low/close in the Data Window (default settings: dividends NOT adjusted).</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have four numbers from TradingView.</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Compare with RAW and ADJUSTED bars</a:t>
            </a:r>
          </a:p>
          <a:p>
            <a:pPr algn="l">
              <a:spcAft>
                <a:spcPts val="200"/>
              </a:spcAft>
            </a:pPr>
            <a:r>
              <a:rPr sz="1000" b="1">
                <a:solidFill>
                  <a:srgbClr val="10B981"/>
                </a:solidFill>
                <a:latin typeface="Arial"/>
              </a:rPr>
              <a:t>▸ Data &gt; Validate vs TradingView</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Type your TradingView values into the 'Your TradingView reading' row. The app shows the difference against RAW (split-adjusted only) and ADJUSTED (split + dividend) bars.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Verdict 'PASS - TradingView matches RAW' (to within 0.1%).</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Repeat for SGX:D05 (DBS)</a:t>
            </a:r>
          </a:p>
          <a:p>
            <a:pPr algn="l">
              <a:spcAft>
                <a:spcPts val="200"/>
              </a:spcAft>
            </a:pPr>
            <a:r>
              <a:rPr sz="1000" b="1">
                <a:solidFill>
                  <a:srgbClr val="10B981"/>
                </a:solidFill>
                <a:latin typeface="Arial"/>
              </a:rPr>
              <a:t>▸ Data &gt; Validate vs TradingView (D05)</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Select SGX:D05. DBS pays large dividends, so the adjustment factor is far from 1.</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ADJUSTED close is lower than the RAW close and why a model trained on adjusted prices must never be fed raw live prices.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Inspect the chart</a:t>
            </a:r>
          </a:p>
          <a:p>
            <a:pPr algn="l">
              <a:spcAft>
                <a:spcPts val="200"/>
              </a:spcAft>
            </a:pPr>
            <a:r>
              <a:rPr sz="1000" b="1">
                <a:solidFill>
                  <a:srgbClr val="10B981"/>
                </a:solidFill>
                <a:latin typeface="Arial"/>
              </a:rPr>
              <a:t>▸ Data &gt; Chart AAPL</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the AAPL chart and compare its shape with TradingView.</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candles match TradingView's daily chart (allowing for the adjustment).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2_tradingview_valida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931109"/>
            <a:ext cx="1652503" cy="3332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81223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8122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7688" y="3486607"/>
            <a:ext cx="6122822" cy="2036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2240" y="336773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2240"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690289"/>
            <a:ext cx="6122822" cy="18516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57141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57141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1167688" y="3893972"/>
            <a:ext cx="6122822"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2240"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240"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4523536"/>
            <a:ext cx="6122822" cy="25923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44046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44046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Instrument and date</a:t>
            </a:r>
          </a:p>
          <a:p>
            <a:pPr algn="l">
              <a:spcAft>
                <a:spcPts val="100"/>
              </a:spcAft>
            </a:pPr>
            <a:r>
              <a:rPr sz="1000" b="0">
                <a:solidFill>
                  <a:srgbClr val="161B26"/>
                </a:solidFill>
                <a:latin typeface="Arial"/>
              </a:rPr>
              <a:t>SGX:D05 (DBS) or NASDAQ:AAPL on 31/12/2025 - the bar you read in TradingView.</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RAW bars</a:t>
            </a:r>
          </a:p>
          <a:p>
            <a:pPr algn="l">
              <a:spcAft>
                <a:spcPts val="100"/>
              </a:spcAft>
            </a:pPr>
            <a:r>
              <a:rPr sz="1000" b="0">
                <a:solidFill>
                  <a:srgbClr val="161B26"/>
                </a:solidFill>
                <a:latin typeface="Arial"/>
              </a:rPr>
              <a:t>Split-adjusted only, the TradingView default. Your reading should match this row.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ADJUSTED bars</a:t>
            </a:r>
          </a:p>
          <a:p>
            <a:pPr algn="l">
              <a:spcAft>
                <a:spcPts val="100"/>
              </a:spcAft>
            </a:pPr>
            <a:r>
              <a:rPr sz="1000" b="0">
                <a:solidFill>
                  <a:srgbClr val="161B26"/>
                </a:solidFill>
                <a:latin typeface="Arial"/>
              </a:rPr>
              <a:t>Split + dividend adjusted, used by research and backtests - lower than RAW for DBS.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Your TradingView reading</a:t>
            </a:r>
          </a:p>
          <a:p>
            <a:pPr algn="l">
              <a:spcAft>
                <a:spcPts val="100"/>
              </a:spcAft>
            </a:pPr>
            <a:r>
              <a:rPr sz="1000" b="0">
                <a:solidFill>
                  <a:srgbClr val="161B26"/>
                </a:solidFill>
                <a:latin typeface="Arial"/>
              </a:rPr>
              <a:t>Type the four prices; the diff rows show the gap. Within 0.1% of RAW = PASS.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Adjustment factor</a:t>
            </a:r>
          </a:p>
          <a:p>
            <a:pPr algn="l">
              <a:spcAft>
                <a:spcPts val="100"/>
              </a:spcAft>
            </a:pPr>
            <a:r>
              <a:rPr sz="1000" b="0">
                <a:solidFill>
                  <a:srgbClr val="161B26"/>
                </a:solidFill>
                <a:latin typeface="Arial"/>
              </a:rPr>
              <a:t>0.962 for DBS: dividends shrink its history by about 4%.</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 when TradingView matches RAW. Never feed raw live prices to a model trained on adjusted prices.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Ingest bars from Alpaca / Twelve Data / yfinance (or the demo files), run the data-quality checks and score news sentiment.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Fetch data</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data-quality report</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Switch timeframes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Headlines and sentiment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cached universe, a data-quality report and scored headlines with daily sentiment.</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Fetch data</a:t>
            </a:r>
          </a:p>
          <a:p>
            <a:pPr algn="l">
              <a:spcAft>
                <a:spcPts val="200"/>
              </a:spcAft>
            </a:pPr>
            <a:r>
              <a:rPr sz="1000" b="1">
                <a:solidFill>
                  <a:srgbClr val="10B981"/>
                </a:solidFill>
                <a:latin typeface="Arial"/>
              </a:rPr>
              <a:t>▸ Data &gt; Fetch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Instruments &amp; ingestion: fetch AAPL with source 'auto' (Alpaca if keys, else the demo file). Online, try 'yfinance' or 'Twelve Data' too (Twelve Data needs TWELVEDATA_API_KEY).</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 toast reports the number of bars, the source and the quality status.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the data-quality report</a:t>
            </a:r>
          </a:p>
          <a:p>
            <a:pPr algn="l">
              <a:spcAft>
                <a:spcPts val="200"/>
              </a:spcAft>
            </a:pPr>
            <a:r>
              <a:rPr sz="1000" b="1">
                <a:solidFill>
                  <a:srgbClr val="10B981"/>
                </a:solidFill>
                <a:latin typeface="Arial"/>
              </a:rPr>
              <a:t>▸ Data &gt; Quality SPY</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Data quality for SPY. Look at missing values, duplicate timestamps, gaps over 4 days and big moves (possible unadjusted splits).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Status OK or CHECK; the big-move dates include March 2020.</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Switch timeframes</a:t>
            </a:r>
          </a:p>
          <a:p>
            <a:pPr algn="l">
              <a:spcAft>
                <a:spcPts val="200"/>
              </a:spcAft>
            </a:pPr>
            <a:r>
              <a:rPr sz="1000" b="1">
                <a:solidFill>
                  <a:srgbClr val="10B981"/>
                </a:solidFill>
                <a:latin typeface="Arial"/>
              </a:rPr>
              <a:t>▸ Data &gt; Chart SPY weekly</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chart, switch SPY between 1Day, 1Week, 1Month and 1Hour.</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Weekly and monthly bars are resampled from daily bars; hourly bars are US/Eastern.</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Headlines and sentiment</a:t>
            </a:r>
          </a:p>
          <a:p>
            <a:pPr algn="l">
              <a:spcAft>
                <a:spcPts val="200"/>
              </a:spcAft>
            </a:pPr>
            <a:r>
              <a:rPr sz="1000" b="1">
                <a:solidFill>
                  <a:srgbClr val="10B981"/>
                </a:solidFill>
                <a:latin typeface="Arial"/>
              </a:rPr>
              <a:t>▸ Data &gt; News NVDA</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News &amp; sentiment for NVDA: press 'Fetch &amp; score headlines'. Online with NEWSAPI_KEY it calls NewsAPI.org. otherwise Alpaca News or the synthetic sample headlines.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headline has a VADER score between -1 and +1; the daily sentiment chart appears.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3_data_inges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634843"/>
            <a:ext cx="961217" cy="2962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51597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51597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1105" y="2986659"/>
            <a:ext cx="3133831"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657" y="286778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657"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208858"/>
            <a:ext cx="4575657" cy="6665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08998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776264" y="3542157"/>
            <a:ext cx="1514246" cy="33329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20816" y="3423285"/>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0816" y="34232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3931005"/>
            <a:ext cx="371977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381213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381213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and timeframe</a:t>
            </a:r>
          </a:p>
          <a:p>
            <a:pPr algn="l">
              <a:spcAft>
                <a:spcPts val="100"/>
              </a:spcAft>
            </a:pPr>
            <a:r>
              <a:rPr sz="1000" b="0">
                <a:solidFill>
                  <a:srgbClr val="161B26"/>
                </a:solidFill>
                <a:latin typeface="Arial"/>
              </a:rPr>
              <a:t>SPY, 1Day. Weekly and monthly bars are resampled from the daily bars.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Overall status</a:t>
            </a:r>
          </a:p>
          <a:p>
            <a:pPr algn="l">
              <a:spcAft>
                <a:spcPts val="100"/>
              </a:spcAft>
            </a:pPr>
            <a:r>
              <a:rPr sz="1000" b="0">
                <a:solidFill>
                  <a:srgbClr val="161B26"/>
                </a:solidFill>
                <a:latin typeface="Arial"/>
              </a:rPr>
              <a:t>CHECK: 2,011 bars, 2018-01-02 to 2025-12-31 - usable, but something needs a look.</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Seven integrity checks</a:t>
            </a:r>
          </a:p>
          <a:p>
            <a:pPr algn="l">
              <a:spcAft>
                <a:spcPts val="100"/>
              </a:spcAft>
            </a:pPr>
            <a:r>
              <a:rPr sz="1000" b="0">
                <a:solidFill>
                  <a:srgbClr val="161B26"/>
                </a:solidFill>
                <a:latin typeface="Arial"/>
              </a:rPr>
              <a:t>Missing, duplicate, unsorted, high &lt; low, close outside range, zero volume, gaps: all 0.</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Big moves: 5</a:t>
            </a:r>
          </a:p>
          <a:p>
            <a:pPr algn="l">
              <a:spcAft>
                <a:spcPts val="100"/>
              </a:spcAft>
            </a:pPr>
            <a:r>
              <a:rPr sz="1000" b="0">
                <a:solidFill>
                  <a:srgbClr val="161B26"/>
                </a:solidFill>
                <a:latin typeface="Arial"/>
              </a:rPr>
              <a:t>Days beyond the threshold - real news, or an unadjusted split?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Explain each big move</a:t>
            </a:r>
          </a:p>
          <a:p>
            <a:pPr algn="l">
              <a:spcAft>
                <a:spcPts val="100"/>
              </a:spcAft>
            </a:pPr>
            <a:r>
              <a:rPr sz="1000" b="0">
                <a:solidFill>
                  <a:srgbClr val="161B26"/>
                </a:solidFill>
                <a:latin typeface="Arial"/>
              </a:rPr>
              <a:t>March 2020 (COVID crash) and 2025-04-09 (tariff-pause rally); no split ratios found.</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CHECK is not FAIL: every flagged date has a real-world cause, so the data are fit for research.</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H0 and H1 before looking at results and test them with a Welch t-test and a bootstrap CI.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Write the hypothesis card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Robustness and multiple testing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decision (SUPPORTED / NOT SUPPORTED) with p-value, edge in bps and a robustness grid.</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Write the hypothesis card</a:t>
            </a:r>
          </a:p>
          <a:p>
            <a:pPr algn="l">
              <a:spcAft>
                <a:spcPts val="200"/>
              </a:spcAft>
            </a:pPr>
            <a:r>
              <a:rPr sz="1000" b="1">
                <a:solidFill>
                  <a:srgbClr val="10B981"/>
                </a:solidFill>
                <a:latin typeface="Arial"/>
              </a:rPr>
              <a:t>▸ Research &gt; Hypothesis (SPY, losing streak 3)</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Hypothesis test. Keep signal 'losing streak' n = 3, horizon 1 day, alpha 0.05, min edge 3 bps. Read the H1 and H0 text.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H0 and H1 are written before you press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test</a:t>
            </a:r>
          </a:p>
          <a:p>
            <a:pPr algn="l">
              <a:spcAft>
                <a:spcPts val="200"/>
              </a:spcAft>
            </a:pPr>
            <a:r>
              <a:rPr sz="1000" b="1">
                <a:solidFill>
                  <a:srgbClr val="10B981"/>
                </a:solidFill>
                <a:latin typeface="Arial"/>
              </a:rPr>
              <a:t>▸ Research &gt; Hypothesis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the test'.</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read the signal-day mean, the other-day mean, Welch t and p, and the 95% bootstrap CI.</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Robustness and multiple testing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Read the robustness grid (other streak lengths and QQQ) and the Bonferroni alpha.</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trying many variants inflates false positives.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4_hypothesi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23744"/>
            <a:ext cx="1514246" cy="296265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048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048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8147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81935" y="3486607"/>
            <a:ext cx="4707331" cy="35181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6487" y="336773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6487"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81935" y="3893972"/>
            <a:ext cx="4707331"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6487"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6487"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81935" y="4412437"/>
            <a:ext cx="4707331"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26487"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6487"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Hypothesis card</a:t>
            </a:r>
          </a:p>
          <a:p>
            <a:pPr algn="l">
              <a:spcAft>
                <a:spcPts val="100"/>
              </a:spcAft>
            </a:pPr>
            <a:r>
              <a:rPr sz="1000" b="0">
                <a:solidFill>
                  <a:srgbClr val="161B26"/>
                </a:solidFill>
                <a:latin typeface="Arial"/>
              </a:rPr>
              <a:t>SPY, losing streak n = 3, 1-day horizon, alpha 0.05, min edge 3 bps. Write H0 and H1 first.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H1, H0 and the decision</a:t>
            </a:r>
          </a:p>
          <a:p>
            <a:pPr algn="l">
              <a:spcAft>
                <a:spcPts val="100"/>
              </a:spcAft>
            </a:pPr>
            <a:r>
              <a:rPr sz="1000" b="0">
                <a:solidFill>
                  <a:srgbClr val="161B26"/>
                </a:solidFill>
                <a:latin typeface="Arial"/>
              </a:rPr>
              <a:t>SUPPORTED - reject H0: signal days beat the other days.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The edge</a:t>
            </a:r>
          </a:p>
          <a:p>
            <a:pPr algn="l">
              <a:spcAft>
                <a:spcPts val="100"/>
              </a:spcAft>
            </a:pPr>
            <a:r>
              <a:rPr sz="1000" b="0">
                <a:solidFill>
                  <a:srgbClr val="161B26"/>
                </a:solidFill>
                <a:latin typeface="Arial"/>
              </a:rPr>
              <a:t>178 signal days return 0.283% vs 0.038%: a 24.4 bps edge, above the 3 bps minimum.</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Is it real?</a:t>
            </a:r>
          </a:p>
          <a:p>
            <a:pPr algn="l">
              <a:spcAft>
                <a:spcPts val="100"/>
              </a:spcAft>
            </a:pPr>
            <a:r>
              <a:rPr sz="1000" b="0">
                <a:solidFill>
                  <a:srgbClr val="161B26"/>
                </a:solidFill>
                <a:latin typeface="Arial"/>
              </a:rPr>
              <a:t>Welch p 0.044 &lt; 0.05 and the bootstrap CI excludes 0. Stricter bar: Bonferroni alpha 0.0083.</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Descriptive statistics</a:t>
            </a:r>
          </a:p>
          <a:p>
            <a:pPr algn="l">
              <a:spcAft>
                <a:spcPts val="100"/>
              </a:spcAft>
            </a:pPr>
            <a:r>
              <a:rPr sz="1000" b="0">
                <a:solidFill>
                  <a:srgbClr val="161B26"/>
                </a:solidFill>
                <a:latin typeface="Arial"/>
              </a:rPr>
              <a:t>Signal days are more volatile (1.56% std) and skewed - one reason to bootstrap.</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Passes at alpha 0.05 but not at the Bonferroni 0.0083: promote it as a candidate and keep testing (Labs 10, 13, 18).</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1   ·   Labs 5–9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the API - in this course the Trading Simulator does it for you</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the Trading Simulator runs the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code - in this course the Trading Simulator has built-in logistic regression, random forest and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Paper Trading &gt; Order ticket</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 New bot &gt; Start</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Paste the exported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the Trading Simulator.</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Plot SMA/EMA, Bollinger Bands, RSI and MACD and export a Pine Script v6 strategy for TradingView.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Overlay trend indicators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Oscillators</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Pine Script v6</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chart with overlays and an oscillator pane, and a Pine Script pasted into TradingView whose values match.</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Overlay trend indicators</a:t>
            </a:r>
          </a:p>
          <a:p>
            <a:pPr algn="l">
              <a:spcAft>
                <a:spcPts val="200"/>
              </a:spcAft>
            </a:pPr>
            <a:r>
              <a:rPr sz="1000" b="1">
                <a:solidFill>
                  <a:srgbClr val="10B981"/>
                </a:solidFill>
                <a:latin typeface="Arial"/>
              </a:rPr>
              <a:t>▸ Data &gt; Chart SPY with SMA 50/200 and Bollinger</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Data &gt; Chart for SPY: toggle sma:50, sma:200, ema:20 and bollinger.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Lines draw over the candles (TradingView Lightweight Charts).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Oscillators</a:t>
            </a:r>
          </a:p>
          <a:p>
            <a:pPr algn="l">
              <a:spcAft>
                <a:spcPts val="200"/>
              </a:spcAft>
            </a:pPr>
            <a:r>
              <a:rPr sz="1000" b="1">
                <a:solidFill>
                  <a:srgbClr val="10B981"/>
                </a:solidFill>
                <a:latin typeface="Arial"/>
              </a:rPr>
              <a:t>▸ Data &gt; Chart SPY MACD</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Switch the lower pane between RSI(14) and MACD.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RSI has 30/70 guide lines; the MACD histogram changes colour above and below 0.</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Pine Script v6</a:t>
            </a:r>
          </a:p>
          <a:p>
            <a:pPr algn="l">
              <a:spcAft>
                <a:spcPts val="200"/>
              </a:spcAft>
            </a:pPr>
            <a:r>
              <a:rPr sz="1000" b="1">
                <a:solidFill>
                  <a:srgbClr val="10B981"/>
                </a:solidFill>
                <a:latin typeface="Arial"/>
              </a:rPr>
              <a:t>▸ Strategies &gt; EMA crossover</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Strategy Library &gt; EMA crossover &gt; Pine Script v6 &gt; Copy. In TradingView open the Pine Editor, paste, 'Add to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TradingView shows the two EMAs; their last values match the app's chart.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5_indicators_pin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782976"/>
            <a:ext cx="1850014" cy="31478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66410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044037" y="2616327"/>
            <a:ext cx="2304288" cy="48143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88589" y="249745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8589" y="249745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6401714" y="3560673"/>
            <a:ext cx="855878" cy="5925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46266" y="344180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6266" y="344180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809183" y="2782976"/>
            <a:ext cx="625449" cy="314782"/>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53735" y="266410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53735"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6467551" y="2857042"/>
            <a:ext cx="822959" cy="24071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12103" y="273817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2103"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timeframe, from</a:t>
            </a:r>
          </a:p>
          <a:p>
            <a:pPr algn="l">
              <a:spcAft>
                <a:spcPts val="100"/>
              </a:spcAft>
            </a:pPr>
            <a:r>
              <a:rPr sz="1000" b="0">
                <a:solidFill>
                  <a:srgbClr val="161B26"/>
                </a:solidFill>
                <a:latin typeface="Arial"/>
              </a:rPr>
              <a:t>SPY, 1Day, from 01/01/2024.</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Price overlays</a:t>
            </a:r>
          </a:p>
          <a:p>
            <a:pPr algn="l">
              <a:spcAft>
                <a:spcPts val="100"/>
              </a:spcAft>
            </a:pPr>
            <a:r>
              <a:rPr sz="1000" b="0">
                <a:solidFill>
                  <a:srgbClr val="161B26"/>
                </a:solidFill>
                <a:latin typeface="Arial"/>
              </a:rPr>
              <a:t>Toggle sma:50, sma:200, ema:20 and bollinger; dark buttons are switched on.</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Line labels</a:t>
            </a:r>
          </a:p>
          <a:p>
            <a:pPr algn="l">
              <a:spcAft>
                <a:spcPts val="100"/>
              </a:spcAft>
            </a:pPr>
            <a:r>
              <a:rPr sz="1000" b="0">
                <a:solidFill>
                  <a:srgbClr val="161B26"/>
                </a:solidFill>
                <a:latin typeface="Arial"/>
              </a:rPr>
              <a:t>Each overlay's latest value; the Bollinger upper, middle and lower bands wrap the price.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Lower pane</a:t>
            </a:r>
          </a:p>
          <a:p>
            <a:pPr algn="l">
              <a:spcAft>
                <a:spcPts val="100"/>
              </a:spcAft>
            </a:pPr>
            <a:r>
              <a:rPr sz="1000" b="0">
                <a:solidFill>
                  <a:srgbClr val="161B26"/>
                </a:solidFill>
                <a:latin typeface="Arial"/>
              </a:rPr>
              <a:t>RSI(14) with 30/70 guide lines, or MACD with its histogram above and below 0.</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Export Pine Script</a:t>
            </a:r>
          </a:p>
          <a:p>
            <a:pPr algn="l">
              <a:spcAft>
                <a:spcPts val="100"/>
              </a:spcAft>
            </a:pPr>
            <a:r>
              <a:rPr sz="1000" b="0">
                <a:solidFill>
                  <a:srgbClr val="161B26"/>
                </a:solidFill>
                <a:latin typeface="Arial"/>
              </a:rPr>
              <a:t>Copy the v6 script, paste it into TradingView's Pine Editor and press 'Add to chart'.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indicators agree when TradingView's last EMA and SMA values equal the app's line labels.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MA-crossover in TradingView's Strategy Tester and in the app, reconcile the results, and try TradingView Paper Trading.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SMA 50/200 crossover in the app</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it in TradingView</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Reconcile and paper trade on TradingView</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Trade counts and net profit that agree within the expected differences (fills, costs, data).</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SMA 50/200 crossover in the app</a:t>
            </a:r>
          </a:p>
          <a:p>
            <a:pPr algn="l">
              <a:spcAft>
                <a:spcPts val="200"/>
              </a:spcAft>
            </a:pPr>
            <a:r>
              <a:rPr sz="1000" b="1">
                <a:solidFill>
                  <a:srgbClr val="10B981"/>
                </a:solidFill>
                <a:latin typeface="Arial"/>
              </a:rPr>
              <a:t>▸ Backtest SPY SMA 50/200, Alpaca costs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preset backtest: SMA crossover 50/200 on SPY, Alpaca-style costs, next-bar-open fills.</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5 round trips 2018-2025; note the net CAGR and Sharpe.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it in TradingView</a:t>
            </a:r>
          </a:p>
          <a:p>
            <a:pPr algn="l">
              <a:spcAft>
                <a:spcPts val="200"/>
              </a:spcAft>
            </a:pPr>
            <a:r>
              <a:rPr sz="1000" b="1">
                <a:solidFill>
                  <a:srgbClr val="10B981"/>
                </a:solidFill>
                <a:latin typeface="Arial"/>
              </a:rPr>
              <a:t>▸ Strategies &gt; SMA crossover &gt; Pine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Export the SMA crossover Pine Script and add it to an AMEX:SPY daily chart. Open the Strategy Tester.</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Strategy Tester list of trades has the same entry dates (TradingView also fills on the next bar's open).</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Reconcile and paper trade on TradingView</a:t>
            </a:r>
          </a:p>
          <a:p>
            <a:pPr algn="l">
              <a:spcAft>
                <a:spcPts val="200"/>
              </a:spcAft>
            </a:pPr>
            <a:r>
              <a:rPr sz="1000" b="1">
                <a:solidFill>
                  <a:srgbClr val="10B981"/>
                </a:solidFill>
                <a:latin typeface="Arial"/>
              </a:rPr>
              <a:t>▸ Backtest</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Explain any differences (adjusted vs raw data, commission per order, slippage ticks). Optionally connect TradingView Paper Trading and place one order from the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list at least two reasons the two backtests differ.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6_strategy_tester_reconcil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857042"/>
            <a:ext cx="4720498" cy="55549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738170"/>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68767" y="3468090"/>
            <a:ext cx="4720498"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13319" y="334921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3319" y="334921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412437"/>
            <a:ext cx="4720498" cy="107396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 and parameters</a:t>
            </a:r>
          </a:p>
          <a:p>
            <a:pPr algn="l">
              <a:spcAft>
                <a:spcPts val="100"/>
              </a:spcAft>
            </a:pPr>
            <a:r>
              <a:rPr sz="1000" b="0">
                <a:solidFill>
                  <a:srgbClr val="161B26"/>
                </a:solidFill>
                <a:latin typeface="Arial"/>
              </a:rPr>
              <a:t>SMA crossover on SPY, fast 50 / slow 200 - the golden / death cross.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Costs and execution</a:t>
            </a:r>
          </a:p>
          <a:p>
            <a:pPr algn="l">
              <a:spcAft>
                <a:spcPts val="100"/>
              </a:spcAft>
            </a:pPr>
            <a:r>
              <a:rPr sz="1000" b="0">
                <a:solidFill>
                  <a:srgbClr val="161B26"/>
                </a:solidFill>
                <a:latin typeface="Arial"/>
              </a:rPr>
              <a:t>Alpaca commission-free costs; fills at the next bar's open, as in TradingView.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Strategy vs buy-and-hold</a:t>
            </a:r>
          </a:p>
          <a:p>
            <a:pPr algn="l">
              <a:spcAft>
                <a:spcPts val="100"/>
              </a:spcAft>
            </a:pPr>
            <a:r>
              <a:rPr sz="1000" b="0">
                <a:solidFill>
                  <a:srgbClr val="161B26"/>
                </a:solidFill>
                <a:latin typeface="Arial"/>
              </a:rPr>
              <a:t>B&amp;H sits under each tile: CAGR 7.62% vs 14.14%, Sharpe 0.55 vs 0.78.</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Only 5 trades; break-even cost 500 bps - costs barely matter for a slow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Equity curve</a:t>
            </a:r>
          </a:p>
          <a:p>
            <a:pPr algn="l">
              <a:spcAft>
                <a:spcPts val="100"/>
              </a:spcAft>
            </a:pPr>
            <a:r>
              <a:rPr sz="1000" b="0">
                <a:solidFill>
                  <a:srgbClr val="161B26"/>
                </a:solidFill>
                <a:latin typeface="Arial"/>
              </a:rPr>
              <a:t>Net, gross and SPY. Compare the entry dates with TradingView's List of Trades.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Reconciled when the trade dates agree; explain any gap by adjusted vs raw data, commission and slippage.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Pick and customise one strategy from each family and compare them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Trend: EMA 20/50 on SPY</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Mean reversion: Bollinger on KO</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Momentum and breakout</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each strategy's explanation</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Four backtests with tuned parameters and an explanation of when each family works.</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Trend: EMA 20/50 on SPY</a:t>
            </a:r>
          </a:p>
          <a:p>
            <a:pPr algn="l">
              <a:spcAft>
                <a:spcPts val="200"/>
              </a:spcAft>
            </a:pPr>
            <a:r>
              <a:rPr sz="1000" b="1">
                <a:solidFill>
                  <a:srgbClr val="10B981"/>
                </a:solidFill>
                <a:latin typeface="Arial"/>
              </a:rPr>
              <a:t>▸ Backtest SPY EMA 20/50, Alpaca costs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the preset.</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Note Sharpe and max drawdown vs buy-and-hold.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Mean reversion: Bollinger on KO</a:t>
            </a:r>
          </a:p>
          <a:p>
            <a:pPr algn="l">
              <a:spcAft>
                <a:spcPts val="200"/>
              </a:spcAft>
            </a:pPr>
            <a:r>
              <a:rPr sz="1000" b="1">
                <a:solidFill>
                  <a:srgbClr val="10B981"/>
                </a:solidFill>
                <a:latin typeface="Arial"/>
              </a:rPr>
              <a:t>▸ Backtest KO Bollinger 20/2</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Bollinger Band mean reversion on KO (window 20, k 2.0), then change k to 1.5 and run it again. Set Benchmark to KO so the buy-and-hold figures under each metric are KO's, not SPY's.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Win rate is high, but losses are larger than wins - 'many small wins, rare big losses'.</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Momentum and breakout</a:t>
            </a:r>
          </a:p>
          <a:p>
            <a:pPr algn="l">
              <a:spcAft>
                <a:spcPts val="200"/>
              </a:spcAft>
            </a:pPr>
            <a:r>
              <a:rPr sz="1000" b="1">
                <a:solidFill>
                  <a:srgbClr val="10B981"/>
                </a:solidFill>
                <a:latin typeface="Arial"/>
              </a:rPr>
              <a:t>▸ Backtest QQQ Donchian 20/10</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Backtest page choose Time-series momentum, look-back 126, symbol QQQ, Benchmark QQQ, and run it. Then run the Donchian breakout on QQQ (entry 20, exit 10).</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Open the 'Price &amp; trades' tab: buy arrows follow 20-day highs.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each strategy's explanation</a:t>
            </a:r>
          </a:p>
          <a:p>
            <a:pPr algn="l">
              <a:spcAft>
                <a:spcPts val="200"/>
              </a:spcAft>
            </a:pPr>
            <a:r>
              <a:rPr sz="1000" b="1">
                <a:solidFill>
                  <a:srgbClr val="10B981"/>
                </a:solidFill>
                <a:latin typeface="Arial"/>
              </a:rPr>
              <a:t>▸ Strategy Library</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Strategy Library: open each card and read How it works / Rule / Works best when / Watch out for.</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family suits a trending market and which a range-bound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_strategy_library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3423513" cy="77769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3264408"/>
            <a:ext cx="3423513" cy="222199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314553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4591202" y="2690393"/>
            <a:ext cx="2830982" cy="9258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35754" y="257152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5754" y="257152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591202" y="3634739"/>
            <a:ext cx="2830982"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35754" y="351586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5754"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591202" y="4616119"/>
            <a:ext cx="2830982" cy="685114"/>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35754" y="449724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5754" y="4497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Search and filter</a:t>
            </a:r>
          </a:p>
          <a:p>
            <a:pPr algn="l">
              <a:spcAft>
                <a:spcPts val="100"/>
              </a:spcAft>
            </a:pPr>
            <a:r>
              <a:rPr sz="1000" b="0">
                <a:solidFill>
                  <a:srgbClr val="161B26"/>
                </a:solidFill>
                <a:latin typeface="Arial"/>
              </a:rPr>
              <a:t>Find a strategy by name or by purpose; 26 strategies in the library.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Strategy cards</a:t>
            </a:r>
          </a:p>
          <a:p>
            <a:pPr algn="l">
              <a:spcAft>
                <a:spcPts val="100"/>
              </a:spcAft>
            </a:pPr>
            <a:r>
              <a:rPr sz="1000" b="0">
                <a:solidFill>
                  <a:srgbClr val="161B26"/>
                </a:solidFill>
                <a:latin typeface="Arial"/>
              </a:rPr>
              <a:t>Trend, mean reversion, momentum, breakout - click a card to open it.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it works and the rule</a:t>
            </a:r>
          </a:p>
          <a:p>
            <a:pPr algn="l">
              <a:spcAft>
                <a:spcPts val="100"/>
              </a:spcAft>
            </a:pPr>
            <a:r>
              <a:rPr sz="1000" b="0">
                <a:solidFill>
                  <a:srgbClr val="161B26"/>
                </a:solidFill>
                <a:latin typeface="Arial"/>
              </a:rPr>
              <a:t>Bollinger: buy a close below the lower band, exit back at the middle band.</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When it works / watch out</a:t>
            </a:r>
          </a:p>
          <a:p>
            <a:pPr algn="l">
              <a:spcAft>
                <a:spcPts val="100"/>
              </a:spcAft>
            </a:pPr>
            <a:r>
              <a:rPr sz="1000" b="0">
                <a:solidFill>
                  <a:srgbClr val="161B26"/>
                </a:solidFill>
                <a:latin typeface="Arial"/>
              </a:rPr>
              <a:t>Range-bound stocks such as KO; strong trends keep 'stretching' - add a stop.</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Parameters</a:t>
            </a:r>
          </a:p>
          <a:p>
            <a:pPr algn="l">
              <a:spcAft>
                <a:spcPts val="100"/>
              </a:spcAft>
            </a:pPr>
            <a:r>
              <a:rPr sz="1000" b="0">
                <a:solidFill>
                  <a:srgbClr val="161B26"/>
                </a:solidFill>
                <a:latin typeface="Arial"/>
              </a:rPr>
              <a:t>window 20 and k 2 with their ranges - the values you change in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Trend and breakout suit trending markets, mean reversion suits range-bound ones - compare all four after costs.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Place market, limit, stop and bracket paper orders, including an extended-hours limit order, and follow each order's lifecycle.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Market order in the regular session</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Extended-hours limit order (Singapore class hours)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Bracket order</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Queue while closed and cancel</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blotter with filled, working, queued and cancelled orders and the risk checks for each.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Market order in the regular session</a:t>
            </a:r>
          </a:p>
          <a:p>
            <a:pPr algn="l">
              <a:spcAft>
                <a:spcPts val="200"/>
              </a:spcAft>
            </a:pPr>
            <a:r>
              <a:rPr sz="1000" b="1">
                <a:solidFill>
                  <a:srgbClr val="10B981"/>
                </a:solidFill>
                <a:latin typeface="Arial"/>
              </a:rPr>
              <a:t>▸ Paper Trading &gt; Order ticket</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Paper Trading &gt; Order ticket, fill in the fields below and press Send paper order. A market order buys straight away at the current price; it is accepted in the regular session.</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Result panel shows ACCEPTED - all checks passed, 'BUY 10 SPY MARKET DAY -&gt; filled', and each risk check (kill_switch, duplicate, session, allow_list, long_only, daily_loss.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Extended-hours limit order (Singapore class hours)</a:t>
            </a:r>
          </a:p>
          <a:p>
            <a:pPr algn="l">
              <a:spcAft>
                <a:spcPts val="200"/>
              </a:spcAft>
            </a:pPr>
            <a:r>
              <a:rPr sz="1000" b="1">
                <a:solidFill>
                  <a:srgbClr val="10B981"/>
                </a:solidFill>
                <a:latin typeface="Arial"/>
              </a:rPr>
              <a:t>▸ same page</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Keep the Step 1 ticket and change only the fields below, then press Send paper order.</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First send: ACCEPTED, 'BUY 10 SPY LIMIT DAY extended_hours limit &lt;price&gt; -&gt; filled'. the Orders tab shows 'limit day ext-hrs', session overnight.</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Bracket order</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A bracket order is an entry plus two automatic exits: a take-profit (a sell limit above the price, to lock in a gain) and a stop-loss (a sell stop below it, to cap a loss).</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Orders tab: the parent 'buy 5 SPY market day bracket' is filled, and two sell legs appear with status new - 'limit gtc bracket (leg)' at the take-profit and 'stop gtc bracket (leg)' at the.</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Queue while closed and cancel</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Session (sim) = closed pretends the US market is shut (weekends and US holidays).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Result: ACCEPTED, 'BUY 10 SPY LIMIT GTC limit &lt;price&gt; -&gt; accepted', and the session check reads 'market closed - GTC limit order will queue for the next session'.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8_paper_order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94076"/>
            <a:ext cx="1843430"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7520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752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1105" y="3264408"/>
            <a:ext cx="6129406" cy="3703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657" y="314553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657"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031589" y="3893972"/>
            <a:ext cx="855878" cy="159242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7614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7614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81244" y="3893972"/>
            <a:ext cx="1152143" cy="159242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225796" y="377510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25796"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banner</a:t>
            </a:r>
          </a:p>
          <a:p>
            <a:pPr algn="l">
              <a:spcAft>
                <a:spcPts val="100"/>
              </a:spcAft>
            </a:pPr>
            <a:r>
              <a:rPr sz="1000" b="0">
                <a:solidFill>
                  <a:srgbClr val="161B26"/>
                </a:solidFill>
                <a:latin typeface="Arial"/>
              </a:rPr>
              <a:t>New York vs Singapore time and the US session - it decides which orders are accepted.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Tabs</a:t>
            </a:r>
          </a:p>
          <a:p>
            <a:pPr algn="l">
              <a:spcAft>
                <a:spcPts val="100"/>
              </a:spcAft>
            </a:pPr>
            <a:r>
              <a:rPr sz="1000" b="0">
                <a:solidFill>
                  <a:srgbClr val="161B26"/>
                </a:solidFill>
                <a:latin typeface="Arial"/>
              </a:rPr>
              <a:t>Order ticket to send, Orders for the blotter, then Positions and Bots.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Order lifecycle filter</a:t>
            </a:r>
          </a:p>
          <a:p>
            <a:pPr algn="l">
              <a:spcAft>
                <a:spcPts val="100"/>
              </a:spcAft>
            </a:pPr>
            <a:r>
              <a:rPr sz="1000" b="0">
                <a:solidFill>
                  <a:srgbClr val="161B26"/>
                </a:solidFill>
                <a:latin typeface="Arial"/>
              </a:rPr>
              <a:t>Show all orders, or only the filled, working, queued or cancelled ones.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Type / TIF</a:t>
            </a:r>
          </a:p>
          <a:p>
            <a:pPr algn="l">
              <a:spcAft>
                <a:spcPts val="100"/>
              </a:spcAft>
            </a:pPr>
            <a:r>
              <a:rPr sz="1000" b="0">
                <a:solidFill>
                  <a:srgbClr val="161B26"/>
                </a:solidFill>
                <a:latin typeface="Arial"/>
              </a:rPr>
              <a:t>market day, limit day ext-hrs, limit gtc, bracket legs - what you sent.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fill and session</a:t>
            </a:r>
          </a:p>
          <a:p>
            <a:pPr algn="l">
              <a:spcAft>
                <a:spcPts val="100"/>
              </a:spcAft>
            </a:pPr>
            <a:r>
              <a:rPr sz="1000" b="0">
                <a:solidFill>
                  <a:srgbClr val="161B26"/>
                </a:solidFill>
                <a:latin typeface="Arial"/>
              </a:rPr>
              <a:t>filled, accepted or canceled; click a status badge to see the order's lifecycle.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Every order lists the risk checks it passed. Overnight, only LIMIT orders with extended hours are accepted.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time in force day, default paper account. For Step 1 set Type = market and Session (sim) = regular; the banner shows the live session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the full metrics table and compare a strategy with buy-and-hold.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Open the analytics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buy-and-hold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Glossary</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metrics table you can explain line by line.</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Open the analytics</a:t>
            </a:r>
          </a:p>
          <a:p>
            <a:pPr algn="l">
              <a:spcAft>
                <a:spcPts val="200"/>
              </a:spcAft>
            </a:pPr>
            <a:r>
              <a:rPr sz="1000" b="1">
                <a:solidFill>
                  <a:srgbClr val="10B981"/>
                </a:solidFill>
                <a:latin typeface="Arial"/>
              </a:rPr>
              <a:t>▸ Analytics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choose the EMA 10/30 seeded backtest. Hover every metric for its formula.</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define Sharpe, Sortino, Calmar, max drawdown, profit factor, expectancy, exposure and turnover.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Compare with buy-and-hold</a:t>
            </a:r>
          </a:p>
          <a:p>
            <a:pPr algn="l">
              <a:spcAft>
                <a:spcPts val="200"/>
              </a:spcAft>
            </a:pPr>
            <a:r>
              <a:rPr sz="1000" b="1">
                <a:solidFill>
                  <a:srgbClr val="10B981"/>
                </a:solidFill>
                <a:latin typeface="Arial"/>
              </a:rPr>
              <a:t>▸ same page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Tick the EMA backtest and 'Buy and hold SPY' and press Compare.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Buy-and-hold has higher CAGR but a deeper drawdown; the strategy has lower exposure.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Glossary</a:t>
            </a:r>
          </a:p>
          <a:p>
            <a:pPr algn="l">
              <a:spcAft>
                <a:spcPts val="200"/>
              </a:spcAft>
            </a:pPr>
            <a:r>
              <a:rPr sz="1000" b="1">
                <a:solidFill>
                  <a:srgbClr val="10B981"/>
                </a:solidFill>
                <a:latin typeface="Arial"/>
              </a:rPr>
              <a:t>▸ Help &amp; Glossary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Help &amp; Glossary &gt; Metric glossary.</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formula matches the course slides.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9_analy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20009"/>
            <a:ext cx="2040940" cy="26663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0113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3208629" y="2820009"/>
            <a:ext cx="4180636" cy="164797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53181"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4560570"/>
            <a:ext cx="2054108"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444169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35158"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179710"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79710"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Pick a backtest</a:t>
            </a:r>
          </a:p>
          <a:p>
            <a:pPr algn="l">
              <a:spcAft>
                <a:spcPts val="100"/>
              </a:spcAft>
            </a:pPr>
            <a:r>
              <a:rPr sz="1000" b="0">
                <a:solidFill>
                  <a:srgbClr val="161B26"/>
                </a:solidFill>
                <a:latin typeface="Arial"/>
              </a:rPr>
              <a:t>EMA 10/30 on SPY; export a PDF tearsheet or CSV from here.</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All metrics</a:t>
            </a:r>
          </a:p>
          <a:p>
            <a:pPr algn="l">
              <a:spcAft>
                <a:spcPts val="100"/>
              </a:spcAft>
            </a:pPr>
            <a:r>
              <a:rPr sz="1000" b="0">
                <a:solidFill>
                  <a:srgbClr val="161B26"/>
                </a:solidFill>
                <a:latin typeface="Arial"/>
              </a:rPr>
              <a:t>Strategy vs benchmark; hover a metric for its formula. Sharpe 0.81 vs 0.78.</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Equity vs buy-and-hold</a:t>
            </a:r>
          </a:p>
          <a:p>
            <a:pPr algn="l">
              <a:spcAft>
                <a:spcPts val="100"/>
              </a:spcAft>
            </a:pPr>
            <a:r>
              <a:rPr sz="1000" b="0">
                <a:solidFill>
                  <a:srgbClr val="161B26"/>
                </a:solidFill>
                <a:latin typeface="Arial"/>
              </a:rPr>
              <a:t>SPY ends higher (CAGR 14.14% vs 9.02%) but swings much more.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Drawdown</a:t>
            </a:r>
          </a:p>
          <a:p>
            <a:pPr algn="l">
              <a:spcAft>
                <a:spcPts val="100"/>
              </a:spcAft>
            </a:pPr>
            <a:r>
              <a:rPr sz="1000" b="0">
                <a:solidFill>
                  <a:srgbClr val="161B26"/>
                </a:solidFill>
                <a:latin typeface="Arial"/>
              </a:rPr>
              <a:t>Max drawdown -14.19% vs SPY's -33.72%: the strategy steps aside in sell-offs.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Rolling Sharpe</a:t>
            </a:r>
          </a:p>
          <a:p>
            <a:pPr algn="l">
              <a:spcAft>
                <a:spcPts val="100"/>
              </a:spcAft>
            </a:pPr>
            <a:r>
              <a:rPr sz="1000" b="0">
                <a:solidFill>
                  <a:srgbClr val="161B26"/>
                </a:solidFill>
                <a:latin typeface="Arial"/>
              </a:rPr>
              <a:t>Risk-adjusted return over time; long negative spells flag a fading edge.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Lower return but far lower risk: judge a strategy on Sharpe, drawdown and exposure, not CAGR alone.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Analytics for Lab 6's SMA 50/200 backtest against SPY buy-and-hold: 79.71% versus 187.26% total return, Sharpe 0.55 versus 0.78. In Lab 9 choose the EMA 10/30 backtest;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09:30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2   ·   Labs 10–14</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Learning: Learning from Labelled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supervised.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model learns a mapping from inputs (features) to a known answer (the label), using history in which the answer is already known.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Features known at today's close - 5-day return, RSI, volatility. Label: did the price rise the NEXT day (classification) or by how much (regression)?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prediction for a new day - P(up) = 0.55 or an expected return. A rule such as 'long if P(up) &gt; 0.55' turns it into a position.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Features must use only data known at decision time. Accuracy near 50% is normal for daily direction - judge the strategy net of costs.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Unsupervised Learning: Finding Structure Without Labels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unsupervised.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There is no answer key. The algorithm groups or compresses the data by similarity, and you decide what the groups mean.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Cluster days by return and volatility into regimes; PCA reduces many correlated assets to a few factors; cluster stocks for diversification.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group per day or asset (calm / normal / stressed) or a few factors - inputs to a decision, such as cutting position size when stressed, not trades by themselves.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Clusters have no built-in meaning and k is your choice. Fit on past data only and re-check as the market changes.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Reinforcement Learning: Learning by Action and Reward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reinforcement.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agent observes a state, takes an action and receives a reward; by trial and error it learns a policy that maximises total reward over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State: prices, position, time left. Action: buy, hold, sell or how many shares. Reward: P&amp;L net of costs, minus a penalty for risk.</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policy - the best action for each state. Used for optimal execution of large orders, market making and dynamic hedging, mostly at banks and research labs.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Needs a realistic simulator and huge amounts of experience; it learns to exploit any flaw in the simulator. Unstable and hard to explain - rarely the first tool.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vs Unsupervised vs Reinforcement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0" y="1810512"/>
            <a:ext cx="2791968"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Supervised</a:t>
            </a:r>
          </a:p>
        </p:txBody>
      </p:sp>
      <p:sp>
        <p:nvSpPr>
          <p:cNvPr id="12" name="Rectangle 11"/>
          <p:cNvSpPr/>
          <p:nvPr/>
        </p:nvSpPr>
        <p:spPr>
          <a:xfrm>
            <a:off x="5754624" y="1810512"/>
            <a:ext cx="2791968"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624"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Unsupervised</a:t>
            </a:r>
          </a:p>
        </p:txBody>
      </p:sp>
      <p:sp>
        <p:nvSpPr>
          <p:cNvPr id="14" name="Rectangle 13"/>
          <p:cNvSpPr/>
          <p:nvPr/>
        </p:nvSpPr>
        <p:spPr>
          <a:xfrm>
            <a:off x="8583168" y="1810512"/>
            <a:ext cx="2828544"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83168" y="1810512"/>
            <a:ext cx="2828544" cy="420624"/>
          </a:xfrm>
          <a:prstGeom prst="rect">
            <a:avLst/>
          </a:prstGeom>
          <a:noFill/>
        </p:spPr>
        <p:txBody>
          <a:bodyPr wrap="square" anchor="ctr">
            <a:spAutoFit/>
          </a:bodyPr>
          <a:lstStyle/>
          <a:p>
            <a:pPr algn="ctr">
              <a:spcAft>
                <a:spcPts val="400"/>
              </a:spcAft>
            </a:pPr>
            <a:r>
              <a:rPr sz="1400" b="1">
                <a:solidFill>
                  <a:srgbClr val="FFFFFF"/>
                </a:solidFill>
                <a:latin typeface="Arial"/>
              </a:rPr>
              <a:t>Reinforcement</a:t>
            </a:r>
          </a:p>
        </p:txBody>
      </p:sp>
      <p:sp>
        <p:nvSpPr>
          <p:cNvPr id="16" name="Rectangle 15"/>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Learns from</a:t>
            </a:r>
          </a:p>
        </p:txBody>
      </p:sp>
      <p:sp>
        <p:nvSpPr>
          <p:cNvPr id="18" name="TextBox 17"/>
          <p:cNvSpPr txBox="1"/>
          <p:nvPr/>
        </p:nvSpPr>
        <p:spPr>
          <a:xfrm>
            <a:off x="3017520"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Labelled history: features + the known answer</a:t>
            </a:r>
          </a:p>
        </p:txBody>
      </p:sp>
      <p:sp>
        <p:nvSpPr>
          <p:cNvPr id="19" name="TextBox 18"/>
          <p:cNvSpPr txBox="1"/>
          <p:nvPr/>
        </p:nvSpPr>
        <p:spPr>
          <a:xfrm>
            <a:off x="5846064"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Unlabelled data: features only</a:t>
            </a:r>
          </a:p>
        </p:txBody>
      </p:sp>
      <p:sp>
        <p:nvSpPr>
          <p:cNvPr id="20" name="TextBox 19"/>
          <p:cNvSpPr txBox="1"/>
          <p:nvPr/>
        </p:nvSpPr>
        <p:spPr>
          <a:xfrm>
            <a:off x="8674608" y="22860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Its own experience: states, actions, rewards</a:t>
            </a:r>
          </a:p>
        </p:txBody>
      </p:sp>
      <p:sp>
        <p:nvSpPr>
          <p:cNvPr id="21" name="TextBox 20"/>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Question it answers</a:t>
            </a:r>
          </a:p>
        </p:txBody>
      </p:sp>
      <p:sp>
        <p:nvSpPr>
          <p:cNvPr id="22" name="TextBox 21"/>
          <p:cNvSpPr txBox="1"/>
          <p:nvPr/>
        </p:nvSpPr>
        <p:spPr>
          <a:xfrm>
            <a:off x="3017520"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will happen? - predict a target</a:t>
            </a:r>
          </a:p>
        </p:txBody>
      </p:sp>
      <p:sp>
        <p:nvSpPr>
          <p:cNvPr id="23" name="TextBox 22"/>
          <p:cNvSpPr txBox="1"/>
          <p:nvPr/>
        </p:nvSpPr>
        <p:spPr>
          <a:xfrm>
            <a:off x="5846064"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patterns exist? - group or compress</a:t>
            </a:r>
          </a:p>
        </p:txBody>
      </p:sp>
      <p:sp>
        <p:nvSpPr>
          <p:cNvPr id="24" name="TextBox 23"/>
          <p:cNvSpPr txBox="1"/>
          <p:nvPr/>
        </p:nvSpPr>
        <p:spPr>
          <a:xfrm>
            <a:off x="8674608" y="294894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What should I do? - choose the next action</a:t>
            </a:r>
          </a:p>
        </p:txBody>
      </p:sp>
      <p:sp>
        <p:nvSpPr>
          <p:cNvPr id="25" name="Rectangle 24"/>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Feedback</a:t>
            </a:r>
          </a:p>
        </p:txBody>
      </p:sp>
      <p:sp>
        <p:nvSpPr>
          <p:cNvPr id="27" name="TextBox 26"/>
          <p:cNvSpPr txBox="1"/>
          <p:nvPr/>
        </p:nvSpPr>
        <p:spPr>
          <a:xfrm>
            <a:off x="3017520"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Error against the correct answer</a:t>
            </a:r>
          </a:p>
        </p:txBody>
      </p:sp>
      <p:sp>
        <p:nvSpPr>
          <p:cNvPr id="28" name="TextBox 27"/>
          <p:cNvSpPr txBox="1"/>
          <p:nvPr/>
        </p:nvSpPr>
        <p:spPr>
          <a:xfrm>
            <a:off x="5846064"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None - judged by how useful the groups are</a:t>
            </a:r>
          </a:p>
        </p:txBody>
      </p:sp>
      <p:sp>
        <p:nvSpPr>
          <p:cNvPr id="29" name="TextBox 28"/>
          <p:cNvSpPr txBox="1"/>
          <p:nvPr/>
        </p:nvSpPr>
        <p:spPr>
          <a:xfrm>
            <a:off x="8674608" y="361188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 reward, often delayed (profit, cost)</a:t>
            </a:r>
          </a:p>
        </p:txBody>
      </p:sp>
      <p:sp>
        <p:nvSpPr>
          <p:cNvPr id="30" name="TextBox 29"/>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algorithms</a:t>
            </a:r>
          </a:p>
        </p:txBody>
      </p:sp>
      <p:sp>
        <p:nvSpPr>
          <p:cNvPr id="31" name="TextBox 30"/>
          <p:cNvSpPr txBox="1"/>
          <p:nvPr/>
        </p:nvSpPr>
        <p:spPr>
          <a:xfrm>
            <a:off x="3017520"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Logistic regression, random forest, XGBoost, LSTM</a:t>
            </a:r>
          </a:p>
        </p:txBody>
      </p:sp>
      <p:sp>
        <p:nvSpPr>
          <p:cNvPr id="32" name="TextBox 31"/>
          <p:cNvSpPr txBox="1"/>
          <p:nvPr/>
        </p:nvSpPr>
        <p:spPr>
          <a:xfrm>
            <a:off x="5846064"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K-means, hierarchical clustering, PCA</a:t>
            </a:r>
          </a:p>
        </p:txBody>
      </p:sp>
      <p:sp>
        <p:nvSpPr>
          <p:cNvPr id="33" name="TextBox 32"/>
          <p:cNvSpPr txBox="1"/>
          <p:nvPr/>
        </p:nvSpPr>
        <p:spPr>
          <a:xfrm>
            <a:off x="8674608" y="427482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Q-learning, policy gradients (PPO)</a:t>
            </a:r>
          </a:p>
        </p:txBody>
      </p:sp>
      <p:sp>
        <p:nvSpPr>
          <p:cNvPr id="34" name="Rectangle 33"/>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6" name="TextBox 35"/>
          <p:cNvSpPr txBox="1"/>
          <p:nvPr/>
        </p:nvSpPr>
        <p:spPr>
          <a:xfrm>
            <a:off x="3017520"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P(SPY up tomorrow) from RSI and recent returns</a:t>
            </a:r>
          </a:p>
        </p:txBody>
      </p:sp>
      <p:sp>
        <p:nvSpPr>
          <p:cNvPr id="37" name="TextBox 36"/>
          <p:cNvSpPr txBox="1"/>
          <p:nvPr/>
        </p:nvSpPr>
        <p:spPr>
          <a:xfrm>
            <a:off x="5846064"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Calm / normal / stressed market regimes</a:t>
            </a:r>
          </a:p>
        </p:txBody>
      </p:sp>
      <p:sp>
        <p:nvSpPr>
          <p:cNvPr id="38" name="TextBox 37"/>
          <p:cNvSpPr txBox="1"/>
          <p:nvPr/>
        </p:nvSpPr>
        <p:spPr>
          <a:xfrm>
            <a:off x="8674608" y="493776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An agent slicing a 100,000-share order to cut cost</a:t>
            </a:r>
          </a:p>
        </p:txBody>
      </p:sp>
      <p:sp>
        <p:nvSpPr>
          <p:cNvPr id="39" name="TextBox 38"/>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0" name="TextBox 39"/>
          <p:cNvSpPr txBox="1"/>
          <p:nvPr/>
        </p:nvSpPr>
        <p:spPr>
          <a:xfrm>
            <a:off x="3017520"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noise; look-ahead leakage</a:t>
            </a:r>
          </a:p>
        </p:txBody>
      </p:sp>
      <p:sp>
        <p:nvSpPr>
          <p:cNvPr id="41" name="TextBox 40"/>
          <p:cNvSpPr txBox="1"/>
          <p:nvPr/>
        </p:nvSpPr>
        <p:spPr>
          <a:xfrm>
            <a:off x="5846064"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Meaningless or unstable clusters</a:t>
            </a:r>
          </a:p>
        </p:txBody>
      </p:sp>
      <p:sp>
        <p:nvSpPr>
          <p:cNvPr id="42" name="TextBox 41"/>
          <p:cNvSpPr txBox="1"/>
          <p:nvPr/>
        </p:nvSpPr>
        <p:spPr>
          <a:xfrm>
            <a:off x="8674608" y="56007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Exploiting simulator flaws; unstable training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Grid-search SMA crossover parameters in-sample and measure how the ranking decays out of sample.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grid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decay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Walk-forward</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IS and OOS Sharpe heatmaps, a rank correlation and a robust parameter region.</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grid</a:t>
            </a:r>
          </a:p>
          <a:p>
            <a:pPr algn="l">
              <a:spcAft>
                <a:spcPts val="200"/>
              </a:spcAft>
            </a:pPr>
            <a:r>
              <a:rPr sz="1000" b="1">
                <a:solidFill>
                  <a:srgbClr val="10B981"/>
                </a:solidFill>
                <a:latin typeface="Arial"/>
              </a:rPr>
              <a:t>▸ Research &gt; Grid SPY SMA cross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Strategy search: SMA crossover on SPY, in-sample to 2021-12-31, Alpaca costs. Press Search.</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24 parameter sets; two heatmaps appear.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Read the decay</a:t>
            </a:r>
          </a:p>
          <a:p>
            <a:pPr algn="l">
              <a:spcAft>
                <a:spcPts val="200"/>
              </a:spcAft>
            </a:pPr>
            <a:r>
              <a:rPr sz="1000" b="1">
                <a:solidFill>
                  <a:srgbClr val="10B981"/>
                </a:solidFill>
                <a:latin typeface="Arial"/>
              </a:rPr>
              <a:t>▸ Research &gt; Strategy search</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Compare the in-sample and out-of-sample heatmaps and the IS-&gt;OOS rank correlation.</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single best in-sample cell is usually not the best out of sample, and why a robust region is preferred.</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Walk-forward</a:t>
            </a:r>
          </a:p>
          <a:p>
            <a:pPr algn="l">
              <a:spcAft>
                <a:spcPts val="200"/>
              </a:spcAft>
            </a:pPr>
            <a:r>
              <a:rPr sz="1000" b="1">
                <a:solidFill>
                  <a:srgbClr val="10B981"/>
                </a:solidFill>
                <a:latin typeface="Arial"/>
              </a:rPr>
              <a:t>▸ Research &gt; Walk-forward SPY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Walk-forward: SMA crossover on SPY (3-year train, 1-year test).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stitched out-of-sample equity curve and the parameters chosen in each window.</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0_strategy_search_16x9.png"/>
          <p:cNvPicPr>
            <a:picLocks noChangeAspect="1"/>
          </p:cNvPicPr>
          <p:nvPr/>
        </p:nvPicPr>
        <p:blipFill>
          <a:blip r:embed="rId2"/>
          <a:stretch>
            <a:fillRect/>
          </a:stretch>
        </p:blipFill>
        <p:spPr>
          <a:xfrm>
            <a:off x="777240" y="1807866"/>
            <a:ext cx="6903720" cy="3653747"/>
          </a:xfrm>
          <a:prstGeom prst="rect">
            <a:avLst/>
          </a:prstGeom>
        </p:spPr>
      </p:pic>
      <p:sp>
        <p:nvSpPr>
          <p:cNvPr id="11" name="Rectangle 10"/>
          <p:cNvSpPr/>
          <p:nvPr/>
        </p:nvSpPr>
        <p:spPr>
          <a:xfrm>
            <a:off x="766267" y="1796893"/>
            <a:ext cx="6925665" cy="367569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608036"/>
            <a:ext cx="1629277" cy="240781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4891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41244" y="2608036"/>
            <a:ext cx="5025908" cy="354413"/>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85796" y="248916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8579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24089" y="3316863"/>
            <a:ext cx="1505010" cy="97555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8641" y="31979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8641"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216331" y="3316863"/>
            <a:ext cx="1511914" cy="97555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60883" y="31979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0883"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24089" y="4325298"/>
            <a:ext cx="4197461" cy="24114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68641" y="420642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8641" y="420642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The grid</a:t>
            </a:r>
          </a:p>
          <a:p>
            <a:pPr algn="l">
              <a:spcAft>
                <a:spcPts val="100"/>
              </a:spcAft>
            </a:pPr>
            <a:r>
              <a:rPr sz="1000" b="0">
                <a:solidFill>
                  <a:srgbClr val="161B26"/>
                </a:solidFill>
                <a:latin typeface="Arial"/>
              </a:rPr>
              <a:t>SMA crossover on SPY: fast 5-50 x slow 50-250, in-sample to 31/12/2021.</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Decay summary</a:t>
            </a:r>
          </a:p>
          <a:p>
            <a:pPr algn="l">
              <a:spcAft>
                <a:spcPts val="100"/>
              </a:spcAft>
            </a:pPr>
            <a:r>
              <a:rPr sz="1000" b="0">
                <a:solidFill>
                  <a:srgbClr val="161B26"/>
                </a:solidFill>
                <a:latin typeface="Arial"/>
              </a:rPr>
              <a:t>24 sets; IS -&gt; OOS rank correlation -0.36: the in-sample ranking does not hold.</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In-sample heatmap</a:t>
            </a:r>
          </a:p>
          <a:p>
            <a:pPr algn="l">
              <a:spcAft>
                <a:spcPts val="100"/>
              </a:spcAft>
            </a:pPr>
            <a:r>
              <a:rPr sz="1000" b="0">
                <a:solidFill>
                  <a:srgbClr val="161B26"/>
                </a:solidFill>
                <a:latin typeface="Arial"/>
              </a:rPr>
              <a:t>Greener = higher Sharpe to 2021. The best cell, 10/100, scores 1.23.</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Out-of-sample heatmap</a:t>
            </a:r>
          </a:p>
          <a:p>
            <a:pPr algn="l">
              <a:spcAft>
                <a:spcPts val="100"/>
              </a:spcAft>
            </a:pPr>
            <a:r>
              <a:rPr sz="1000" b="0">
                <a:solidFill>
                  <a:srgbClr val="161B26"/>
                </a:solidFill>
                <a:latin typeface="Arial"/>
              </a:rPr>
              <a:t>The same cells after 2021: 10/100 drops to 0.70 and the winners move.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Robust region</a:t>
            </a:r>
          </a:p>
          <a:p>
            <a:pPr algn="l">
              <a:spcAft>
                <a:spcPts val="100"/>
              </a:spcAft>
            </a:pPr>
            <a:r>
              <a:rPr sz="1000" b="0">
                <a:solidFill>
                  <a:srgbClr val="161B26"/>
                </a:solidFill>
                <a:latin typeface="Arial"/>
              </a:rPr>
              <a:t>Prefer the cell whose neighbours are also good, not the single best cell.</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best in-sample setting is rarely the best out of sample: choose a robust region, then walk-forward.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Walk-Forward: Re-Tune, Then Test Unseen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10_walkforward.png"/>
          <p:cNvPicPr>
            <a:picLocks noChangeAspect="1"/>
          </p:cNvPicPr>
          <p:nvPr/>
        </p:nvPicPr>
        <p:blipFill>
          <a:blip r:embed="rId2"/>
          <a:stretch>
            <a:fillRect/>
          </a:stretch>
        </p:blipFill>
        <p:spPr>
          <a:xfrm>
            <a:off x="1538854" y="1645920"/>
            <a:ext cx="9113985" cy="4114800"/>
          </a:xfrm>
          <a:prstGeom prst="rect">
            <a:avLst/>
          </a:prstGeom>
        </p:spPr>
      </p:pic>
      <p:sp>
        <p:nvSpPr>
          <p:cNvPr id="8" name="Rectangle 7"/>
          <p:cNvSpPr/>
          <p:nvPr/>
        </p:nvSpPr>
        <p:spPr>
          <a:xfrm>
            <a:off x="1527881" y="1634947"/>
            <a:ext cx="913593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Walk-forward: SMA crossover on SPY, 3-year train, 1-year test. Stitched out of sample: CAGR 8.40% (buy-and-hold 14.40%), Sharpe 0.72 (0.87), max drawdown -20.26% (-24.50%).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Train logistic regression, random forest and XGBoost walk-forward and trade P(up) &gt; threshold.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Train the classifiers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an ML strategy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for leakage</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Accuracy / AUC table, feature importance and a net-of-cost backtest of the ML signal.</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Train the classifiers</a:t>
            </a:r>
          </a:p>
          <a:p>
            <a:pPr algn="l">
              <a:spcAft>
                <a:spcPts val="200"/>
              </a:spcAft>
            </a:pPr>
            <a:r>
              <a:rPr sz="1000" b="1">
                <a:solidFill>
                  <a:srgbClr val="10B981"/>
                </a:solidFill>
                <a:latin typeface="Arial"/>
              </a:rPr>
              <a:t>▸ Research &gt; ML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ML models on SPY, threshold 0.55.</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AUC close to 0.5 - daily direction is close to a coin toss; read the verdict.</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an ML strategy</a:t>
            </a:r>
          </a:p>
          <a:p>
            <a:pPr algn="l">
              <a:spcAft>
                <a:spcPts val="200"/>
              </a:spcAft>
            </a:pPr>
            <a:r>
              <a:rPr sz="1000" b="1">
                <a:solidFill>
                  <a:srgbClr val="10B981"/>
                </a:solidFill>
                <a:latin typeface="Arial"/>
              </a:rPr>
              <a:t>▸ Backtest SPY XGBoost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'ML: XGBoost (walk-forward)' on SPY.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Judge the model by the net-of-cost strategy, not by accuracy.</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Check for leakage</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'ML: logistic regression'.</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check PASS: refits use only past bars.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1_ml_models_16x9.png"/>
          <p:cNvPicPr>
            <a:picLocks noChangeAspect="1"/>
          </p:cNvPicPr>
          <p:nvPr/>
        </p:nvPicPr>
        <p:blipFill>
          <a:blip r:embed="rId2"/>
          <a:stretch>
            <a:fillRect/>
          </a:stretch>
        </p:blipFill>
        <p:spPr>
          <a:xfrm>
            <a:off x="777240" y="1901095"/>
            <a:ext cx="6903720" cy="3467288"/>
          </a:xfrm>
          <a:prstGeom prst="rect">
            <a:avLst/>
          </a:prstGeom>
        </p:spPr>
      </p:pic>
      <p:sp>
        <p:nvSpPr>
          <p:cNvPr id="11" name="Rectangle 10"/>
          <p:cNvSpPr/>
          <p:nvPr/>
        </p:nvSpPr>
        <p:spPr>
          <a:xfrm>
            <a:off x="766267" y="1890122"/>
            <a:ext cx="6925665" cy="34892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33244"/>
            <a:ext cx="1622374" cy="162962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6143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6143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469690" y="2837263"/>
            <a:ext cx="1656892" cy="98817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14242" y="271839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4242"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140391" y="2837263"/>
            <a:ext cx="987231" cy="126556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84943" y="27183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4943"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6127623" y="2837263"/>
            <a:ext cx="1484299" cy="9881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2175" y="27183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72175"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41244" y="4449552"/>
            <a:ext cx="5005197" cy="9188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85796" y="433068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85796" y="433068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Train walk-forward</a:t>
            </a:r>
          </a:p>
          <a:p>
            <a:pPr algn="l">
              <a:spcAft>
                <a:spcPts val="100"/>
              </a:spcAft>
            </a:pPr>
            <a:r>
              <a:rPr sz="1000" b="0">
                <a:solidFill>
                  <a:srgbClr val="161B26"/>
                </a:solidFill>
                <a:latin typeface="Arial"/>
              </a:rPr>
              <a:t>SPY, long when P(up) &gt; 0.55; every model refits every 126 bars on past data only.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Accuracy, AUC, base rate</a:t>
            </a:r>
          </a:p>
          <a:p>
            <a:pPr algn="l">
              <a:spcAft>
                <a:spcPts val="100"/>
              </a:spcAft>
            </a:pPr>
            <a:r>
              <a:rPr sz="1000" b="0">
                <a:solidFill>
                  <a:srgbClr val="161B26"/>
                </a:solidFill>
                <a:latin typeface="Arial"/>
              </a:rPr>
              <a:t>53-54% accuracy is below the 55.2% base rate; AUC about 0.5 = a coin toss.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Net-of-cost result</a:t>
            </a:r>
          </a:p>
          <a:p>
            <a:pPr algn="l">
              <a:spcAft>
                <a:spcPts val="100"/>
              </a:spcAft>
            </a:pPr>
            <a:r>
              <a:rPr sz="1000" b="0">
                <a:solidFill>
                  <a:srgbClr val="161B26"/>
                </a:solidFill>
                <a:latin typeface="Arial"/>
              </a:rPr>
              <a:t>OOS Sharpe 0.36-0.61 vs buy-and-hold 0.78: none beats simply holding SPY.</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Verdict</a:t>
            </a:r>
          </a:p>
          <a:p>
            <a:pPr algn="l">
              <a:spcAft>
                <a:spcPts val="100"/>
              </a:spcAft>
            </a:pPr>
            <a:r>
              <a:rPr sz="1000" b="0">
                <a:solidFill>
                  <a:srgbClr val="161B26"/>
                </a:solidFill>
                <a:latin typeface="Arial"/>
              </a:rPr>
              <a:t>NO EDGE for all three models: keep the ML signal out of the live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Feature importance</a:t>
            </a:r>
          </a:p>
          <a:p>
            <a:pPr algn="l">
              <a:spcAft>
                <a:spcPts val="100"/>
              </a:spcAft>
            </a:pPr>
            <a:r>
              <a:rPr sz="1000" b="0">
                <a:solidFill>
                  <a:srgbClr val="161B26"/>
                </a:solidFill>
                <a:latin typeface="Arial"/>
              </a:rPr>
              <a:t>The inputs the random forest leaned on: volume, lagged return, distance to SMA 50.</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model that cannot beat the base rate, with AUC near 0.5, has no edge - however clever it looks.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Find market regimes with walk-forward K-means and gate a signal in the high-volatility regime.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Analyse regimes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regime-filtered strategy</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PCA explained variance, a regime timeline and gated vs ungated performance.</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Analyse regimes</a:t>
            </a:r>
          </a:p>
          <a:p>
            <a:pPr algn="l">
              <a:spcAft>
                <a:spcPts val="200"/>
              </a:spcAft>
            </a:pPr>
            <a:r>
              <a:rPr sz="1000" b="1">
                <a:solidFill>
                  <a:srgbClr val="10B981"/>
                </a:solidFill>
                <a:latin typeface="Arial"/>
              </a:rPr>
              <a:t>▸ Research &gt; Regimes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Regimes: SPY, 3 clusters, gate the EMA crossover.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PC1 explains the largest share of variance (the market factor); the 2020 crash is in the stress regime.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regime-filtered strategy</a:t>
            </a:r>
          </a:p>
          <a:p>
            <a:pPr algn="l">
              <a:spcAft>
                <a:spcPts val="200"/>
              </a:spcAft>
            </a:pPr>
            <a:r>
              <a:rPr sz="1000" b="1">
                <a:solidFill>
                  <a:srgbClr val="10B981"/>
                </a:solidFill>
                <a:latin typeface="Arial"/>
              </a:rPr>
              <a:t>▸ Backtest SPY regime filter</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'Regime-filtered strategy (K-means gate)'.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Compare max drawdown with the ungated EMA crossover.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2_regimes_16x9.png"/>
          <p:cNvPicPr>
            <a:picLocks noChangeAspect="1"/>
          </p:cNvPicPr>
          <p:nvPr/>
        </p:nvPicPr>
        <p:blipFill>
          <a:blip r:embed="rId2"/>
          <a:stretch>
            <a:fillRect/>
          </a:stretch>
        </p:blipFill>
        <p:spPr>
          <a:xfrm>
            <a:off x="777240" y="2132785"/>
            <a:ext cx="6903720" cy="3003908"/>
          </a:xfrm>
          <a:prstGeom prst="rect">
            <a:avLst/>
          </a:prstGeom>
        </p:spPr>
      </p:pic>
      <p:sp>
        <p:nvSpPr>
          <p:cNvPr id="11" name="Rectangle 10"/>
          <p:cNvSpPr/>
          <p:nvPr/>
        </p:nvSpPr>
        <p:spPr>
          <a:xfrm>
            <a:off x="766267" y="2121812"/>
            <a:ext cx="6925665" cy="302585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937833"/>
            <a:ext cx="1601663" cy="16371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81896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937833"/>
            <a:ext cx="5005197" cy="36046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81896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75763" y="3808966"/>
            <a:ext cx="2105634" cy="58275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0315" y="369009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0315"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81397" y="3808966"/>
            <a:ext cx="2726969" cy="58275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25949" y="369009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5949"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96474" y="4650061"/>
            <a:ext cx="4825700" cy="41754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41026" y="45311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41026" y="45311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Settings</a:t>
            </a:r>
          </a:p>
          <a:p>
            <a:pPr algn="l">
              <a:spcAft>
                <a:spcPts val="100"/>
              </a:spcAft>
            </a:pPr>
            <a:r>
              <a:rPr sz="1000" b="0">
                <a:solidFill>
                  <a:srgbClr val="161B26"/>
                </a:solidFill>
                <a:latin typeface="Arial"/>
              </a:rPr>
              <a:t>SPY, 3 clusters (k), gating the EMA crossover signal.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Today's regime and gate</a:t>
            </a:r>
          </a:p>
          <a:p>
            <a:pPr algn="l">
              <a:spcAft>
                <a:spcPts val="100"/>
              </a:spcAft>
            </a:pPr>
            <a:r>
              <a:rPr sz="1000" b="0">
                <a:solidFill>
                  <a:srgbClr val="161B26"/>
                </a:solidFill>
                <a:latin typeface="Arial"/>
              </a:rPr>
              <a:t>Low vol, gate OPEN: signals pass. Regimes are refitted walk-forward on past data only.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common each regime is</a:t>
            </a:r>
          </a:p>
          <a:p>
            <a:pPr algn="l">
              <a:spcAft>
                <a:spcPts val="100"/>
              </a:spcAft>
            </a:pPr>
            <a:r>
              <a:rPr sz="1000" b="0">
                <a:solidFill>
                  <a:srgbClr val="161B26"/>
                </a:solidFill>
                <a:latin typeface="Arial"/>
              </a:rPr>
              <a:t>Low vol 72% of days, moderate vol 27%, high-vol stress 1% (22 days).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How each regime behaves</a:t>
            </a:r>
          </a:p>
          <a:p>
            <a:pPr algn="l">
              <a:spcAft>
                <a:spcPts val="100"/>
              </a:spcAft>
            </a:pPr>
            <a:r>
              <a:rPr sz="1000" b="0">
                <a:solidFill>
                  <a:srgbClr val="161B26"/>
                </a:solidFill>
                <a:latin typeface="Arial"/>
              </a:rPr>
              <a:t>Stress: 82.5% vol and -18.7% over 21 days; low vol has the best next-day Sharpe (1.17).</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Regime timeline</a:t>
            </a:r>
          </a:p>
          <a:p>
            <a:pPr algn="l">
              <a:spcAft>
                <a:spcPts val="100"/>
              </a:spcAft>
            </a:pPr>
            <a:r>
              <a:rPr sz="1000" b="0">
                <a:solidFill>
                  <a:srgbClr val="161B26"/>
                </a:solidFill>
                <a:latin typeface="Arial"/>
              </a:rPr>
              <a:t>The walk-forward regime day by day, 2019-2025: red = stress (the 2020 crash), orange = moderate.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the signal only while the gate is open - and A/B test the gate before it goes live.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Decide statistically between two variants before moving capital.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A/B test</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Your own variants</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Welch and paired t-tests, a bootstrap Sharpe CI and a decision with a multiple-testing caution.</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A/B test</a:t>
            </a:r>
          </a:p>
          <a:p>
            <a:pPr algn="l">
              <a:spcAft>
                <a:spcPts val="200"/>
              </a:spcAft>
            </a:pPr>
            <a:r>
              <a:rPr sz="1000" b="1">
                <a:solidFill>
                  <a:srgbClr val="10B981"/>
                </a:solidFill>
                <a:latin typeface="Arial"/>
              </a:rPr>
              <a:t>▸ Research &gt; A/B trend_filter vs dip_buy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A/B test: A = Trend filter, B = Dip buy, SPY, alpha 0.05, 20 variants tried.</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Read the decision; if the CI contains 0, do not reject H0.</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Your own variants</a:t>
            </a:r>
          </a:p>
          <a:p>
            <a:pPr algn="l">
              <a:spcAft>
                <a:spcPts val="200"/>
              </a:spcAft>
            </a:pPr>
            <a:r>
              <a:rPr sz="1000" b="1">
                <a:solidFill>
                  <a:srgbClr val="10B981"/>
                </a:solidFill>
                <a:latin typeface="Arial"/>
              </a:rPr>
              <a:t>▸ Research &gt; A/B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 = EMA crossover {"fast": 10, "slow": 30}, B = EMA crossover {"fast": 20, "slow": 50}.</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the Bonferroni-adjusted alpha.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3_ab_test_16x9.png"/>
          <p:cNvPicPr>
            <a:picLocks noChangeAspect="1"/>
          </p:cNvPicPr>
          <p:nvPr/>
        </p:nvPicPr>
        <p:blipFill>
          <a:blip r:embed="rId2"/>
          <a:stretch>
            <a:fillRect/>
          </a:stretch>
        </p:blipFill>
        <p:spPr>
          <a:xfrm>
            <a:off x="777240" y="1919236"/>
            <a:ext cx="6903720" cy="3431007"/>
          </a:xfrm>
          <a:prstGeom prst="rect">
            <a:avLst/>
          </a:prstGeom>
        </p:spPr>
      </p:pic>
      <p:sp>
        <p:nvSpPr>
          <p:cNvPr id="11" name="Rectangle 10"/>
          <p:cNvSpPr/>
          <p:nvPr/>
        </p:nvSpPr>
        <p:spPr>
          <a:xfrm>
            <a:off x="766267" y="1908263"/>
            <a:ext cx="6925665" cy="34529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18661"/>
            <a:ext cx="1601663" cy="223701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5997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718661"/>
            <a:ext cx="5019004" cy="572978"/>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59978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06725" y="3377414"/>
            <a:ext cx="2492242" cy="4460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51277" y="325854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1277"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140391" y="3377414"/>
            <a:ext cx="2485339" cy="4460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84943" y="325854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4943"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06725" y="3902358"/>
            <a:ext cx="2471531" cy="142386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51277" y="378348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1277"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5154198" y="3902358"/>
            <a:ext cx="2471531" cy="142386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98750" y="37834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98750"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Set up the test</a:t>
            </a:r>
          </a:p>
          <a:p>
            <a:pPr algn="l">
              <a:spcAft>
                <a:spcPts val="100"/>
              </a:spcAft>
            </a:pPr>
            <a:r>
              <a:rPr sz="950" b="0">
                <a:solidFill>
                  <a:srgbClr val="161B26"/>
                </a:solidFill>
                <a:latin typeface="Arial"/>
              </a:rPr>
              <a:t>A = Trend filter, B = Dip buy, SPY, alpha 0.05, 20 variants tried. H0: no difference.</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The decision</a:t>
            </a:r>
          </a:p>
          <a:p>
            <a:pPr algn="l">
              <a:spcAft>
                <a:spcPts val="100"/>
              </a:spcAft>
            </a:pPr>
            <a:r>
              <a:rPr sz="950" b="0">
                <a:solidFill>
                  <a:srgbClr val="161B26"/>
                </a:solidFill>
                <a:latin typeface="Arial"/>
              </a:rPr>
              <a:t>DO NOT REJECT H0. 20 tries at 5% expect 1 lucky winner; Bonferroni needs p &lt; 0.0025.</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Welch and paired t-tests</a:t>
            </a:r>
          </a:p>
          <a:p>
            <a:pPr algn="l">
              <a:spcAft>
                <a:spcPts val="100"/>
              </a:spcAft>
            </a:pPr>
            <a:r>
              <a:rPr sz="950" b="0">
                <a:solidFill>
                  <a:srgbClr val="161B26"/>
                </a:solidFill>
                <a:latin typeface="Arial"/>
              </a:rPr>
              <a:t>p 0.432 and 0.367, far above 0.05. Paired is the better test: same days, same market.</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Sharpe gap and bootstrap</a:t>
            </a:r>
          </a:p>
          <a:p>
            <a:pPr algn="l">
              <a:spcAft>
                <a:spcPts val="100"/>
              </a:spcAft>
            </a:pPr>
            <a:r>
              <a:rPr sz="950" b="0">
                <a:solidFill>
                  <a:srgbClr val="161B26"/>
                </a:solidFill>
                <a:latin typeface="Arial"/>
              </a:rPr>
              <a:t>A - B = 0.34, but the 95% CI -0.36 to 1.04 contains 0. A wins 83% of resamples - not enough.</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Equity curves</a:t>
            </a:r>
          </a:p>
          <a:p>
            <a:pPr algn="l">
              <a:spcAft>
                <a:spcPts val="100"/>
              </a:spcAft>
            </a:pPr>
            <a:r>
              <a:rPr sz="950" b="0">
                <a:solidFill>
                  <a:srgbClr val="161B26"/>
                </a:solidFill>
                <a:latin typeface="Arial"/>
              </a:rPr>
              <a:t>A ends near $195k, B near $138k. Tempting - but a nicer curve is not proof.</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Bootstrap distribution</a:t>
            </a:r>
          </a:p>
          <a:p>
            <a:pPr algn="l">
              <a:spcAft>
                <a:spcPts val="100"/>
              </a:spcAft>
            </a:pPr>
            <a:r>
              <a:rPr sz="950" b="0">
                <a:solidFill>
                  <a:srgbClr val="161B26"/>
                </a:solidFill>
                <a:latin typeface="Arial"/>
              </a:rPr>
              <a:t>Resampled Sharpe gaps; dark bars are the 95% CI, and 0 falls inside them.</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Keep both variants on paper: move capital only when p beats the Bonferroni alpha and the CI excludes 0.</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THE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Reach the A/B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Read the screen in this order. H0: A and B have the same expected daily return and Sharpe.</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Don't trust the chart. A's curve looks better, but 7 years of noisy daily returns can fool you.</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Paired t-test on A − B (same days, same market): p = 0.367, above alpha 0.05.</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Bootstrap Sharpe CI −0.36 … 1.04 contains 0, so 'no difference' is still plausible.</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20 variants × 0.05 = 1 lucky 'winner' expected. Bonferroni: 0.05 ÷ 20 = 0.0025.</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Decision: DO NOT REJECT H0. Keep both on paper and record the result.</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Step 2 (EMA 10/30 vs EMA 20/50): read the same three numbers - paired p, the CI vs 0 and Bonferroni 0.0025 - and record them for the PP.</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Screen pairs for cointegration and backtest a market-neutral KO/PEP spread.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Screen the pairs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KO/PEP</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Engle-Granger screen and a pairs backtest with beta near zero.</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Screen the pairs</a:t>
            </a:r>
          </a:p>
          <a:p>
            <a:pPr algn="l">
              <a:spcAft>
                <a:spcPts val="200"/>
              </a:spcAft>
            </a:pPr>
            <a:r>
              <a:rPr sz="1000" b="1">
                <a:solidFill>
                  <a:srgbClr val="10B981"/>
                </a:solidFill>
                <a:latin typeface="Arial"/>
              </a:rPr>
              <a:t>▸ Research &gt; Pairs screen</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Pairs screen (formation to 2022-12-31).</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High correlation does not imply cointegration - compare the corr and ADF columns.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KO/PEP</a:t>
            </a:r>
          </a:p>
          <a:p>
            <a:pPr algn="l">
              <a:spcAft>
                <a:spcPts val="200"/>
              </a:spcAft>
            </a:pPr>
            <a:r>
              <a:rPr sz="1000" b="1">
                <a:solidFill>
                  <a:srgbClr val="10B981"/>
                </a:solidFill>
                <a:latin typeface="Arial"/>
              </a:rPr>
              <a:t>▸ Backtest KO/PEP pairs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the pairs strategy on KO, PEP (both legs, short leg allowed, borrow cost charged).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Beta to SPY near 0 in 'All metrics'; the trade list has long and short legs.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4_pairs_16x9.png"/>
          <p:cNvPicPr>
            <a:picLocks noChangeAspect="1"/>
          </p:cNvPicPr>
          <p:nvPr/>
        </p:nvPicPr>
        <p:blipFill>
          <a:blip r:embed="rId2"/>
          <a:stretch>
            <a:fillRect/>
          </a:stretch>
        </p:blipFill>
        <p:spPr>
          <a:xfrm>
            <a:off x="777240" y="2287333"/>
            <a:ext cx="6903719" cy="2694812"/>
          </a:xfrm>
          <a:prstGeom prst="rect">
            <a:avLst/>
          </a:prstGeom>
        </p:spPr>
      </p:pic>
      <p:sp>
        <p:nvSpPr>
          <p:cNvPr id="11" name="Rectangle 10"/>
          <p:cNvSpPr/>
          <p:nvPr/>
        </p:nvSpPr>
        <p:spPr>
          <a:xfrm>
            <a:off x="766267" y="2276361"/>
            <a:ext cx="6925665" cy="271675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3101167"/>
            <a:ext cx="1601663" cy="160341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98229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98229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96474" y="3545811"/>
            <a:ext cx="4832603" cy="2128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41026" y="342693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1026" y="342693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96474" y="3758701"/>
            <a:ext cx="4832603" cy="215584"/>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41026" y="3639829"/>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41026" y="363982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75763" y="4645294"/>
            <a:ext cx="4936159" cy="20211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0315" y="452642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0315" y="452642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7909560" y="1783080"/>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09560" y="1783080"/>
            <a:ext cx="64008"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65008" y="2072259"/>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65008" y="207225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28" name="TextBox 27"/>
          <p:cNvSpPr txBox="1"/>
          <p:nvPr/>
        </p:nvSpPr>
        <p:spPr>
          <a:xfrm>
            <a:off x="8458200" y="1783080"/>
            <a:ext cx="2880360" cy="870965"/>
          </a:xfrm>
          <a:prstGeom prst="rect">
            <a:avLst/>
          </a:prstGeom>
          <a:noFill/>
        </p:spPr>
        <p:txBody>
          <a:bodyPr wrap="square" anchor="ctr">
            <a:spAutoFit/>
          </a:bodyPr>
          <a:lstStyle/>
          <a:p>
            <a:pPr algn="l">
              <a:spcAft>
                <a:spcPts val="100"/>
              </a:spcAft>
            </a:pPr>
            <a:r>
              <a:rPr sz="1100" b="1">
                <a:solidFill>
                  <a:srgbClr val="1F6FEB"/>
                </a:solidFill>
                <a:latin typeface="Arial"/>
              </a:rPr>
              <a:t>Pairs and formation period</a:t>
            </a:r>
          </a:p>
          <a:p>
            <a:pPr algn="l">
              <a:spcAft>
                <a:spcPts val="100"/>
              </a:spcAft>
            </a:pPr>
            <a:r>
              <a:rPr sz="1000" b="0">
                <a:solidFill>
                  <a:srgbClr val="161B26"/>
                </a:solidFill>
                <a:latin typeface="Arial"/>
              </a:rPr>
              <a:t>Five candidate pairs, tested on data to 31/12/2022 only.</a:t>
            </a:r>
          </a:p>
        </p:txBody>
      </p:sp>
      <p:sp>
        <p:nvSpPr>
          <p:cNvPr id="29" name="Rectangle 28"/>
          <p:cNvSpPr/>
          <p:nvPr/>
        </p:nvSpPr>
        <p:spPr>
          <a:xfrm>
            <a:off x="7909560" y="2727198"/>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09560" y="2727198"/>
            <a:ext cx="64008"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65008" y="3016377"/>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301637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3" name="TextBox 32"/>
          <p:cNvSpPr txBox="1"/>
          <p:nvPr/>
        </p:nvSpPr>
        <p:spPr>
          <a:xfrm>
            <a:off x="8458200" y="2727198"/>
            <a:ext cx="2880360" cy="870965"/>
          </a:xfrm>
          <a:prstGeom prst="rect">
            <a:avLst/>
          </a:prstGeom>
          <a:noFill/>
        </p:spPr>
        <p:txBody>
          <a:bodyPr wrap="square" anchor="ctr">
            <a:spAutoFit/>
          </a:bodyPr>
          <a:lstStyle/>
          <a:p>
            <a:pPr algn="l">
              <a:spcAft>
                <a:spcPts val="100"/>
              </a:spcAft>
            </a:pPr>
            <a:r>
              <a:rPr sz="1100" b="1">
                <a:solidFill>
                  <a:srgbClr val="10B981"/>
                </a:solidFill>
                <a:latin typeface="Arial"/>
              </a:rPr>
              <a:t>KO/PEP: cointegrated</a:t>
            </a:r>
          </a:p>
          <a:p>
            <a:pPr algn="l">
              <a:spcAft>
                <a:spcPts val="100"/>
              </a:spcAft>
            </a:pPr>
            <a:r>
              <a:rPr sz="1000" b="0">
                <a:solidFill>
                  <a:srgbClr val="161B26"/>
                </a:solidFill>
                <a:latin typeface="Arial"/>
              </a:rPr>
              <a:t>ADF t -3.36 beats the 5% critical value -3.34; the spread's half-life is 39 days.</a:t>
            </a:r>
          </a:p>
        </p:txBody>
      </p:sp>
      <p:sp>
        <p:nvSpPr>
          <p:cNvPr id="34" name="Rectangle 33"/>
          <p:cNvSpPr/>
          <p:nvPr/>
        </p:nvSpPr>
        <p:spPr>
          <a:xfrm>
            <a:off x="7909560" y="3671315"/>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09560" y="3671315"/>
            <a:ext cx="64008"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65008" y="396049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65008" y="3960495"/>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38" name="TextBox 37"/>
          <p:cNvSpPr txBox="1"/>
          <p:nvPr/>
        </p:nvSpPr>
        <p:spPr>
          <a:xfrm>
            <a:off x="8458200" y="3671315"/>
            <a:ext cx="2880360" cy="870965"/>
          </a:xfrm>
          <a:prstGeom prst="rect">
            <a:avLst/>
          </a:prstGeom>
          <a:noFill/>
        </p:spPr>
        <p:txBody>
          <a:bodyPr wrap="square" anchor="ctr">
            <a:spAutoFit/>
          </a:bodyPr>
          <a:lstStyle/>
          <a:p>
            <a:pPr algn="l">
              <a:spcAft>
                <a:spcPts val="100"/>
              </a:spcAft>
            </a:pPr>
            <a:r>
              <a:rPr sz="1100" b="1">
                <a:solidFill>
                  <a:srgbClr val="7C3AED"/>
                </a:solidFill>
                <a:latin typeface="Arial"/>
              </a:rPr>
              <a:t>JPM/BAC: correlated, not cointegrated</a:t>
            </a:r>
          </a:p>
          <a:p>
            <a:pPr algn="l">
              <a:spcAft>
                <a:spcPts val="100"/>
              </a:spcAft>
            </a:pPr>
            <a:r>
              <a:rPr sz="1000" b="0">
                <a:solidFill>
                  <a:srgbClr val="161B26"/>
                </a:solidFill>
                <a:latin typeface="Arial"/>
              </a:rPr>
              <a:t>0.93 correlation but ADF t -2.08: the spread can drift away for good.</a:t>
            </a:r>
          </a:p>
        </p:txBody>
      </p:sp>
      <p:sp>
        <p:nvSpPr>
          <p:cNvPr id="39" name="Rectangle 38"/>
          <p:cNvSpPr/>
          <p:nvPr/>
        </p:nvSpPr>
        <p:spPr>
          <a:xfrm>
            <a:off x="7909560" y="4615434"/>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09560" y="4615434"/>
            <a:ext cx="64008"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065008" y="4904613"/>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65008" y="4904613"/>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3" name="TextBox 42"/>
          <p:cNvSpPr txBox="1"/>
          <p:nvPr/>
        </p:nvSpPr>
        <p:spPr>
          <a:xfrm>
            <a:off x="8458200" y="4615434"/>
            <a:ext cx="2880360" cy="870965"/>
          </a:xfrm>
          <a:prstGeom prst="rect">
            <a:avLst/>
          </a:prstGeom>
          <a:noFill/>
        </p:spPr>
        <p:txBody>
          <a:bodyPr wrap="square" anchor="ctr">
            <a:spAutoFit/>
          </a:bodyPr>
          <a:lstStyle/>
          <a:p>
            <a:pPr algn="l">
              <a:spcAft>
                <a:spcPts val="100"/>
              </a:spcAft>
            </a:pPr>
            <a:r>
              <a:rPr sz="1100" b="1">
                <a:solidFill>
                  <a:srgbClr val="F59E0B"/>
                </a:solidFill>
                <a:latin typeface="Arial"/>
              </a:rPr>
              <a:t>Critical values</a:t>
            </a:r>
          </a:p>
          <a:p>
            <a:pPr algn="l">
              <a:spcAft>
                <a:spcPts val="100"/>
              </a:spcAft>
            </a:pPr>
            <a:r>
              <a:rPr sz="1000" b="0">
                <a:solidFill>
                  <a:srgbClr val="161B26"/>
                </a:solidFill>
                <a:latin typeface="Arial"/>
              </a:rPr>
              <a:t>1% -3.90, 5% -3.34, 10% -3.04. Screening many pairs inflates false positives.</a:t>
            </a:r>
          </a:p>
        </p:txBody>
      </p:sp>
      <p:sp>
        <p:nvSpPr>
          <p:cNvPr id="44" name="Rectangle 43"/>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a spread only for a cointegrated pair (KO/PEP), then check its beta to SPY is near 0.</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Day 2   ·   Labs 15–20</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strategy under four cost models and find its break-even cost.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Zero vs Alpaca vs high-cost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Break-even and execution timing</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Stops and sizing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Gross vs net CAGR, a cost breakdown and the break-even bps.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Zero vs Alpaca vs high-cost</a:t>
            </a:r>
          </a:p>
          <a:p>
            <a:pPr algn="l">
              <a:spcAft>
                <a:spcPts val="200"/>
              </a:spcAft>
            </a:pPr>
            <a:r>
              <a:rPr sz="1000" b="1">
                <a:solidFill>
                  <a:srgbClr val="10B981"/>
                </a:solidFill>
                <a:latin typeface="Arial"/>
              </a:rPr>
              <a:t>▸ Backtest SPY dip-buy, zero cost first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same strategy three times, changing ONLY the Cost model, to see how much of its profit trading costs eat.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102 trades (203 fills) in every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Break-even and execution timing</a:t>
            </a:r>
          </a:p>
          <a:p>
            <a:pPr algn="l">
              <a:spcAft>
                <a:spcPts val="200"/>
              </a:spcAft>
            </a:pPr>
            <a:r>
              <a:rPr sz="1000" b="1">
                <a:solidFill>
                  <a:srgbClr val="10B981"/>
                </a:solidFill>
                <a:latin typeface="Arial"/>
              </a:rPr>
              <a:t>▸ Backtest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Break-even cost is the one-way cost per trade at which the strategy's net CAGR falls to zero: above it the strategy loses money.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Break-even is 19.5 bps. Alpaca's ~1.5 bps leaves plenty of room, but the high-cost route's ~17.5 bps (plus fees) uses almost all of it - that is why its net CAGR was only 0.48%.</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Stops and sizing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Now add risk controls to a different strategy, EMA crossover 20/50 on SPY. The link fills in the settings below.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16 trades: 4 exit with stop_loss, the rest with signal.</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5_costs_break_eve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986659"/>
            <a:ext cx="4720498" cy="5554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8677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09708" y="3597706"/>
            <a:ext cx="2679557"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4260" y="34788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4260" y="34788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542053"/>
            <a:ext cx="4720498" cy="9443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4231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4231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a:t>
            </a:r>
          </a:p>
          <a:p>
            <a:pPr algn="l">
              <a:spcAft>
                <a:spcPts val="100"/>
              </a:spcAft>
            </a:pPr>
            <a:r>
              <a:rPr sz="1000" b="0">
                <a:solidFill>
                  <a:srgbClr val="161B26"/>
                </a:solidFill>
                <a:latin typeface="Arial"/>
              </a:rPr>
              <a:t>Dip buy after a losing streak (the Lab 04 idea): n down 3, hold 3.</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 model and execution</a:t>
            </a:r>
          </a:p>
          <a:p>
            <a:pPr algn="l">
              <a:spcAft>
                <a:spcPts val="100"/>
              </a:spcAft>
            </a:pPr>
            <a:r>
              <a:rPr sz="1000" b="0">
                <a:solidFill>
                  <a:srgbClr val="161B26"/>
                </a:solidFill>
                <a:latin typeface="Arial"/>
              </a:rPr>
              <a:t>Run it with zero, alpaca_retail and high_cost; then try next-bar close.</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 result (high-cost route)</a:t>
            </a:r>
          </a:p>
          <a:p>
            <a:pPr algn="l">
              <a:spcAft>
                <a:spcPts val="100"/>
              </a:spcAft>
            </a:pPr>
            <a:r>
              <a:rPr sz="1000" b="0">
                <a:solidFill>
                  <a:srgbClr val="161B26"/>
                </a:solidFill>
                <a:latin typeface="Arial"/>
              </a:rPr>
              <a:t>CAGR 0.48% and Sharpe 0.10 vs SPY's 14.13% and 0.78: costs ate the edge.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102 trades, turnover 25.5; break-even only 19.5 bps one way - fragile.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Costs: gross vs net</a:t>
            </a:r>
          </a:p>
          <a:p>
            <a:pPr algn="l">
              <a:spcAft>
                <a:spcPts val="100"/>
              </a:spcAft>
            </a:pPr>
            <a:r>
              <a:rPr sz="1000" b="0">
                <a:solidFill>
                  <a:srgbClr val="161B26"/>
                </a:solidFill>
                <a:latin typeface="Arial"/>
              </a:rPr>
              <a:t>The dollar drag by type: commission, spread, slippage and fees.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frequent trader lives or dies by costs: compare the break-even bps with your broker's real cost.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a bot, run it on a schedule, watch orders, positions and P&amp;L live, and halt it with the kill switch.</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the bot</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Start it and watch</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Kill switch</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bot equity curve, a blotter of its orders, a backtest-vs-forward comparison and a tested kill switch.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Create the bot</a:t>
            </a:r>
          </a:p>
          <a:p>
            <a:pPr algn="l">
              <a:spcAft>
                <a:spcPts val="200"/>
              </a:spcAft>
            </a:pPr>
            <a:r>
              <a:rPr sz="1000" b="1">
                <a:solidFill>
                  <a:srgbClr val="10B981"/>
                </a:solidFill>
                <a:latin typeface="Arial"/>
              </a:rPr>
              <a:t>▸ Paper Trading &gt; New bot (EMA cross)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Paper Trading &gt; + New bot: EMA crossover 10/30 on SPY, schedule 'every 10s', simulator broker, replay from 2025-01-02.</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bot appears with status stopped.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Start it and watch</a:t>
            </a:r>
          </a:p>
          <a:p>
            <a:pPr algn="l">
              <a:spcAft>
                <a:spcPts val="200"/>
              </a:spcAft>
            </a:pPr>
            <a:r>
              <a:rPr sz="1000" b="1">
                <a:solidFill>
                  <a:srgbClr val="10B981"/>
                </a:solidFill>
                <a:latin typeface="Arial"/>
              </a:rPr>
              <a:t>▸ Paper Trading &gt; Bots</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Start. Every cycle replays one trading day: it sees bars to yesterday's close and its orders fill at today's open. Or press 'Run one cycle now' repeatedly.</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Equity curve grows cycle by cycle; the Pipeline Map path lights up during each cycle.</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Kill switch</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the bot's Kill switch, then try 'Run one cycle now'. Release it. Try the global kill switch in the top bar too.</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Cycles report 'kill switch ON - no orders sent'; the Risk stage turns red on the Pipeline Map.</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Compare in 'Backtest vs forward test'.</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curves track closely; you can explain the remaining gap (whole shares, fills, timing).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6_forward_test_bo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55766" y="3208858"/>
            <a:ext cx="2073859" cy="7036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0318" y="30899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318"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084978" y="3319957"/>
            <a:ext cx="2225283" cy="20368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29530" y="320108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9530" y="32010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3893972"/>
            <a:ext cx="4180636"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430953"/>
            <a:ext cx="4180636" cy="10554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3120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3120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and + New bot</a:t>
            </a:r>
          </a:p>
          <a:p>
            <a:pPr algn="l">
              <a:spcAft>
                <a:spcPts val="100"/>
              </a:spcAft>
            </a:pPr>
            <a:r>
              <a:rPr sz="1000" b="0">
                <a:solidFill>
                  <a:srgbClr val="161B26"/>
                </a:solidFill>
                <a:latin typeface="Arial"/>
              </a:rPr>
              <a:t>EMA 10/30 on SPY, every 10s, simulator broker, replay from 2025-01-02.</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card</a:t>
            </a:r>
          </a:p>
          <a:p>
            <a:pPr algn="l">
              <a:spcAft>
                <a:spcPts val="100"/>
              </a:spcAft>
            </a:pPr>
            <a:r>
              <a:rPr sz="1000" b="0">
                <a:solidFill>
                  <a:srgbClr val="161B26"/>
                </a:solidFill>
                <a:latin typeface="Arial"/>
              </a:rPr>
              <a:t>Status (running), strategy, schedule, cycles done and the current equity.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Controls</a:t>
            </a:r>
          </a:p>
          <a:p>
            <a:pPr algn="l">
              <a:spcAft>
                <a:spcPts val="100"/>
              </a:spcAft>
            </a:pPr>
            <a:r>
              <a:rPr sz="1000" b="0">
                <a:solidFill>
                  <a:srgbClr val="161B26"/>
                </a:solidFill>
                <a:latin typeface="Arial"/>
              </a:rPr>
              <a:t>Stop, Run one cycle now, Flatten, Reset - and the red Kill switch.</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Live numbers</a:t>
            </a:r>
          </a:p>
          <a:p>
            <a:pPr algn="l">
              <a:spcAft>
                <a:spcPts val="100"/>
              </a:spcAft>
            </a:pPr>
            <a:r>
              <a:rPr sz="1000" b="0">
                <a:solidFill>
                  <a:srgbClr val="161B26"/>
                </a:solidFill>
                <a:latin typeface="Arial"/>
              </a:rPr>
              <a:t>Equity $108,256, P&amp;L $8,256, 146 cycles / 8 orders, and the last cycle's result.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Forward-test equity</a:t>
            </a:r>
          </a:p>
          <a:p>
            <a:pPr algn="l">
              <a:spcAft>
                <a:spcPts val="100"/>
              </a:spcAft>
            </a:pPr>
            <a:r>
              <a:rPr sz="1000" b="0">
                <a:solidFill>
                  <a:srgbClr val="161B26"/>
                </a:solidFill>
                <a:latin typeface="Arial"/>
              </a:rPr>
              <a:t>Grows one replayed trading day per cycle; compare it with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With the kill switch ON, cycles send no orders - test it before you trust any bot.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Send TradingView alerts to the app's webhook and see them pass validation, signal confirmation and risk into paper orders.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Copy the alert template</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self-test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Real alerts (paid TradingView plan)</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7 simulated alerts handled as expected and the audit log.</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Copy the alert template</a:t>
            </a:r>
          </a:p>
          <a:p>
            <a:pPr algn="l">
              <a:spcAft>
                <a:spcPts val="200"/>
              </a:spcAft>
            </a:pPr>
            <a:r>
              <a:rPr sz="1000" b="1">
                <a:solidFill>
                  <a:srgbClr val="10B981"/>
                </a:solidFill>
                <a:latin typeface="Arial"/>
              </a:rPr>
              <a:t>▸ Integrations &gt; TradingView webhook</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Integrations and scroll down to the TradingView webhook card. It holds the two things TradingView needs: where to send an alert (the Webhook URL) and what to send (the Alert message).</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what each part of the message is for and which values TradingView fills in (the {{...}} placeholders).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self-test</a:t>
            </a:r>
          </a:p>
          <a:p>
            <a:pPr algn="l">
              <a:spcAft>
                <a:spcPts val="200"/>
              </a:spcAft>
            </a:pPr>
            <a:r>
              <a:rPr sz="1000" b="1">
                <a:solidFill>
                  <a:srgbClr val="10B981"/>
                </a:solidFill>
                <a:latin typeface="Arial"/>
              </a:rPr>
              <a:t>▸ System &gt; Integrations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self-test (7 simulated alerts)'.</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7/7 simulated alerts handled as expected: valid buy and sell (200), wrong secret (401), symbol not allowed and qty too large (422), malformed (400), retry ignored (200 duplicate).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Real alerts (paid TradingView plan)</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Optional - trainer demonstration, or try it yourself if you have a paid TradingView plan. This is the same flow with a real TradingView alert.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alert appears in the audit log and its order in Paper Trading &gt; Orders (source webhook).</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17_webhook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2847" y="1875663"/>
            <a:ext cx="2995574" cy="15924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7399" y="175679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7399" y="17567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42598" y="2216368"/>
            <a:ext cx="3140415" cy="42958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7150" y="209749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150" y="209749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42598" y="2716316"/>
            <a:ext cx="3140415" cy="114062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87150" y="259744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7150" y="259744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268602" y="2101565"/>
            <a:ext cx="3146999" cy="88139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13154" y="1982693"/>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3154" y="198269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268602" y="3016285"/>
            <a:ext cx="2923153" cy="140355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13154" y="289741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3154" y="289741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1042598" y="4486503"/>
            <a:ext cx="6373002" cy="999896"/>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87150" y="436763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150" y="43676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The webhook path</a:t>
            </a:r>
          </a:p>
          <a:p>
            <a:pPr algn="l">
              <a:spcAft>
                <a:spcPts val="100"/>
              </a:spcAft>
            </a:pPr>
            <a:r>
              <a:rPr sz="950" b="0">
                <a:solidFill>
                  <a:srgbClr val="161B26"/>
                </a:solidFill>
                <a:latin typeface="Arial"/>
              </a:rPr>
              <a:t>alert -&gt; signal confirmation -&gt; risk checks -&gt; paper order.</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Webhook URL</a:t>
            </a:r>
          </a:p>
          <a:p>
            <a:pPr algn="l">
              <a:spcAft>
                <a:spcPts val="100"/>
              </a:spcAft>
            </a:pPr>
            <a:r>
              <a:rPr sz="950" b="0">
                <a:solidFill>
                  <a:srgbClr val="161B26"/>
                </a:solidFill>
                <a:latin typeface="Arial"/>
              </a:rPr>
              <a:t>Copy it. TradingView can only reach it through a public HTTPS tunnel (e.g. ngrok).</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Alert message</a:t>
            </a:r>
          </a:p>
          <a:p>
            <a:pPr algn="l">
              <a:spcAft>
                <a:spcPts val="100"/>
              </a:spcAft>
            </a:pPr>
            <a:r>
              <a:rPr sz="950" b="0">
                <a:solidFill>
                  <a:srgbClr val="161B26"/>
                </a:solidFill>
                <a:latin typeface="Arial"/>
              </a:rPr>
              <a:t>The JSON for TradingView's Message box; its secret proves the alert is yours.</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Confirm, cap and allow</a:t>
            </a:r>
          </a:p>
          <a:p>
            <a:pPr algn="l">
              <a:spcAft>
                <a:spcPts val="100"/>
              </a:spcAft>
            </a:pPr>
            <a:r>
              <a:rPr sz="950" b="0">
                <a:solidFill>
                  <a:srgbClr val="161B26"/>
                </a:solidFill>
                <a:latin typeface="Arial"/>
              </a:rPr>
              <a:t>Confirm with EMA crossover, max 100 per alert, listed symbols only.</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Run self-test</a:t>
            </a:r>
          </a:p>
          <a:p>
            <a:pPr algn="l">
              <a:spcAft>
                <a:spcPts val="100"/>
              </a:spcAft>
            </a:pPr>
            <a:r>
              <a:rPr sz="950" b="0">
                <a:solidFill>
                  <a:srgbClr val="161B26"/>
                </a:solidFill>
                <a:latin typeface="Arial"/>
              </a:rPr>
              <a:t>7/7 handled: valid buy and sell 200, wrong secret 401, bad symbol or qty 422, malformed 400.</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Audit log</a:t>
            </a:r>
          </a:p>
          <a:p>
            <a:pPr algn="l">
              <a:spcAft>
                <a:spcPts val="100"/>
              </a:spcAft>
            </a:pPr>
            <a:r>
              <a:rPr sz="950" b="0">
                <a:solidFill>
                  <a:srgbClr val="161B26"/>
                </a:solidFill>
                <a:latin typeface="Arial"/>
              </a:rPr>
              <a:t>Every alert with its HTTP code and result, secret redacted; a retry is 'duplicate ignored'.</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Only alerts that pass the secret, signal and risk checks become paper orders - and a retried alert never trades twice.</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automated diagnostics on a deliberately biased strategy, fix it, and re-run.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Diagnose the biased exhibit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Fix it in the Strategy Builder</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Re-run diagnostics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FAIL on the biased exhibit, a PASS / WARN table for the fixed version and a verdict.</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Diagnose the biased exhibit</a:t>
            </a:r>
          </a:p>
          <a:p>
            <a:pPr algn="l">
              <a:spcAft>
                <a:spcPts val="200"/>
              </a:spcAft>
            </a:pPr>
            <a:r>
              <a:rPr sz="1000" b="1">
                <a:solidFill>
                  <a:srgbClr val="10B981"/>
                </a:solidFill>
                <a:latin typeface="Arial"/>
              </a:rPr>
              <a:t>▸ Research &gt; Diagnostics (Lab 18 exhibit)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'Lab 18 exhibit: biased smoothed momentum' (seeded custom strategy).</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(features) FAIL: rolling(center=True) uses future bars. Verdict BLOCK.</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Fix it in the Strategy Builder</a:t>
            </a:r>
          </a:p>
          <a:p>
            <a:pPr algn="l">
              <a:spcAft>
                <a:spcPts val="200"/>
              </a:spcAft>
            </a:pPr>
            <a:r>
              <a:rPr sz="1000" b="1">
                <a:solidFill>
                  <a:srgbClr val="10B981"/>
                </a:solidFill>
                <a:latin typeface="Arial"/>
              </a:rPr>
              <a:t>▸ Strategy Builder (exhibit)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the exhibit in the Strategy Builder and change the single setting center=True to center=False (or let AI fix it: use the Lab 18 Strategy Builder prompt in the Prompt Library).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validation's look-ahead check now passes.</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Re-run diagnostics</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Diagnose the fixed strategy; compare the same-bar vs next-bar Sharpe and the cost-drag row.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 FAIL on look-ahead; cost drag and overfitting WARN explained.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8_diagnos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97810"/>
            <a:ext cx="1514246" cy="196275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7893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462914"/>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47772" y="3412540"/>
            <a:ext cx="4542739" cy="277749"/>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92324" y="32936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92324" y="32936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747772" y="3708806"/>
            <a:ext cx="4542739" cy="87028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92324" y="35899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92324" y="35899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47772" y="4597603"/>
            <a:ext cx="454273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92324" y="447873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92324" y="44787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Choose the exhibit</a:t>
            </a:r>
          </a:p>
          <a:p>
            <a:pPr algn="l">
              <a:spcAft>
                <a:spcPts val="100"/>
              </a:spcAft>
            </a:pPr>
            <a:r>
              <a:rPr sz="1000" b="0">
                <a:solidFill>
                  <a:srgbClr val="161B26"/>
                </a:solidFill>
                <a:latin typeface="Arial"/>
              </a:rPr>
              <a:t>Lab 18 biased smoothed momentum on SPY; 76 parameter sets tried.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Verdict</a:t>
            </a:r>
          </a:p>
          <a:p>
            <a:pPr algn="l">
              <a:spcAft>
                <a:spcPts val="100"/>
              </a:spcAft>
            </a:pPr>
            <a:r>
              <a:rPr sz="1000" b="0">
                <a:solidFill>
                  <a:srgbClr val="161B26"/>
                </a:solidFill>
                <a:latin typeface="Arial"/>
              </a:rPr>
              <a:t>BLOCK: fix every FAIL before paper or live trading.</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Look-ahead in features: FAIL</a:t>
            </a:r>
          </a:p>
          <a:p>
            <a:pPr algn="l">
              <a:spcAft>
                <a:spcPts val="100"/>
              </a:spcAft>
            </a:pPr>
            <a:r>
              <a:rPr sz="1000" b="0">
                <a:solidFill>
                  <a:srgbClr val="161B26"/>
                </a:solidFill>
                <a:latin typeface="Arial"/>
              </a:rPr>
              <a:t>rolling(center=True) peeks at future bars, so truncation changes past signals.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Execution, cost drag, overfitting</a:t>
            </a:r>
          </a:p>
          <a:p>
            <a:pPr algn="l">
              <a:spcAft>
                <a:spcPts val="100"/>
              </a:spcAft>
            </a:pPr>
            <a:r>
              <a:rPr sz="1000" b="0">
                <a:solidFill>
                  <a:srgbClr val="161B26"/>
                </a:solidFill>
                <a:latin typeface="Arial"/>
              </a:rPr>
              <a:t>PASS: next-bar fills, small cost drag, beats 76 skill-free random strategies.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Survivorship: WARN</a:t>
            </a:r>
          </a:p>
          <a:p>
            <a:pPr algn="l">
              <a:spcAft>
                <a:spcPts val="100"/>
              </a:spcAft>
            </a:pPr>
            <a:r>
              <a:rPr sz="1000" b="0">
                <a:solidFill>
                  <a:srgbClr val="161B26"/>
                </a:solidFill>
                <a:latin typeface="Arial"/>
              </a:rPr>
              <a:t>The universe is today's survivors - use a point-in-time universe.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Change center=True to center=False in the Strategy Builder, re-run, and the look-ahead FAIL becomes PASS.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Produce a one-page tearsheet and explain the gap between backtest and forward test.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the tearsheet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Draw insights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PDF tearsheet and a written explanation of the backtest-vs-forward differences.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the tearsheet</a:t>
            </a:r>
          </a:p>
          <a:p>
            <a:pPr algn="l">
              <a:spcAft>
                <a:spcPts val="200"/>
              </a:spcAft>
            </a:pPr>
            <a:r>
              <a:rPr sz="1000" b="1">
                <a:solidFill>
                  <a:srgbClr val="10B981"/>
                </a:solidFill>
                <a:latin typeface="Arial"/>
              </a:rPr>
              <a:t>▸ Analytics &gt; PDF tearsheet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page (or Analytics) &gt; PDF tearsheet for your best backtest; also export the equity and trades CSV.</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PDF has equity vs benchmark, drawdown, monthly heatmap, metrics and the cost table.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Analytics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select your Lab 16 bot under 'Bot (backtest vs forward)'.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Explain every material gap (fills, sizing, costs, timing).</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Draw insights</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Monthly heatmap: in which regimes did the strategy earn its returns, what drove its drawdowns?</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Two or three insights, not just numbers.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9_performance_repor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6006693" y="2338578"/>
            <a:ext cx="1283817" cy="3147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51245" y="221970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1245" y="22197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68933" y="2820009"/>
            <a:ext cx="2040940" cy="266639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3485"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2820009"/>
            <a:ext cx="4180636" cy="16479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270113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Backtest and exports</a:t>
            </a:r>
          </a:p>
          <a:p>
            <a:pPr algn="l">
              <a:spcAft>
                <a:spcPts val="100"/>
              </a:spcAft>
            </a:pPr>
            <a:r>
              <a:rPr sz="1000" b="0">
                <a:solidFill>
                  <a:srgbClr val="161B26"/>
                </a:solidFill>
                <a:latin typeface="Arial"/>
              </a:rPr>
              <a:t>Pick your best backtest; the PDF tearsheet and CSV go into the report.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(backtest vs forward)</a:t>
            </a:r>
          </a:p>
          <a:p>
            <a:pPr algn="l">
              <a:spcAft>
                <a:spcPts val="100"/>
              </a:spcAft>
            </a:pPr>
            <a:r>
              <a:rPr sz="1000" b="0">
                <a:solidFill>
                  <a:srgbClr val="161B26"/>
                </a:solidFill>
                <a:latin typeface="Arial"/>
              </a:rPr>
              <a:t>Select your Lab 16 bot to compare its forward test with the backtest.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All metrics</a:t>
            </a:r>
          </a:p>
          <a:p>
            <a:pPr algn="l">
              <a:spcAft>
                <a:spcPts val="100"/>
              </a:spcAft>
            </a:pPr>
            <a:r>
              <a:rPr sz="1000" b="0">
                <a:solidFill>
                  <a:srgbClr val="161B26"/>
                </a:solidFill>
                <a:latin typeface="Arial"/>
              </a:rPr>
              <a:t>CAGR 8.82% vs 14.14%, Sharpe 0.77 vs 0.78, max drawdown -25.54% vs -33.72%.</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Equity vs SPY</a:t>
            </a:r>
          </a:p>
          <a:p>
            <a:pPr algn="l">
              <a:spcAft>
                <a:spcPts val="100"/>
              </a:spcAft>
            </a:pPr>
            <a:r>
              <a:rPr sz="1000" b="0">
                <a:solidFill>
                  <a:srgbClr val="161B26"/>
                </a:solidFill>
                <a:latin typeface="Arial"/>
              </a:rPr>
              <a:t>Flat stretches = out of the market; it falls behind SPY from 2022.</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Drawdown</a:t>
            </a:r>
          </a:p>
          <a:p>
            <a:pPr algn="l">
              <a:spcAft>
                <a:spcPts val="100"/>
              </a:spcAft>
            </a:pPr>
            <a:r>
              <a:rPr sz="1000" b="0">
                <a:solidFill>
                  <a:srgbClr val="161B26"/>
                </a:solidFill>
                <a:latin typeface="Arial"/>
              </a:rPr>
              <a:t>The 2022 bear market caused the deepest loss (about -25%).</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good report explains why: which regimes earned the returns and what drove the drawdowns.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whole pipeline end to end, get a human-approved proposal from the multi-agent desk, switch on the always-on agent, and create, backtest and forward-test your own strategy (from a template or written for you by AI).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multi-agent desk</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Human approval</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Always-on agent</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your own strategy</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diagnose and forward-test it</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Pipeline Map with every stage green, an approved agent proposal with its decision trace, and your custom strategy trading on paper.</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20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068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068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Run the multi-agent desk</a:t>
            </a:r>
          </a:p>
          <a:p>
            <a:pPr algn="l">
              <a:spcAft>
                <a:spcPts val="200"/>
              </a:spcAft>
            </a:pPr>
            <a:r>
              <a:rPr sz="950" b="1">
                <a:solidFill>
                  <a:srgbClr val="10B981"/>
                </a:solidFill>
                <a:latin typeface="Arial"/>
              </a:rPr>
              <a:t>▸ AI Agents &gt; desk</a:t>
            </a:r>
          </a:p>
        </p:txBody>
      </p:sp>
      <p:sp>
        <p:nvSpPr>
          <p:cNvPr id="17" name="TextBox 16"/>
          <p:cNvSpPr txBox="1"/>
          <p:nvPr/>
        </p:nvSpPr>
        <p:spPr>
          <a:xfrm>
            <a:off x="4224527" y="249631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AI Agents &gt; Run multi-agent analysis on NVDA, AAPL, SPY.</a:t>
            </a:r>
          </a:p>
        </p:txBody>
      </p:sp>
      <p:sp>
        <p:nvSpPr>
          <p:cNvPr id="18" name="TextBox 17"/>
          <p:cNvSpPr txBox="1"/>
          <p:nvPr/>
        </p:nvSpPr>
        <p:spPr>
          <a:xfrm>
            <a:off x="8065007" y="249631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Eight agent entries per symbol plus the code gate; the brain badge shows which provider or rules answered.</a:t>
            </a:r>
          </a:p>
        </p:txBody>
      </p:sp>
      <p:sp>
        <p:nvSpPr>
          <p:cNvPr id="19" name="Rectangle 18"/>
          <p:cNvSpPr/>
          <p:nvPr/>
        </p:nvSpPr>
        <p:spPr>
          <a:xfrm>
            <a:off x="777240" y="312877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23926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23926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12877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Human approval</a:t>
            </a:r>
          </a:p>
          <a:p>
            <a:pPr algn="l">
              <a:spcAft>
                <a:spcPts val="200"/>
              </a:spcAft>
            </a:pPr>
            <a:r>
              <a:rPr sz="950" b="1">
                <a:solidFill>
                  <a:srgbClr val="10B981"/>
                </a:solidFill>
                <a:latin typeface="Arial"/>
              </a:rPr>
              <a:t>▸ AI Agents</a:t>
            </a:r>
          </a:p>
        </p:txBody>
      </p:sp>
      <p:sp>
        <p:nvSpPr>
          <p:cNvPr id="23" name="TextBox 22"/>
          <p:cNvSpPr txBox="1"/>
          <p:nvPr/>
        </p:nvSpPr>
        <p:spPr>
          <a:xfrm>
            <a:off x="4224527" y="312877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Approve (or reject) the proposals. Approved buys become paper bracket orders in the regular session or extended-hours limit orders overnight.</a:t>
            </a:r>
          </a:p>
        </p:txBody>
      </p:sp>
      <p:sp>
        <p:nvSpPr>
          <p:cNvPr id="24" name="TextBox 23"/>
          <p:cNvSpPr txBox="1"/>
          <p:nvPr/>
        </p:nvSpPr>
        <p:spPr>
          <a:xfrm>
            <a:off x="8065007" y="312877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Run status 'executed' and the orders visible in Paper Trading (source agent).</a:t>
            </a:r>
          </a:p>
        </p:txBody>
      </p:sp>
      <p:sp>
        <p:nvSpPr>
          <p:cNvPr id="25" name="Rectangle 24"/>
          <p:cNvSpPr/>
          <p:nvPr/>
        </p:nvSpPr>
        <p:spPr>
          <a:xfrm>
            <a:off x="777240" y="3761232"/>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387172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387172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376123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Always-on agent</a:t>
            </a:r>
          </a:p>
          <a:p>
            <a:pPr algn="l">
              <a:spcAft>
                <a:spcPts val="200"/>
              </a:spcAft>
            </a:pPr>
            <a:r>
              <a:rPr sz="950" b="1">
                <a:solidFill>
                  <a:srgbClr val="10B981"/>
                </a:solidFill>
                <a:latin typeface="Arial"/>
              </a:rPr>
              <a:t>▸ same page</a:t>
            </a:r>
          </a:p>
        </p:txBody>
      </p:sp>
      <p:sp>
        <p:nvSpPr>
          <p:cNvPr id="29" name="TextBox 28"/>
          <p:cNvSpPr txBox="1"/>
          <p:nvPr/>
        </p:nvSpPr>
        <p:spPr>
          <a:xfrm>
            <a:off x="4224527" y="376123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AI Agents &gt; Always-on agent: enable it with a 60-minute wake-up (the worker must run), or press 'Wake it now'. Check Memory.</a:t>
            </a:r>
          </a:p>
        </p:txBody>
      </p:sp>
      <p:sp>
        <p:nvSpPr>
          <p:cNvPr id="30" name="TextBox 29"/>
          <p:cNvSpPr txBox="1"/>
          <p:nvPr/>
        </p:nvSpPr>
        <p:spPr>
          <a:xfrm>
            <a:off x="8065007" y="376123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A new always_on run and memory notes appear.</a:t>
            </a:r>
          </a:p>
        </p:txBody>
      </p:sp>
      <p:sp>
        <p:nvSpPr>
          <p:cNvPr id="31" name="Rectangle 30"/>
          <p:cNvSpPr/>
          <p:nvPr/>
        </p:nvSpPr>
        <p:spPr>
          <a:xfrm>
            <a:off x="777240" y="439369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50418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50418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39369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Create your own strategy</a:t>
            </a:r>
          </a:p>
          <a:p>
            <a:pPr algn="l">
              <a:spcAft>
                <a:spcPts val="200"/>
              </a:spcAft>
            </a:pPr>
            <a:r>
              <a:rPr sz="950" b="1">
                <a:solidFill>
                  <a:srgbClr val="10B981"/>
                </a:solidFill>
                <a:latin typeface="Arial"/>
              </a:rPr>
              <a:t>▸ Strategy Builder (EMA + RSI template)</a:t>
            </a:r>
          </a:p>
        </p:txBody>
      </p:sp>
      <p:sp>
        <p:nvSpPr>
          <p:cNvPr id="35" name="TextBox 34"/>
          <p:cNvSpPr txBox="1"/>
          <p:nvPr/>
        </p:nvSpPr>
        <p:spPr>
          <a:xfrm>
            <a:off x="4224527" y="439369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Strategy Builder: start from a template and change only its parameters - or describe your idea in the Lab 20 prompt of the Prompt Library and paste.</a:t>
            </a:r>
          </a:p>
        </p:txBody>
      </p:sp>
      <p:sp>
        <p:nvSpPr>
          <p:cNvPr id="36" name="TextBox 35"/>
          <p:cNvSpPr txBox="1"/>
          <p:nvPr/>
        </p:nvSpPr>
        <p:spPr>
          <a:xfrm>
            <a:off x="8065007" y="439369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Your strategy appears in the Strategy Library with an auto-generated parameter form.</a:t>
            </a:r>
          </a:p>
        </p:txBody>
      </p:sp>
      <p:sp>
        <p:nvSpPr>
          <p:cNvPr id="37" name="Rectangle 36"/>
          <p:cNvSpPr/>
          <p:nvPr/>
        </p:nvSpPr>
        <p:spPr>
          <a:xfrm>
            <a:off x="777240" y="502615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13664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13664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02615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Backtest, diagnose and forward-test it</a:t>
            </a:r>
          </a:p>
          <a:p>
            <a:pPr algn="l">
              <a:spcAft>
                <a:spcPts val="200"/>
              </a:spcAft>
            </a:pPr>
            <a:r>
              <a:rPr sz="950" b="1">
                <a:solidFill>
                  <a:srgbClr val="10B981"/>
                </a:solidFill>
                <a:latin typeface="Arial"/>
              </a:rPr>
              <a:t>▸ Paper Trading &gt; Bots</a:t>
            </a:r>
          </a:p>
        </p:txBody>
      </p:sp>
      <p:sp>
        <p:nvSpPr>
          <p:cNvPr id="41" name="TextBox 40"/>
          <p:cNvSpPr txBox="1"/>
          <p:nvPr/>
        </p:nvSpPr>
        <p:spPr>
          <a:xfrm>
            <a:off x="4224527" y="502615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Backtest it, run Diagnostics, then create a paper bot for it and start it.</a:t>
            </a:r>
          </a:p>
        </p:txBody>
      </p:sp>
      <p:sp>
        <p:nvSpPr>
          <p:cNvPr id="42" name="TextBox 41"/>
          <p:cNvSpPr txBox="1"/>
          <p:nvPr/>
        </p:nvSpPr>
        <p:spPr>
          <a:xfrm>
            <a:off x="8065007" y="502615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Pipeline Map &gt; Strategy lifecycle for your strategy shows the gates it passed.</a:t>
            </a:r>
          </a:p>
        </p:txBody>
      </p:sp>
      <p:sp>
        <p:nvSpPr>
          <p:cNvPr id="43" name="Rectangle 42"/>
          <p:cNvSpPr/>
          <p:nvPr/>
        </p:nvSpPr>
        <p:spPr>
          <a:xfrm>
            <a:off x="777240" y="565861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77824" y="57691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 y="57691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6</a:t>
            </a:r>
          </a:p>
        </p:txBody>
      </p:sp>
      <p:sp>
        <p:nvSpPr>
          <p:cNvPr id="46" name="TextBox 45"/>
          <p:cNvSpPr txBox="1"/>
          <p:nvPr/>
        </p:nvSpPr>
        <p:spPr>
          <a:xfrm>
            <a:off x="1435608" y="565861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End-to-end on the Pipeline Map</a:t>
            </a:r>
          </a:p>
          <a:p>
            <a:pPr algn="l">
              <a:spcAft>
                <a:spcPts val="200"/>
              </a:spcAft>
            </a:pPr>
            <a:r>
              <a:rPr sz="950" b="1">
                <a:solidFill>
                  <a:srgbClr val="10B981"/>
                </a:solidFill>
                <a:latin typeface="Arial"/>
              </a:rPr>
              <a:t>▸ Pipeline Map</a:t>
            </a:r>
          </a:p>
        </p:txBody>
      </p:sp>
      <p:sp>
        <p:nvSpPr>
          <p:cNvPr id="47" name="TextBox 46"/>
          <p:cNvSpPr txBox="1"/>
          <p:nvPr/>
        </p:nvSpPr>
        <p:spPr>
          <a:xfrm>
            <a:off x="4224527" y="565861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Open the Pipeline Map and press 'Run a bot cycle'. Then switch to 'Strategy lifecycle'.</a:t>
            </a:r>
          </a:p>
        </p:txBody>
      </p:sp>
      <p:sp>
        <p:nvSpPr>
          <p:cNvPr id="48" name="TextBox 47"/>
          <p:cNvSpPr txBox="1"/>
          <p:nvPr/>
        </p:nvSpPr>
        <p:spPr>
          <a:xfrm>
            <a:off x="8065007" y="565861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All 14 stages have run; you can walk a colleague through each stage.</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im_lab20_multi_agent_desk_16x9.png"/>
          <p:cNvPicPr>
            <a:picLocks noChangeAspect="1"/>
          </p:cNvPicPr>
          <p:nvPr/>
        </p:nvPicPr>
        <p:blipFill>
          <a:blip r:embed="rId2"/>
          <a:stretch>
            <a:fillRect/>
          </a:stretch>
        </p:blipFill>
        <p:spPr>
          <a:xfrm>
            <a:off x="777240" y="2196580"/>
            <a:ext cx="6903720" cy="2876318"/>
          </a:xfrm>
          <a:prstGeom prst="rect">
            <a:avLst/>
          </a:prstGeom>
        </p:spPr>
      </p:pic>
      <p:sp>
        <p:nvSpPr>
          <p:cNvPr id="11" name="Rectangle 10"/>
          <p:cNvSpPr/>
          <p:nvPr/>
        </p:nvSpPr>
        <p:spPr>
          <a:xfrm>
            <a:off x="766267" y="2185607"/>
            <a:ext cx="6925665" cy="289826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469830"/>
            <a:ext cx="1601663" cy="156759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35095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35095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984351" y="4051806"/>
            <a:ext cx="1484299" cy="28763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8903" y="393293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903" y="39329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06725" y="2527357"/>
            <a:ext cx="5005197" cy="417066"/>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51277" y="240848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1277" y="24084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06725" y="3001949"/>
            <a:ext cx="1070076" cy="23010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451277" y="288307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51277" y="288307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06725" y="3303963"/>
            <a:ext cx="5005197" cy="176893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51277" y="318509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1277" y="31850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Run the desk</a:t>
            </a:r>
          </a:p>
          <a:p>
            <a:pPr algn="l">
              <a:spcAft>
                <a:spcPts val="100"/>
              </a:spcAft>
            </a:pPr>
            <a:r>
              <a:rPr sz="1000" b="0">
                <a:solidFill>
                  <a:srgbClr val="161B26"/>
                </a:solidFill>
                <a:latin typeface="Arial"/>
              </a:rPr>
              <a:t>NVDA, AAPL, SPY; pick the AI provider and orchestration, then Run.</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Human approval</a:t>
            </a:r>
          </a:p>
          <a:p>
            <a:pPr algn="l">
              <a:spcAft>
                <a:spcPts val="100"/>
              </a:spcAft>
            </a:pPr>
            <a:r>
              <a:rPr sz="1000" b="0">
                <a:solidFill>
                  <a:srgbClr val="161B26"/>
                </a:solidFill>
                <a:latin typeface="Arial"/>
              </a:rPr>
              <a:t>Proposals never trade by themselves - you approve or reject each one.</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Run result</a:t>
            </a:r>
          </a:p>
          <a:p>
            <a:pPr algn="l">
              <a:spcAft>
                <a:spcPts val="100"/>
              </a:spcAft>
            </a:pPr>
            <a:r>
              <a:rPr sz="1000" b="0">
                <a:solidFill>
                  <a:srgbClr val="161B26"/>
                </a:solidFill>
                <a:latin typeface="Arial"/>
              </a:rPr>
              <a:t>Desk run #2 by codex ended no_trade: the desk chose not to trade.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One tab per symbol</a:t>
            </a:r>
          </a:p>
          <a:p>
            <a:pPr algn="l">
              <a:spcAft>
                <a:spcPts val="100"/>
              </a:spcAft>
            </a:pPr>
            <a:r>
              <a:rPr sz="1000" b="0">
                <a:solidFill>
                  <a:srgbClr val="161B26"/>
                </a:solidFill>
                <a:latin typeface="Arial"/>
              </a:rPr>
              <a:t>NVDA, AAPL and SPY each get their own analyst cards.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Analyst cards</a:t>
            </a:r>
          </a:p>
          <a:p>
            <a:pPr algn="l">
              <a:spcAft>
                <a:spcPts val="100"/>
              </a:spcAft>
            </a:pPr>
            <a:r>
              <a:rPr sz="1000" b="0">
                <a:solidFill>
                  <a:srgbClr val="161B26"/>
                </a:solidFill>
                <a:latin typeface="Arial"/>
              </a:rPr>
              <a:t>Technical, sentiment and fundamental analysts each give a score and their reasons.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Then create your own strategy, backtest, diagnose and forward-test it, and walk the Pipeline Map end to end.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configured in the Trading Simulator.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FEEDBACK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Your materials</a:t>
            </a:r>
          </a:p>
          <a:p>
            <a:pPr algn="l">
              <a:spcAft>
                <a:spcPts val="300"/>
              </a:spcAft>
            </a:pPr>
            <a:r>
              <a:rPr sz="1300" b="0">
                <a:solidFill>
                  <a:srgbClr val="5B6372"/>
                </a:solidFill>
                <a:latin typeface="Arial"/>
              </a:rPr>
              <a:t>Slides, the Learner Guide and the lab manuals stay on the LMS and GitHub.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manuals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AI Powered Quantitative Trading Fundamentals  ·  C728</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Powered Quantitative Trading Fundamentals  ·  C728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